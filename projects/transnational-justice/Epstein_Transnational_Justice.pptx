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7" y="8686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8" b="1" i="0">
                <a:solidFill>
                  <a:srgbClr val="C08A2B"/>
                </a:solidFill>
                <a:latin typeface="Times New Roman"/>
              </a:rPr>
              <a:t>TRANSNATIONAL CRIME &amp; THE LIMITS OF INTERNATIONAL JUSTICE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720" b="1" i="0">
                <a:solidFill>
                  <a:srgbClr val="FFFFFF"/>
                </a:solidFill>
                <a:latin typeface="Times New Roman"/>
              </a:rPr>
              <a:t>What the Epstein Case Reveals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3767328"/>
            <a:ext cx="2743200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124" b="0" i="1">
                <a:solidFill>
                  <a:srgbClr val="F2F4F7"/>
                </a:solidFill>
                <a:latin typeface="Times New Roman"/>
              </a:rPr>
              <a:t>A case study in cross-border exploitation, jurisdiction, and 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2803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6" b="1" i="0">
                <a:solidFill>
                  <a:srgbClr val="C08A2B"/>
                </a:solidFill>
                <a:latin typeface="Times New Roman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30368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2" b="1" i="0">
                <a:solidFill>
                  <a:srgbClr val="FFFFFF"/>
                </a:solidFill>
                <a:latin typeface="Times New Roman"/>
              </a:rPr>
              <a:t>Yusuke Muteki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96128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97" b="0" i="0">
                <a:solidFill>
                  <a:srgbClr val="C08A2B"/>
                </a:solidFill>
                <a:latin typeface="Times New Roman"/>
              </a:rPr>
              <a:t>1120240018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5230368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2" b="1" i="0">
                <a:solidFill>
                  <a:srgbClr val="FFFFFF"/>
                </a:solidFill>
                <a:latin typeface="Times New Roman"/>
              </a:rPr>
              <a:t>Kai Robinson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5596128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97" b="0" i="0">
                <a:solidFill>
                  <a:srgbClr val="C08A2B"/>
                </a:solidFill>
                <a:latin typeface="Times New Roman"/>
              </a:rPr>
              <a:t>1120240025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5230368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2" b="1" i="0">
                <a:solidFill>
                  <a:srgbClr val="FFFFFF"/>
                </a:solidFill>
                <a:latin typeface="Times New Roman"/>
              </a:rPr>
              <a:t>Naoki Hayashi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5596128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97" b="0" i="0">
                <a:solidFill>
                  <a:srgbClr val="C08A2B"/>
                </a:solidFill>
                <a:latin typeface="Times New Roman"/>
              </a:rPr>
              <a:t>1120240007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3940" y="5230368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2" b="1" i="0">
                <a:solidFill>
                  <a:srgbClr val="FFFFFF"/>
                </a:solidFill>
                <a:latin typeface="Times New Roman"/>
              </a:rPr>
              <a:t>Koki Kato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3940" y="5596128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97" b="0" i="0">
                <a:solidFill>
                  <a:srgbClr val="C08A2B"/>
                </a:solidFill>
                <a:latin typeface="Times New Roman"/>
              </a:rPr>
              <a:t>1120230009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4476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34" b="0" i="0">
                <a:solidFill>
                  <a:srgbClr val="909CAA"/>
                </a:solidFill>
                <a:latin typeface="Times New Roman"/>
              </a:rPr>
              <a:t>Group Presentation  •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Our Central Question &amp; Roadmap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508760"/>
            <a:ext cx="11091672" cy="1097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28016" cy="109728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42" b="1" i="1">
                <a:solidFill>
                  <a:srgbClr val="0F2A43"/>
                </a:solidFill>
                <a:latin typeface="Times New Roman"/>
              </a:rPr>
              <a:t>Why is transnational sexual exploitation so hard to prosecute — and what do international law and cross-border cooperation need in order to work?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Part 1 — Framing &amp; the international scope of the case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Part 2 — The international legal framework (Palermo Protocol, UNTOC, jurisdiction &amp; extradition)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Part 3 — Wealth, mobility, and the problem of "elite impunity"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Part 4 — Accountability, transparency &amp; lessons (incl. a Japan comparison)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This presentation centres victims and legal systems — not sensational detail.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40880" y="64008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80" b="1" i="0">
                <a:solidFill>
                  <a:srgbClr val="1C3A56"/>
                </a:solidFill>
                <a:latin typeface="Times New Roman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SECTION 1 OF 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2743200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07792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94" b="1" i="0">
                <a:solidFill>
                  <a:srgbClr val="FFFFFF"/>
                </a:solidFill>
                <a:latin typeface="Times New Roman"/>
              </a:rPr>
              <a:t>Framing &amp; the</a:t>
            </a:r>
          </a:p>
          <a:p>
            <a:pPr algn="l">
              <a:lnSpc>
                <a:spcPct val="100000"/>
              </a:lnSpc>
            </a:pPr>
            <a:r>
              <a:rPr sz="3894" b="1" i="0">
                <a:solidFill>
                  <a:srgbClr val="FFFFFF"/>
                </a:solidFill>
                <a:latin typeface="Times New Roman"/>
              </a:rPr>
              <a:t>International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24" b="0" i="1">
                <a:solidFill>
                  <a:srgbClr val="F2F4F7"/>
                </a:solidFill>
                <a:latin typeface="Times New Roman"/>
              </a:rPr>
              <a:t>Who Epstein was — and why this case crosses borders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206240"/>
            <a:ext cx="1691640" cy="1691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909CAA"/>
                </a:solidFill>
                <a:latin typeface="Times New Roman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1  • 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Who Was Jeffrey Epstein?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64208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124">
                <a:solidFill>
                  <a:srgbClr val="334455"/>
                </a:solidFill>
                <a:latin typeface="Times New Roman"/>
              </a:rPr>
              <a:t>•  A US financier who built vast wealth and a network of powerful international contacts.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124" b="1">
                <a:solidFill>
                  <a:srgbClr val="0F2A43"/>
                </a:solidFill>
                <a:latin typeface="Times New Roman"/>
              </a:rPr>
              <a:t>•  2005–06: </a:t>
            </a:r>
            <a:r>
              <a:rPr sz="2124">
                <a:solidFill>
                  <a:srgbClr val="334455"/>
                </a:solidFill>
                <a:latin typeface="Times New Roman"/>
              </a:rPr>
              <a:t>A Palm Beach (Florida) police investigation into abuse of minors.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124" b="1">
                <a:solidFill>
                  <a:srgbClr val="0F2A43"/>
                </a:solidFill>
                <a:latin typeface="Times New Roman"/>
              </a:rPr>
              <a:t>•  2008: </a:t>
            </a:r>
            <a:r>
              <a:rPr sz="2124">
                <a:solidFill>
                  <a:srgbClr val="334455"/>
                </a:solidFill>
                <a:latin typeface="Times New Roman"/>
              </a:rPr>
              <a:t>A controversial state plea deal; he registered as a sex offender.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124" b="1">
                <a:solidFill>
                  <a:srgbClr val="0F2A43"/>
                </a:solidFill>
                <a:latin typeface="Times New Roman"/>
              </a:rPr>
              <a:t>•  2019: </a:t>
            </a:r>
            <a:r>
              <a:rPr sz="2124">
                <a:solidFill>
                  <a:srgbClr val="334455"/>
                </a:solidFill>
                <a:latin typeface="Times New Roman"/>
              </a:rPr>
              <a:t>Arrested on federal sex-trafficking charges in New York.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124">
                <a:solidFill>
                  <a:srgbClr val="334455"/>
                </a:solidFill>
                <a:latin typeface="Times New Roman"/>
              </a:rPr>
              <a:t>•  Died in custody in August 2019 (ruled a suicide), ending the criminal case.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600200"/>
            <a:ext cx="3913632" cy="397763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600200"/>
            <a:ext cx="128016" cy="3977639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 i="0">
                <a:solidFill>
                  <a:srgbClr val="C08A2B"/>
                </a:solidFill>
                <a:latin typeface="Times New Roman"/>
              </a:rPr>
              <a:t>WHY HE MATTERS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1284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70" b="0" i="1">
                <a:solidFill>
                  <a:srgbClr val="334455"/>
                </a:solidFill>
                <a:latin typeface="Times New Roman"/>
              </a:rPr>
              <a:t>His death meant accountability had to be pursued through others — and across borders.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3568" y="3282696"/>
            <a:ext cx="3419856" cy="2221992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3364992" cy="216712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The crime was global; the criminal case ended at one nation's border.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1  •  CHRONOLOGY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A Case That Spanned Two Decades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43100" y="2706624"/>
            <a:ext cx="8311896" cy="4572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260604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4" b="1" i="0">
                <a:solidFill>
                  <a:srgbClr val="FFFFFF"/>
                </a:solidFill>
                <a:latin typeface="Times New Roman"/>
              </a:rPr>
              <a:t>2008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15668" y="3108960"/>
            <a:ext cx="54864" cy="301752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38728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52" b="0" i="0">
                <a:solidFill>
                  <a:srgbClr val="334455"/>
                </a:solidFill>
                <a:latin typeface="Times New Roman"/>
              </a:rPr>
              <a:t>Florida state plea deal — widely criticised as lenient.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2331720"/>
            <a:ext cx="260604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487168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4" b="1" i="0">
                <a:solidFill>
                  <a:srgbClr val="FFFFFF"/>
                </a:solidFill>
                <a:latin typeface="Times New Roman"/>
              </a:rPr>
              <a:t>2019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6300" y="3108960"/>
            <a:ext cx="54864" cy="301752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3538728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52" b="0" i="0">
                <a:solidFill>
                  <a:srgbClr val="334455"/>
                </a:solidFill>
                <a:latin typeface="Times New Roman"/>
              </a:rPr>
              <a:t>Federal trafficking charges in New York; death in custody.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2331720"/>
            <a:ext cx="260604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2487168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4" b="1" i="0">
                <a:solidFill>
                  <a:srgbClr val="FFFFFF"/>
                </a:solidFill>
                <a:latin typeface="Times New Roman"/>
              </a:rPr>
              <a:t>2021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6932" y="3108960"/>
            <a:ext cx="54864" cy="301752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3538728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52" b="0" i="0">
                <a:solidFill>
                  <a:srgbClr val="334455"/>
                </a:solidFill>
                <a:latin typeface="Times New Roman"/>
              </a:rPr>
              <a:t>Ghislaine Maxwell convicted of sex-trafficking conspiracy.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1976" y="2331720"/>
            <a:ext cx="260604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87168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4" b="1" i="0">
                <a:solidFill>
                  <a:srgbClr val="FFFFFF"/>
                </a:solidFill>
                <a:latin typeface="Times New Roman"/>
              </a:rPr>
              <a:t>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27564" y="3108960"/>
            <a:ext cx="54864" cy="301752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1976" y="3538728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52" b="0" i="0">
                <a:solidFill>
                  <a:srgbClr val="334455"/>
                </a:solidFill>
                <a:latin typeface="Times New Roman"/>
              </a:rPr>
              <a:t>Document-release wave renews scrutiny and debate.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From a local plea bargain to a global question about justice, wealth and cross-border accountability.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1  • 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Why This Is an International Story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64208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124" b="1">
                <a:solidFill>
                  <a:srgbClr val="0F2A43"/>
                </a:solidFill>
                <a:latin typeface="Times New Roman"/>
              </a:rPr>
              <a:t>•  Recruitment: </a:t>
            </a:r>
            <a:r>
              <a:rPr sz="2124">
                <a:solidFill>
                  <a:srgbClr val="334455"/>
                </a:solidFill>
                <a:latin typeface="Times New Roman"/>
              </a:rPr>
              <a:t>victims, including minors and foreign nationals, moved across borders.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124" b="1">
                <a:solidFill>
                  <a:srgbClr val="0F2A43"/>
                </a:solidFill>
                <a:latin typeface="Times New Roman"/>
              </a:rPr>
              <a:t>•  Finance: </a:t>
            </a:r>
            <a:r>
              <a:rPr sz="2124">
                <a:solidFill>
                  <a:srgbClr val="334455"/>
                </a:solidFill>
                <a:latin typeface="Times New Roman"/>
              </a:rPr>
              <a:t>wealth held through offshore structures, obscuring ownership.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124" b="1">
                <a:solidFill>
                  <a:srgbClr val="0F2A43"/>
                </a:solidFill>
                <a:latin typeface="Times New Roman"/>
              </a:rPr>
              <a:t>•  Property: </a:t>
            </a:r>
            <a:r>
              <a:rPr sz="2124">
                <a:solidFill>
                  <a:srgbClr val="334455"/>
                </a:solidFill>
                <a:latin typeface="Times New Roman"/>
              </a:rPr>
              <a:t>residences across the US, the US Virgin Islands and Paris.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124" b="1">
                <a:solidFill>
                  <a:srgbClr val="0F2A43"/>
                </a:solidFill>
                <a:latin typeface="Times New Roman"/>
              </a:rPr>
              <a:t>•  Identity: </a:t>
            </a:r>
            <a:r>
              <a:rPr sz="2124">
                <a:solidFill>
                  <a:srgbClr val="334455"/>
                </a:solidFill>
                <a:latin typeface="Times New Roman"/>
              </a:rPr>
              <a:t>an expired passport bore his photo, a false name, and listed Saudi Arabia as residence.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124" b="1">
                <a:solidFill>
                  <a:srgbClr val="0F2A43"/>
                </a:solidFill>
                <a:latin typeface="Times New Roman"/>
              </a:rPr>
              <a:t>•  Network: </a:t>
            </a:r>
            <a:r>
              <a:rPr sz="2124">
                <a:solidFill>
                  <a:srgbClr val="334455"/>
                </a:solidFill>
                <a:latin typeface="Times New Roman"/>
              </a:rPr>
              <a:t>associates spanning several countries and high office.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600200"/>
            <a:ext cx="3913632" cy="397763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600200"/>
            <a:ext cx="128016" cy="3977639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 i="0">
                <a:solidFill>
                  <a:srgbClr val="C08A2B"/>
                </a:solidFill>
                <a:latin typeface="Times New Roman"/>
              </a:rPr>
              <a:t>THE CORE TENSION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40280"/>
            <a:ext cx="3364992" cy="16276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01000" y="40690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70" b="0" i="1">
                <a:solidFill>
                  <a:srgbClr val="334455"/>
                </a:solidFill>
                <a:latin typeface="Times New Roman"/>
              </a:rPr>
              <a:t>The network was global; enforcement is national. That gap is the heart of this case.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A global network meets national enforcement — and falls through the gaps.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40880" y="64008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80" b="1" i="0">
                <a:solidFill>
                  <a:srgbClr val="1C3A56"/>
                </a:solidFill>
                <a:latin typeface="Times New Roman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SECTION 2 OF 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2743200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07792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94" b="1" i="0">
                <a:solidFill>
                  <a:srgbClr val="FFFFFF"/>
                </a:solidFill>
                <a:latin typeface="Times New Roman"/>
              </a:rPr>
              <a:t>The International</a:t>
            </a:r>
          </a:p>
          <a:p>
            <a:pPr algn="l">
              <a:lnSpc>
                <a:spcPct val="100000"/>
              </a:lnSpc>
            </a:pPr>
            <a:r>
              <a:rPr sz="3894" b="1" i="0">
                <a:solidFill>
                  <a:srgbClr val="FFFFFF"/>
                </a:solidFill>
                <a:latin typeface="Times New Roman"/>
              </a:rPr>
              <a:t>Legal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24" b="0" i="1">
                <a:solidFill>
                  <a:srgbClr val="F2F4F7"/>
                </a:solidFill>
                <a:latin typeface="Times New Roman"/>
              </a:rPr>
              <a:t>How international law addresses crime that crosses borders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206240"/>
            <a:ext cx="1691640" cy="1691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909CAA"/>
                </a:solidFill>
                <a:latin typeface="Times New Roman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2  • 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What Makes a Crime "Transnational"?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Committed in more than one state — or in one state but planned, directed or with effects in another.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Trafficking in persons is a paradigm case: it inherently moves people, money and evidence across borders.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Prosecuting it therefore requires more than one country's police, courts and laws to act together.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This is exactly where domestic systems, built for domestic crime, come under strain.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The question is institutional, not just moral: can sovereign systems coordinate fast enough?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2  • 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The Palermo Protocol (2000)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Full name: </a:t>
            </a:r>
            <a:r>
              <a:rPr sz="2242">
                <a:solidFill>
                  <a:srgbClr val="334455"/>
                </a:solidFill>
                <a:latin typeface="Times New Roman"/>
              </a:rPr>
              <a:t>UN Protocol to Prevent, Suppress and Punish Trafficking in Persons.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First globally agreed definition of human trafficking.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Three elements: </a:t>
            </a:r>
            <a:r>
              <a:rPr sz="2242">
                <a:solidFill>
                  <a:srgbClr val="334455"/>
                </a:solidFill>
                <a:latin typeface="Times New Roman"/>
              </a:rPr>
              <a:t>the act, the means, and the purpose of exploitation.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For children, the "means" element is not required — any recruitment for exploitation qualifies.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Obliges states parties to criminalise trafficking in their domestic law.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It gives 190+ states a shared vocabulary — a precondition for cooperation.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2  • 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UNTOC &amp; Cross-Border Cooperation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Parent treaty: </a:t>
            </a:r>
            <a:r>
              <a:rPr sz="2242">
                <a:solidFill>
                  <a:srgbClr val="334455"/>
                </a:solidFill>
                <a:latin typeface="Times New Roman"/>
              </a:rPr>
              <a:t>the UN Convention against Transnational Organized Crime.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The Palermo Protocol supplements it; the two operate together.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Provides a framework for extradition, mutual legal assistance and joint investigations.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Can serve as a legal basis for cooperation even where no bilateral treaty exists.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Encourages asset confiscation and protection of victims and witnesses.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In short: the machinery for international cooperation already exists on paper.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2  • 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Jurisdiction, Extradition &amp; MLATs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Jurisdiction: </a:t>
            </a:r>
            <a:r>
              <a:rPr sz="2242">
                <a:solidFill>
                  <a:srgbClr val="334455"/>
                </a:solidFill>
                <a:latin typeface="Times New Roman"/>
              </a:rPr>
              <a:t>states may claim it by territory or by nationality of offender/victim.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Concurrent claims: </a:t>
            </a:r>
            <a:r>
              <a:rPr sz="2242">
                <a:solidFill>
                  <a:srgbClr val="334455"/>
                </a:solidFill>
                <a:latin typeface="Times New Roman"/>
              </a:rPr>
              <a:t>several states may have a right to prosecute the same conduct.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Extradition: </a:t>
            </a:r>
            <a:r>
              <a:rPr sz="2242">
                <a:solidFill>
                  <a:srgbClr val="334455"/>
                </a:solidFill>
                <a:latin typeface="Times New Roman"/>
              </a:rPr>
              <a:t>typically needs a treaty plus "dual criminality" (an offence in both states).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MLATs: </a:t>
            </a:r>
            <a:r>
              <a:rPr sz="2242">
                <a:solidFill>
                  <a:srgbClr val="334455"/>
                </a:solidFill>
                <a:latin typeface="Times New Roman"/>
              </a:rPr>
              <a:t>Mutual Legal Assistance Treaties move evidence, testimony and records across borders.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The friction: </a:t>
            </a:r>
            <a:r>
              <a:rPr sz="2242">
                <a:solidFill>
                  <a:srgbClr val="334455"/>
                </a:solidFill>
                <a:latin typeface="Times New Roman"/>
              </a:rPr>
              <a:t>requests are slow, can be refused, and stall when suspects are wealthy or well-connected.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The tools exist — but speed and political will decide whether they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2  • 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Foreign Nationals &amp; Quasi-Diplomatic Figures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Ghislaine Maxwell (UK): </a:t>
            </a:r>
            <a:r>
              <a:rPr sz="2242">
                <a:solidFill>
                  <a:srgbClr val="334455"/>
                </a:solidFill>
                <a:latin typeface="Times New Roman"/>
              </a:rPr>
              <a:t>convicted in 2021 of sex-trafficking conspiracy in a US court.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Prince Andrew: </a:t>
            </a:r>
            <a:r>
              <a:rPr sz="2242">
                <a:solidFill>
                  <a:srgbClr val="334455"/>
                </a:solidFill>
                <a:latin typeface="Times New Roman"/>
              </a:rPr>
              <a:t>settled a US civil claim in 2022 and later stepped back from royal titles.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High status confers no criminal immunity — but it can create practical and diplomatic hurdles.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Foreign nationality complicates arrest, extradition and the gathering of evidence abroad.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Stick to what is adjudicated: charges, a conviction, a settled civil case — not speculation.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40880" y="64008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80" b="1" i="0">
                <a:solidFill>
                  <a:srgbClr val="1C3A56"/>
                </a:solidFill>
                <a:latin typeface="Times New Roman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SECTION 3 OF 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2743200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07792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94" b="1" i="0">
                <a:solidFill>
                  <a:srgbClr val="FFFFFF"/>
                </a:solidFill>
                <a:latin typeface="Times New Roman"/>
              </a:rPr>
              <a:t>Wealth, Mobility</a:t>
            </a:r>
          </a:p>
          <a:p>
            <a:pPr algn="l">
              <a:lnSpc>
                <a:spcPct val="100000"/>
              </a:lnSpc>
            </a:pPr>
            <a:r>
              <a:rPr sz="3894" b="1" i="0">
                <a:solidFill>
                  <a:srgbClr val="FFFFFF"/>
                </a:solidFill>
                <a:latin typeface="Times New Roman"/>
              </a:rPr>
              <a:t>&amp; Impunity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24" b="0" i="1">
                <a:solidFill>
                  <a:srgbClr val="F2F4F7"/>
                </a:solidFill>
                <a:latin typeface="Times New Roman"/>
              </a:rPr>
              <a:t>How resources can delay — though not always defeat — accountability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206240"/>
            <a:ext cx="1691640" cy="1691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909CAA"/>
                </a:solidFill>
                <a:latin typeface="Times New Roman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3  • 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Offshore Wealth &amp; Global Mobility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Offshore structures and trusts can obscure who really owns assets.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Property in several jurisdictions provides places to live, store value and move between.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Private travel reduces the friction and scrutiny of ordinary border crossings.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Multiple identity documents — including the false-name passport — illustrate evasion capacity.</a:t>
            </a:r>
          </a:p>
          <a:p>
            <a:pPr>
              <a:lnSpc>
                <a:spcPct val="105000"/>
              </a:lnSpc>
              <a:spcAft>
                <a:spcPts val="28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Together these convert wealth into mobility, and mobility into delay.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None of this is unique to one man — it is how illicit elite wealth tends to behave.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3  • 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"Elite Impunity": 2008 vs 2019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645920"/>
            <a:ext cx="5349240" cy="38862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28016" cy="388620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88" b="1" i="0">
                <a:solidFill>
                  <a:srgbClr val="C08A2B"/>
                </a:solidFill>
                <a:latin typeface="Times New Roman"/>
              </a:rPr>
              <a:t>2008 — FLORIDA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70">
                <a:solidFill>
                  <a:srgbClr val="334455"/>
                </a:solidFill>
                <a:latin typeface="Times New Roman"/>
              </a:rPr>
              <a:t>•  State-level plea deal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70">
                <a:solidFill>
                  <a:srgbClr val="334455"/>
                </a:solidFill>
                <a:latin typeface="Times New Roman"/>
              </a:rPr>
              <a:t>•  Served ~13 months, with work release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70">
                <a:solidFill>
                  <a:srgbClr val="334455"/>
                </a:solidFill>
                <a:latin typeface="Times New Roman"/>
              </a:rPr>
              <a:t>•  Non-prosecution agreement shielded others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70">
                <a:solidFill>
                  <a:srgbClr val="334455"/>
                </a:solidFill>
                <a:latin typeface="Times New Roman"/>
              </a:rPr>
              <a:t>•  Victims said they were not consulted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349240" cy="38862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128016" cy="388620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88" b="1" i="0">
                <a:solidFill>
                  <a:srgbClr val="C08A2B"/>
                </a:solidFill>
                <a:latin typeface="Times New Roman"/>
              </a:rPr>
              <a:t>2019 — FEDERAL (NY)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774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70">
                <a:solidFill>
                  <a:srgbClr val="F2F4F7"/>
                </a:solidFill>
                <a:latin typeface="Times New Roman"/>
              </a:rPr>
              <a:t>•  Federal sex-trafficking charges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70">
                <a:solidFill>
                  <a:srgbClr val="F2F4F7"/>
                </a:solidFill>
                <a:latin typeface="Times New Roman"/>
              </a:rPr>
              <a:t>•  Held without bail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70">
                <a:solidFill>
                  <a:srgbClr val="F2F4F7"/>
                </a:solidFill>
                <a:latin typeface="Times New Roman"/>
              </a:rPr>
              <a:t>•  Treated as serious organised wrongdoing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70">
                <a:solidFill>
                  <a:srgbClr val="F2F4F7"/>
                </a:solidFill>
                <a:latin typeface="Times New Roman"/>
              </a:rPr>
              <a:t>•  Case ended only with his death in custody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The same conduct, two very different responses — a decade apart.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3  •  COMPARATIVE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Would Other Systems Have Acted Differently?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Adversarial vs inquisitorial: </a:t>
            </a:r>
            <a:r>
              <a:rPr sz="2242">
                <a:solidFill>
                  <a:srgbClr val="334455"/>
                </a:solidFill>
                <a:latin typeface="Times New Roman"/>
              </a:rPr>
              <a:t>France's investigating magistrates can drive cases differently from US prosecutors.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Victim participation: </a:t>
            </a:r>
            <a:r>
              <a:rPr sz="2242">
                <a:solidFill>
                  <a:srgbClr val="334455"/>
                </a:solidFill>
                <a:latin typeface="Times New Roman"/>
              </a:rPr>
              <a:t>some systems give victims a formal role earlier in proceedings.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Limitation periods: </a:t>
            </a:r>
            <a:r>
              <a:rPr sz="2242">
                <a:solidFill>
                  <a:srgbClr val="334455"/>
                </a:solidFill>
                <a:latin typeface="Times New Roman"/>
              </a:rPr>
              <a:t>how long after the abuse can charges still be brought?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Plea bargaining: </a:t>
            </a:r>
            <a:r>
              <a:rPr sz="2242">
                <a:solidFill>
                  <a:srgbClr val="334455"/>
                </a:solidFill>
                <a:latin typeface="Times New Roman"/>
              </a:rPr>
              <a:t>less central in many civil-law systems, changing the incentive to settle quietly.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Central question: would the UK, France or Japan have acted faster — or slower?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40880" y="64008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80" b="1" i="0">
                <a:solidFill>
                  <a:srgbClr val="1C3A56"/>
                </a:solidFill>
                <a:latin typeface="Times New Roman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SECTION 4 OF 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2743200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07792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94" b="1" i="0">
                <a:solidFill>
                  <a:srgbClr val="FFFFFF"/>
                </a:solidFill>
                <a:latin typeface="Times New Roman"/>
              </a:rPr>
              <a:t>Accountability,</a:t>
            </a:r>
          </a:p>
          <a:p>
            <a:pPr algn="l">
              <a:lnSpc>
                <a:spcPct val="100000"/>
              </a:lnSpc>
            </a:pPr>
            <a:r>
              <a:rPr sz="3894" b="1" i="0">
                <a:solidFill>
                  <a:srgbClr val="FFFFFF"/>
                </a:solidFill>
                <a:latin typeface="Times New Roman"/>
              </a:rPr>
              <a:t>Transparency &amp; Lessons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24" b="0" i="1">
                <a:solidFill>
                  <a:srgbClr val="F2F4F7"/>
                </a:solidFill>
                <a:latin typeface="Times New Roman"/>
              </a:rPr>
              <a:t>Designing cross-border justice that actually protects victims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206240"/>
            <a:ext cx="1691640" cy="1691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909CAA"/>
                </a:solidFill>
                <a:latin typeface="Times New Roman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4  • 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The 2025 Document-Release Wave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US transparency legislation drove a large release of case-related documents.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Intended to answer public demand for accountability and openness.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 b="1">
                <a:solidFill>
                  <a:srgbClr val="0F2A43"/>
                </a:solidFill>
                <a:latin typeface="Times New Roman"/>
              </a:rPr>
              <a:t>•  Survivors' concern: </a:t>
            </a:r>
            <a:r>
              <a:rPr sz="2242">
                <a:solidFill>
                  <a:srgbClr val="334455"/>
                </a:solidFill>
                <a:latin typeface="Times New Roman"/>
              </a:rPr>
              <a:t>the disclosures made it easy to identify those abused — but not those who may have been involved.</a:t>
            </a:r>
          </a:p>
          <a:p>
            <a:pPr>
              <a:lnSpc>
                <a:spcPct val="105000"/>
              </a:lnSpc>
              <a:spcAft>
                <a:spcPts val="3000"/>
              </a:spcAft>
            </a:pPr>
            <a:r>
              <a:rPr sz="2242">
                <a:solidFill>
                  <a:srgbClr val="334455"/>
                </a:solidFill>
                <a:latin typeface="Times New Roman"/>
              </a:rPr>
              <a:t>•  A real tension emerges between public transparency and the privacy and safety of victims.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Transparency is not automatically just — its design determines who it protects.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PART 4  • 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Reform Proposals &amp; a Japan Comparison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78308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124">
                <a:solidFill>
                  <a:srgbClr val="334455"/>
                </a:solidFill>
                <a:latin typeface="Times New Roman"/>
              </a:rPr>
              <a:t>•  Faster, better-resourced MLAT and extradition channels.</a:t>
            </a:r>
          </a:p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124">
                <a:solidFill>
                  <a:srgbClr val="334455"/>
                </a:solidFill>
                <a:latin typeface="Times New Roman"/>
              </a:rPr>
              <a:t>•  Victim-centred disclosure rules that shield identities by default.</a:t>
            </a:r>
          </a:p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124">
                <a:solidFill>
                  <a:srgbClr val="334455"/>
                </a:solidFill>
                <a:latin typeface="Times New Roman"/>
              </a:rPr>
              <a:t>•  Stronger cross-border asset tracing and recovery.</a:t>
            </a:r>
          </a:p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124">
                <a:solidFill>
                  <a:srgbClr val="334455"/>
                </a:solidFill>
                <a:latin typeface="Times New Roman"/>
              </a:rPr>
              <a:t>•  Harmonised definitions so cooperation isn't blocked by mismatched laws.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600200"/>
            <a:ext cx="3913632" cy="397763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600200"/>
            <a:ext cx="128016" cy="3977639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 i="0">
                <a:solidFill>
                  <a:srgbClr val="C08A2B"/>
                </a:solidFill>
                <a:latin typeface="Times New Roman"/>
              </a:rPr>
              <a:t>JAPAN 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3317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</a:pPr>
            <a:r>
              <a:rPr sz="1770" b="0" i="1">
                <a:solidFill>
                  <a:srgbClr val="334455"/>
                </a:solidFill>
                <a:latin typeface="Times New Roman"/>
              </a:rPr>
              <a:t>Japan has an anti-trafficking action framework and is assessed annually in the US State Department's TIP Report — a useful benchmark for how a non-Western system measures up on cross-border cooperation.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70" b="0" i="1">
                <a:solidFill>
                  <a:srgbClr val="0F2A43"/>
                </a:solidFill>
                <a:latin typeface="Times New Roman"/>
              </a:rPr>
              <a:t>Better justice across borders is mostly an engineering problem, not a gap in principle.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34" b="1" i="0">
                <a:solidFill>
                  <a:srgbClr val="C08A2B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68" b="1" i="0">
                <a:solidFill>
                  <a:srgbClr val="FFFFFF"/>
                </a:solidFill>
                <a:latin typeface="Times New Roman"/>
              </a:rPr>
              <a:t>Four Takeaways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463040"/>
            <a:ext cx="731520" cy="82296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32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17904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24" b="1" i="0">
                <a:solidFill>
                  <a:srgbClr val="0F2A43"/>
                </a:solidFill>
                <a:latin typeface="Times New Roman"/>
              </a:rPr>
              <a:t>Crime crosses borders — justice often doesn't.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83664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0" i="1">
                <a:solidFill>
                  <a:srgbClr val="334455"/>
                </a:solidFill>
                <a:latin typeface="Times New Roman"/>
              </a:rPr>
              <a:t>Networks are global; enforcement is national.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95728"/>
            <a:ext cx="731520" cy="82296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32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450592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24" b="1" i="0">
                <a:solidFill>
                  <a:srgbClr val="0F2A43"/>
                </a:solidFill>
                <a:latin typeface="Times New Roman"/>
              </a:rPr>
              <a:t>The legal tools already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6352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0" i="1">
                <a:solidFill>
                  <a:srgbClr val="334455"/>
                </a:solidFill>
                <a:latin typeface="Times New Roman"/>
              </a:rPr>
              <a:t>Palermo &amp; UNTOC provide the framework; coordination is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28416"/>
            <a:ext cx="731520" cy="82296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9300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32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832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24" b="1" i="0">
                <a:solidFill>
                  <a:srgbClr val="0F2A43"/>
                </a:solidFill>
                <a:latin typeface="Times New Roman"/>
              </a:rPr>
              <a:t>Wealth buys time, not immunity.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490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0" i="1">
                <a:solidFill>
                  <a:srgbClr val="334455"/>
                </a:solidFill>
                <a:latin typeface="Times New Roman"/>
              </a:rPr>
              <a:t>Mobility delayed — but did not finally prevent — accountability.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61104"/>
            <a:ext cx="731520" cy="82296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6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32" b="1" i="0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1596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24" b="1" i="0">
                <a:solidFill>
                  <a:srgbClr val="0F2A43"/>
                </a:solidFill>
                <a:latin typeface="Times New Roman"/>
              </a:rPr>
              <a:t>Transparency must protect victims.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68172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0" i="1">
                <a:solidFill>
                  <a:srgbClr val="334455"/>
                </a:solidFill>
                <a:latin typeface="Times New Roman"/>
              </a:rPr>
              <a:t>Disclosure should expose enablers, not endanger survivors.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58384"/>
            <a:ext cx="11091672" cy="9784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28016" cy="9784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77256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97" b="1" i="0">
                <a:solidFill>
                  <a:srgbClr val="C08A2B"/>
                </a:solidFill>
                <a:latin typeface="Times New Roman"/>
              </a:rPr>
              <a:t>SELECTED SOURCES &amp; INSTRUMENTS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881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38" b="0" i="0">
                <a:solidFill>
                  <a:srgbClr val="334455"/>
                </a:solidFill>
                <a:latin typeface="Times New Roman"/>
              </a:rPr>
              <a:t>Palermo Protocol (2000) · UN Convention against Transnational Organized Crime (UNTOC) · US DOJ filings (US v. Epstein, 2019; US v. Maxwell, 2021) · US State Dept. TIP Reports · contemporary reporting on the 2025 disclosures.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97" b="0" i="0">
                <a:solidFill>
                  <a:srgbClr val="6B7682"/>
                </a:solidFill>
                <a:latin typeface="Times New Roman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