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647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TRANSNATIONAL CRIME &amp; THE LIMITS OF INTERNATIONAL JUSTICE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720" b="1" i="0">
                <a:solidFill>
                  <a:srgbClr val="FFFFFF"/>
                </a:solidFill>
                <a:latin typeface="Times New Roman"/>
              </a:rPr>
              <a:t>What the Epstein Case Reveals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4247" y="3767328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A case study in cross-border exploitation, jurisdiction, and accountability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28032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16" b="1" i="0">
                <a:solidFill>
                  <a:srgbClr val="C08A2B"/>
                </a:solidFill>
                <a:latin typeface="Times New Roman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Yusuke Muteki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1120240018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758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Kai Robinson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758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1120240025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Naoki Hayashi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1120240007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3940" y="523036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2" b="1" i="0">
                <a:solidFill>
                  <a:srgbClr val="FFFFFF"/>
                </a:solidFill>
                <a:latin typeface="Times New Roman"/>
              </a:rPr>
              <a:t>Koki Kato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3940" y="5596128"/>
            <a:ext cx="25831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0">
                <a:solidFill>
                  <a:srgbClr val="C08A2B"/>
                </a:solidFill>
                <a:latin typeface="Times New Roman"/>
              </a:rPr>
              <a:t>1120230009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14476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34" b="0" i="0">
                <a:solidFill>
                  <a:srgbClr val="909CAA"/>
                </a:solidFill>
                <a:latin typeface="Times New Roman"/>
              </a:rPr>
              <a:t>Group Presentation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Our Central Question &amp; Roadmap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1508760"/>
            <a:ext cx="11091672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128016" cy="10972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42" b="1" i="1">
                <a:solidFill>
                  <a:srgbClr val="0F2A43"/>
                </a:solidFill>
                <a:latin typeface="Times New Roman"/>
              </a:rPr>
              <a:t>Why is transnational sexual exploitation so hard to prosecute — and what do international law and cross-border cooperation need in order to work?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89504"/>
            <a:ext cx="11091672" cy="585216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889504"/>
            <a:ext cx="109728" cy="585216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71800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89888" y="3054096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044952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1" i="0">
                <a:solidFill>
                  <a:srgbClr val="0F2A43"/>
                </a:solidFill>
                <a:latin typeface="Times New Roman"/>
              </a:rPr>
              <a:t>Framing &amp; the international scope of the case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79876"/>
            <a:ext cx="11091672" cy="585216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79876"/>
            <a:ext cx="109728" cy="585216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62172"/>
            <a:ext cx="420624" cy="4206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89888" y="374446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PART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3735324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1" i="0">
                <a:solidFill>
                  <a:srgbClr val="0F2A43"/>
                </a:solidFill>
                <a:latin typeface="Times New Roman"/>
              </a:rPr>
              <a:t>The legal framework — Palermo Protocol, UNTOC, jurisdiction &amp; extradition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70248"/>
            <a:ext cx="11091672" cy="585216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270248"/>
            <a:ext cx="109728" cy="585216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352544"/>
            <a:ext cx="420624" cy="4206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389888" y="443484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PART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425696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1" i="0">
                <a:solidFill>
                  <a:srgbClr val="0F2A43"/>
                </a:solidFill>
                <a:latin typeface="Times New Roman"/>
              </a:rPr>
              <a:t>Wealth, mobility, and the problem of "elite impunity"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960620"/>
            <a:ext cx="11091672" cy="585216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960620"/>
            <a:ext cx="109728" cy="585216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42916"/>
            <a:ext cx="420624" cy="4206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9888" y="5125212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PART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95728" y="5116068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1" i="0">
                <a:solidFill>
                  <a:srgbClr val="0F2A43"/>
                </a:solidFill>
                <a:latin typeface="Times New Roman"/>
              </a:rPr>
              <a:t>Accountability, transparency &amp; lessons (incl. a Japan comparison)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This presentation centres victims and legal systems — not sensational detail.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1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Framing &amp; the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International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Who Epstein was — and why this case crosses borders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Who Was Jeffrey Epstein?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64208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A US financier who built vast wealth and a network of powerful international contacts.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2005–06: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Palm Beach (Florida) police investigation into abuse of minors.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2008: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 controversial state plea deal; he registered as a sex offender.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2019: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Arrested on federal sex-trafficking charges in New York.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Died in custody in August 2019 (ruled a suicide), ending the criminal case.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WHY HE MATTERS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21284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70" b="0" i="1">
                <a:solidFill>
                  <a:srgbClr val="334455"/>
                </a:solidFill>
                <a:latin typeface="Times New Roman"/>
              </a:rPr>
              <a:t>His death meant accountability had to be pursued through others — and across borders.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73568" y="3282696"/>
            <a:ext cx="3419856" cy="222199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3364992" cy="216712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crime was global; the criminal case ended at one nation's border.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CHRONOLOGY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A Case That Spanned Two Decades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943100" y="2706624"/>
            <a:ext cx="8311896" cy="457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15668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Florida state plea deal — widely criticised as lenient.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6300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Federal trafficking charges in New York; death in custody.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6932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81344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Ghislaine Maxwell convicted of sex-trafficking conspiracy.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304" b="1" i="0">
                <a:solidFill>
                  <a:srgbClr val="FFFFFF"/>
                </a:solidFill>
                <a:latin typeface="Times New Roman"/>
              </a:rPr>
              <a:t>2025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27564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1976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2" b="0" i="0">
                <a:solidFill>
                  <a:srgbClr val="334455"/>
                </a:solidFill>
                <a:latin typeface="Times New Roman"/>
              </a:rPr>
              <a:t>Document-release wave renews scrutiny and debate.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From a local plea bargain to a global question about justice, wealth and cross-border accountability.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1  • 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Why This Is an International Story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64208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Recruitment: </a:t>
            </a:r>
            <a:r>
              <a:rPr sz="2124">
                <a:solidFill>
                  <a:srgbClr val="334455"/>
                </a:solidFill>
                <a:latin typeface="Times New Roman"/>
              </a:rPr>
              <a:t>victims, including minors and foreign nationals, moved across borders.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Finance: </a:t>
            </a:r>
            <a:r>
              <a:rPr sz="2124">
                <a:solidFill>
                  <a:srgbClr val="334455"/>
                </a:solidFill>
                <a:latin typeface="Times New Roman"/>
              </a:rPr>
              <a:t>wealth held through offshore structures, obscuring ownership.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Property: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residences across the US, the US Virgin Islands and Paris.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Identity: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an expired passport bore his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124" b="1">
                <a:solidFill>
                  <a:srgbClr val="0F2A43"/>
                </a:solidFill>
                <a:latin typeface="Times New Roman"/>
              </a:rPr>
              <a:t>•  Network: </a:t>
            </a:r>
            <a:r>
              <a:rPr sz="2124">
                <a:solidFill>
                  <a:srgbClr val="334455"/>
                </a:solidFill>
                <a:latin typeface="Times New Roman"/>
              </a:rPr>
              <a:t>associates spanning several countries and high office.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THE CORE TENSION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240280"/>
            <a:ext cx="3364992" cy="16276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01000" y="406908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70" b="0" i="1">
                <a:solidFill>
                  <a:srgbClr val="334455"/>
                </a:solidFill>
                <a:latin typeface="Times New Roman"/>
              </a:rPr>
              <a:t>The network was global; enforcement is national. That gap is the heart of this case.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A global network meets national enforcement — and falls through the gaps.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2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The International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Legal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international law addresses crime that crosses borders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What Makes a Crime "Transnational"?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2880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Committed in more than one state — or planned, directed or felt across borders.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Trafficking is the paradigm case: it moves people, money and evidence between countries.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Prosecuting it needs several countries' police, courts and laws to act together.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Domestic systems, built for domestic crime, come under strain.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3" y="1828799"/>
            <a:ext cx="3520440" cy="3520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question is institutional, not just moral: can sovereign systems coordinate fast enough?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Palermo Protocol (2000)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The first globally agreed definition of human trafficking (UN, 2000).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Built from three elements: act + means + purpose of exploitation.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For children, the "means" element is not required.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Obliges 190+ states parties to criminalise trafficking at home.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3" y="1828799"/>
            <a:ext cx="3520440" cy="3520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It gives 190+ states a shared vocabulary — a precondition for cooperation.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UNTOC &amp; Cross-Border Cooperation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Parent treaty: the UN Convention against Transnational Organized Crime.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The Palermo Protocol supplements it; the two operate together.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A framework for extradition, mutual legal assistance and joint investigations.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Can be the legal basis for cooperation even with no bilateral treaty.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3" y="1828799"/>
            <a:ext cx="3520440" cy="3520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In short: the machinery for international cooperation already exists on paper.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Jurisdiction, Extradition &amp; MLATs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Jurisdiction: claimed by territory, or by nationality of offender/victim.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Several states may have a concurrent right to prosecute.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Extradition needs a treaty plus "dual criminality."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MLATs move evidence and testimony across borders — but slowly.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3" y="1828799"/>
            <a:ext cx="3520440" cy="3520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tools exist — but speed and political will decide whether they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2  • 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Foreign Nationals &amp; Quasi-Diplomatic Figures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 b="1">
                <a:solidFill>
                  <a:srgbClr val="0F2A43"/>
                </a:solidFill>
                <a:latin typeface="Times New Roman"/>
              </a:rPr>
              <a:t>•  Ghislaine Maxwell (UK): </a:t>
            </a:r>
            <a:r>
              <a:rPr sz="2005">
                <a:solidFill>
                  <a:srgbClr val="334455"/>
                </a:solidFill>
                <a:latin typeface="Times New Roman"/>
              </a:rPr>
              <a:t>convicted in 2021 in a US court.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 b="1">
                <a:solidFill>
                  <a:srgbClr val="0F2A43"/>
                </a:solidFill>
                <a:latin typeface="Times New Roman"/>
              </a:rPr>
              <a:t>•  Prince Andrew (UK): </a:t>
            </a:r>
            <a:r>
              <a:rPr sz="2005">
                <a:solidFill>
                  <a:srgbClr val="334455"/>
                </a:solidFill>
                <a:latin typeface="Times New Roman"/>
              </a:rPr>
              <a:t>settled a US civil claim in 2022; later stepped back from royal titles.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High status is no immunity — but it adds practical and diplomatic hurdles.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Foreign nationality complicates arrest, extradition and gathering evidence abroad.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7922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16" b="1" i="0">
                <a:solidFill>
                  <a:srgbClr val="C08A2B"/>
                </a:solidFill>
                <a:latin typeface="Times New Roman"/>
              </a:rPr>
              <a:t>KEY FIGURES  ·  WHAT IS ADJUDICATED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2331720"/>
            <a:ext cx="768096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79408" y="22677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0F2A43"/>
                </a:solidFill>
                <a:latin typeface="Times New Roman"/>
              </a:rPr>
              <a:t>Ghislaine Maxwell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560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16" b="0" i="1">
                <a:solidFill>
                  <a:srgbClr val="6B7682"/>
                </a:solidFill>
                <a:latin typeface="Times New Roman"/>
              </a:rPr>
              <a:t>United Kingdom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8803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Convicted of sex-trafficking conspiracy · 2021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8" y="3611880"/>
            <a:ext cx="3291840" cy="13716"/>
          </a:xfrm>
          <a:prstGeom prst="rect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3794760"/>
            <a:ext cx="768096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79408" y="37307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0F2A43"/>
                </a:solidFill>
                <a:latin typeface="Times New Roman"/>
              </a:rPr>
              <a:t>Prince Andrew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408" y="40233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16" b="0" i="1">
                <a:solidFill>
                  <a:srgbClr val="6B7682"/>
                </a:solidFill>
                <a:latin typeface="Times New Roman"/>
              </a:rPr>
              <a:t>United Kingdom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5008" y="43434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Settled a US civil claim · 2022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507492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0" i="1">
                <a:solidFill>
                  <a:srgbClr val="0F2A43"/>
                </a:solidFill>
                <a:latin typeface="Times New Roman"/>
              </a:rPr>
              <a:t>Charges, a conviction, a settled case — not speculation.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Stick to what is adjudicated: charges, a conviction, a settled civil case — not speculation.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3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Wealth, Mobility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&amp; Impunity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How resources can delay — though not always defeat — accountability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Offshore Wealth &amp; Global Mobility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Offshore structures and trusts can hide who really owns assets.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Property in several countries: places to live, store value and move between.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Private travel reduces the scrutiny of ordinary border crossings.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Wealth becomes mobility; mobility becomes delay.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3" y="1828799"/>
            <a:ext cx="3520440" cy="3520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None of this is unique to one man — it is how illicit elite wealth tends to behave.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"Elite Impunity": 2008 vs 2019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645920"/>
            <a:ext cx="5349240" cy="38862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2008 — FLORIDA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State-level plea deal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Served ~13 months, with work release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Non-prosecution agreement shielded others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334455"/>
                </a:solidFill>
                <a:latin typeface="Times New Roman"/>
              </a:rPr>
              <a:t>•  Victims said they were not consulted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349240" cy="3886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88" b="1" i="0">
                <a:solidFill>
                  <a:srgbClr val="C08A2B"/>
                </a:solidFill>
                <a:latin typeface="Times New Roman"/>
              </a:rPr>
              <a:t>2019 — FEDERAL (NY)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Federal sex-trafficking charges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Held without bail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Treated as serious organised wrongdoing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70">
                <a:solidFill>
                  <a:srgbClr val="F2F4F7"/>
                </a:solidFill>
                <a:latin typeface="Times New Roman"/>
              </a:rPr>
              <a:t>•  Case ended only with his death in custody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The same conduct, two very different responses — a decade apart.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3  •  COMPARATIVE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Would Other Systems Have Acted Differently?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 b="1">
                <a:solidFill>
                  <a:srgbClr val="0F2A43"/>
                </a:solidFill>
                <a:latin typeface="Times New Roman"/>
              </a:rPr>
              <a:t>•  Adversarial vs inquisitorial: </a:t>
            </a:r>
            <a:r>
              <a:rPr sz="2005">
                <a:solidFill>
                  <a:srgbClr val="334455"/>
                </a:solidFill>
                <a:latin typeface="Times New Roman"/>
              </a:rPr>
              <a:t>France's investigating magistrates can drive cases differently.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 b="1">
                <a:solidFill>
                  <a:srgbClr val="0F2A43"/>
                </a:solidFill>
                <a:latin typeface="Times New Roman"/>
              </a:rPr>
              <a:t>•  Victim participation: </a:t>
            </a:r>
            <a:r>
              <a:rPr sz="2005">
                <a:solidFill>
                  <a:srgbClr val="334455"/>
                </a:solidFill>
                <a:latin typeface="Times New Roman"/>
              </a:rPr>
              <a:t>some systems give victims a formal role earlier.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 b="1">
                <a:solidFill>
                  <a:srgbClr val="0F2A43"/>
                </a:solidFill>
                <a:latin typeface="Times New Roman"/>
              </a:rPr>
              <a:t>•  Limitation periods: </a:t>
            </a:r>
            <a:r>
              <a:rPr sz="2005">
                <a:solidFill>
                  <a:srgbClr val="334455"/>
                </a:solidFill>
                <a:latin typeface="Times New Roman"/>
              </a:rPr>
              <a:t>how long after the abuse can charges be brought?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Plea bargaining is less central in many civil-law systems.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7922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FOUR SYSTEMS COMPARED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2331720"/>
            <a:ext cx="109728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01000" y="293522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16" b="1" i="0">
                <a:solidFill>
                  <a:srgbClr val="0F2A43"/>
                </a:solidFill>
                <a:latin typeface="Times New Roman"/>
              </a:rPr>
              <a:t>United States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154679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1">
                <a:solidFill>
                  <a:srgbClr val="6B7682"/>
                </a:solidFill>
                <a:latin typeface="Times New Roman"/>
              </a:rPr>
              <a:t>adversarial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9528" y="2331720"/>
            <a:ext cx="109728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56648" y="293522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16" b="1" i="0">
                <a:solidFill>
                  <a:srgbClr val="0F2A43"/>
                </a:solidFill>
                <a:latin typeface="Times New Roman"/>
              </a:rPr>
              <a:t>United Kingdom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6648" y="3154679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1">
                <a:solidFill>
                  <a:srgbClr val="6B7682"/>
                </a:solidFill>
                <a:latin typeface="Times New Roman"/>
              </a:rPr>
              <a:t>adversarial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3657600"/>
            <a:ext cx="109728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01000" y="426110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16" b="1" i="0">
                <a:solidFill>
                  <a:srgbClr val="0F2A43"/>
                </a:solidFill>
                <a:latin typeface="Times New Roman"/>
              </a:rPr>
              <a:t>France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4805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1">
                <a:solidFill>
                  <a:srgbClr val="6B7682"/>
                </a:solidFill>
                <a:latin typeface="Times New Roman"/>
              </a:rPr>
              <a:t>inquisitorial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9528" y="3657600"/>
            <a:ext cx="109728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56648" y="426110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16" b="1" i="0">
                <a:solidFill>
                  <a:srgbClr val="0F2A43"/>
                </a:solidFill>
                <a:latin typeface="Times New Roman"/>
              </a:rPr>
              <a:t>Japan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448056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97" b="0" i="1">
                <a:solidFill>
                  <a:srgbClr val="6B7682"/>
                </a:solidFill>
                <a:latin typeface="Times New Roman"/>
              </a:rPr>
              <a:t>civil-law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9288" y="51389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34" b="1" i="1">
                <a:solidFill>
                  <a:srgbClr val="0F2A43"/>
                </a:solidFill>
                <a:latin typeface="Times New Roman"/>
              </a:rPr>
              <a:t>Same facts — would they act faster, or slower?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Central question: would the UK, France or Japan have acted faster — or slower?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80" b="1" i="0">
                <a:solidFill>
                  <a:srgbClr val="1C3A56"/>
                </a:solidFill>
                <a:latin typeface="Times New Roman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SECTION 4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Accountability,</a:t>
            </a:r>
          </a:p>
          <a:p>
            <a:pPr algn="l">
              <a:lnSpc>
                <a:spcPct val="100000"/>
              </a:lnSpc>
            </a:pPr>
            <a:r>
              <a:rPr sz="3894" b="1" i="0">
                <a:solidFill>
                  <a:srgbClr val="FFFFFF"/>
                </a:solidFill>
                <a:latin typeface="Times New Roman"/>
              </a:rPr>
              <a:t>Transparency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124" b="0" i="1">
                <a:solidFill>
                  <a:srgbClr val="F2F4F7"/>
                </a:solidFill>
                <a:latin typeface="Times New Roman"/>
              </a:rPr>
              <a:t>Designing cross-border justice that actually protects victims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206240"/>
            <a:ext cx="1691640" cy="1691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909CAA"/>
                </a:solidFill>
                <a:latin typeface="Times New Roman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The 2025 Document-Release Wave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74519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US transparency legislation drove a large release of case documents.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Meant to answer public demand for accountability and openness.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But disclosures made victims easy to identify — enablers less so.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05">
                <a:solidFill>
                  <a:srgbClr val="334455"/>
                </a:solidFill>
                <a:latin typeface="Times New Roman"/>
              </a:rPr>
              <a:t>•  A real tension: public transparency vs victim privacy and safety.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83" y="1828799"/>
            <a:ext cx="3520440" cy="3520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Transparency is not automatically just — its design determines who it protects.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PART 4  • 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Reform Proposals &amp; a Japan Comparison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Faster, better-resourced MLAT and extradition channels.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Victim-centred disclosure rules that shield identities by default.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Stronger cross-border asset tracing and recovery.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2124">
                <a:solidFill>
                  <a:srgbClr val="334455"/>
                </a:solidFill>
                <a:latin typeface="Times New Roman"/>
              </a:rPr>
              <a:t>•  Harmonised definitions so cooperation isn't blocked by mismatched laws.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1" i="0">
                <a:solidFill>
                  <a:srgbClr val="C08A2B"/>
                </a:solidFill>
                <a:latin typeface="Times New Roman"/>
              </a:rPr>
              <a:t>JAPAN ANGLE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1" y="2286000"/>
            <a:ext cx="11887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8431" y="3108960"/>
            <a:ext cx="3429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70" b="0" i="1">
                <a:solidFill>
                  <a:srgbClr val="334455"/>
                </a:solidFill>
                <a:latin typeface="Times New Roman"/>
              </a:rPr>
              <a:t>Japan has an anti-trafficking action framework and is assessed annually in the US State Department's TIP Report — a useful benchmark for how a non-Western system measures up on cross-border cooperation.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70" b="0" i="1">
                <a:solidFill>
                  <a:srgbClr val="0F2A43"/>
                </a:solidFill>
                <a:latin typeface="Times New Roman"/>
              </a:rPr>
              <a:t>Better justice across borders is mostly an engineering problem, not a gap in principle.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34" b="1" i="0">
                <a:solidFill>
                  <a:srgbClr val="C08A2B"/>
                </a:solidFill>
                <a:latin typeface="Times New Roman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68" b="1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301752"/>
            <a:ext cx="54864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463040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481328" y="1463040"/>
            <a:ext cx="822960" cy="8229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056" y="1572768"/>
            <a:ext cx="603504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87168" y="1517904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Crime crosses borders — justice often doesn't.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1883664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Networks are global; enforcement is national.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95728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81328" y="2395728"/>
            <a:ext cx="822960" cy="8229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56" y="2505456"/>
            <a:ext cx="603504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487168" y="2450592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The legal tools already exist.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2816352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Palermo &amp; UNTOC provide the framework; coordination is the gap.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28416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9300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1328" y="3328416"/>
            <a:ext cx="822960" cy="8229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056" y="3438144"/>
            <a:ext cx="603504" cy="60350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87168" y="338328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Wealth buys time, not immunity.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7168" y="374904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Mobility delayed — but did not finally prevent — accountability.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61104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2569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32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81328" y="4261104"/>
            <a:ext cx="822960" cy="82296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056" y="4370832"/>
            <a:ext cx="603504" cy="6035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87168" y="4315968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24" b="1" i="0">
                <a:solidFill>
                  <a:srgbClr val="0F2A43"/>
                </a:solidFill>
                <a:latin typeface="Times New Roman"/>
              </a:rPr>
              <a:t>Transparency must protect victims.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87168" y="4681728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2" b="0" i="1">
                <a:solidFill>
                  <a:srgbClr val="334455"/>
                </a:solidFill>
                <a:latin typeface="Times New Roman"/>
              </a:rPr>
              <a:t>Disclosure should expose enablers, not endanger survivors.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58384"/>
            <a:ext cx="11091672" cy="9784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358384"/>
            <a:ext cx="128016" cy="9784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477256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97" b="1" i="0">
                <a:solidFill>
                  <a:srgbClr val="C08A2B"/>
                </a:solidFill>
                <a:latin typeface="Times New Roman"/>
              </a:rPr>
              <a:t>SELECTED SOURCES &amp; INSTRUMENTS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788152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238" b="0" i="0">
                <a:solidFill>
                  <a:srgbClr val="334455"/>
                </a:solidFill>
                <a:latin typeface="Times New Roman"/>
              </a:rPr>
              <a:t>Palermo Protocol (2000) · UN Convention against Transnational Organized Crime (UNTOC) · US DOJ filings (US v. Epstein, 2019; US v. Maxwell, 2021) · US State Dept. TIP Reports · contemporary reporting on the 2025 disclosures.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97" b="0" i="0">
                <a:solidFill>
                  <a:srgbClr val="6B7682"/>
                </a:solidFill>
                <a:latin typeface="Times New Roman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