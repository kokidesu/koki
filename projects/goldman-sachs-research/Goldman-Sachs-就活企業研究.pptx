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5A66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A1A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純収益 ($B)</c:v>
                  </c:pt>
                  <c:pt idx="1">
                    <c:v>純利益 ($B)</c:v>
                  </c:pt>
                  <c:pt idx="2">
                    <c:v>EPS ($)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46.25</c:v>
                </c:pt>
                <c:pt idx="1">
                  <c:v>8.52</c:v>
                </c:pt>
                <c:pt idx="2">
                  <c:v>22.87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A1A3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純収益 ($B)</c:v>
                  </c:pt>
                  <c:pt idx="1">
                    <c:v>純利益 ($B)</c:v>
                  </c:pt>
                  <c:pt idx="2">
                    <c:v>EPS ($)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53.51</c:v>
                </c:pt>
                <c:pt idx="1">
                  <c:v>14.28</c:v>
                </c:pt>
                <c:pt idx="2">
                  <c:v>40.54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0A1A3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B24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AED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43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AUS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0A1A3F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2.55</c:v>
                </c:pt>
                <c:pt idx="1">
                  <c:v>2.81</c:v>
                </c:pt>
                <c:pt idx="2">
                  <c:v>3.14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600" u="none">
                  <a:solidFill>
                    <a:srgbClr val="0A1A3F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B24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税前マージン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0A1A3F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2023（約10%）</c:v>
                  </c:pt>
                  <c:pt idx="1">
                    <c:v>2024（約28%）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500" u="none">
                  <a:solidFill>
                    <a:srgbClr val="0A1A3F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B24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AUM</c:v>
                </c:pt>
              </c:strCache>
            </c:strRef>
          </c:tx>
          <c:spPr>
            <a:solidFill>
              <a:srgbClr val="0A1A3F"/>
            </a:solidFill>
            <a:effectLst/>
          </c:spPr>
          <c:invertIfNegative val="0"/>
          <c:dLbls>
            <c:numFmt formatCode="0.0&quot;兆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A1A3F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BlackRock</c:v>
                  </c:pt>
                  <c:pt idx="1">
                    <c:v>JPMorgan AM</c:v>
                  </c:pt>
                  <c:pt idx="2">
                    <c:v>GS AWM</c:v>
                  </c:pt>
                  <c:pt idx="3">
                    <c:v>Morgan Stanley IM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11.6</c:v>
                </c:pt>
                <c:pt idx="1">
                  <c:v>3.3</c:v>
                </c:pt>
                <c:pt idx="2">
                  <c:v>3.14</c:v>
                </c:pt>
                <c:pt idx="3">
                  <c:v>1.7</c:v>
                </c:pt>
              </c:numCache>
            </c:numRef>
          </c:val>
        </c:ser>
        <c:dLbls>
          <c:numFmt formatCode="0.0&quot;兆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0A1A3F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B24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Financing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0.0&quot;B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A1A3F"/>
                    </a:solidFill>
                    <a:latin typeface="Georg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2019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4.5</c:v>
                </c:pt>
                <c:pt idx="1">
                  <c:v>9.1</c:v>
                </c:pt>
              </c:numCache>
            </c:numRef>
          </c:val>
        </c:ser>
        <c:dLbls>
          <c:numFmt formatCode="$0.0&quot;B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0A1A3F"/>
                  </a:solidFill>
                  <a:latin typeface="Georg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B243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表紙。ゴールドマン・サックスをアセマネ部門と営業部門の2軸で読み解く企業研究。FY2024決算ベース。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結論サマリー。V字回復・安定収益への戦略シフト・アセマネ/営業の2部門の位置づけを最初に提示。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会社概観。1869年創業の155年の歴史と、Solomon・Waldron・Colemanの現経営体制。本社NY、従業員約46,500人。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3つの事業セグメント。GBM（営業部門）とAWM（アセマネ部門）を強調。Platformは縮小中。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全社業績のV字回復。純収益・純利益・EPSが軒並み増加、ROE7.5→12.7%、効率比率も改善。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AWM導入。運用フィーで稼ぐ部門。AUSは$3.14兆で過去最高、28四半期連続で純流入。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AWM最重要。自己投資を$64B→$6Bに圧縮し運用フィーを拡大。税前マージン約10%→約28%へ激変。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AWM最重要。オルタナとUHNW特化が差別化の2本柱。規模ではBlackRockに劣るが高マージンで勝負。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営業部門の導入。GBMの中核でEquitiesとFICCの2グループ。職種はSales/Trading/Strats。FY2024は両者とも好調。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営業最重要。1階マーケットメイク（変動）と2階ファイナンシング（安定）の2階建て。安定収益$9.1Bが過去最高。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業界ポジション。M&amp;A助言で世界No.1（2023時点で7年連続）。完了M&amp;A取扱額は直近で約$1.48兆・シェア約32%（2025集計）。近年は2022好調→2023減速→2024V字。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全社を貫く戦略。変動→安定への転換が両部門共通の背骨。消費者事業は損失$6B超で撤退し得意領域へ回帰。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主要リスク4点。景気循環性、規制資本、1MDB等の訴訟、戦略実行（消費者撤退とPlatform黒字化遅れ）。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日本拠点と就活。東京は1974年から。求める人材は知性・行動力・倫理観・バイリンガル。14のビジネス原則も重要。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まとめ。面接で効く5視点。両輪戦略・マージン激変・規模より収益性・規律ある撤退・マクロ感応度。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出典と注記。一次情報は10-K・決算リリース・Investor Day。一部は要一次確認。FY2024決算ベース。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5669280"/>
            <a:ext cx="384048" cy="731520"/>
          </a:xfrm>
          <a:prstGeom prst="rect">
            <a:avLst/>
          </a:prstGeom>
          <a:solidFill>
            <a:srgbClr val="122B5C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47888" y="4937760"/>
            <a:ext cx="384048" cy="1463040"/>
          </a:xfrm>
          <a:prstGeom prst="rect">
            <a:avLst/>
          </a:prstGeom>
          <a:solidFill>
            <a:srgbClr val="1C3D72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14816" y="5303520"/>
            <a:ext cx="384048" cy="1097280"/>
          </a:xfrm>
          <a:prstGeom prst="rect">
            <a:avLst/>
          </a:prstGeom>
          <a:solidFill>
            <a:srgbClr val="122B5C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81744" y="4206240"/>
            <a:ext cx="384048" cy="2194560"/>
          </a:xfrm>
          <a:prstGeom prst="rect">
            <a:avLst/>
          </a:prstGeom>
          <a:solidFill>
            <a:srgbClr val="1C3D72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48672" y="4480560"/>
            <a:ext cx="384048" cy="1920240"/>
          </a:xfrm>
          <a:prstGeom prst="rect">
            <a:avLst/>
          </a:prstGeom>
          <a:solidFill>
            <a:srgbClr val="122B5C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0" y="3291840"/>
            <a:ext cx="384048" cy="3108960"/>
          </a:xfrm>
          <a:prstGeom prst="rect">
            <a:avLst/>
          </a:prstGeom>
          <a:solidFill>
            <a:srgbClr val="1C3D72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82528" y="3566160"/>
            <a:ext cx="384048" cy="2834640"/>
          </a:xfrm>
          <a:prstGeom prst="rect">
            <a:avLst/>
          </a:prstGeom>
          <a:solidFill>
            <a:srgbClr val="122B5C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49456" y="2468880"/>
            <a:ext cx="384048" cy="3931920"/>
          </a:xfrm>
          <a:prstGeom prst="rect">
            <a:avLst/>
          </a:prstGeom>
          <a:solidFill>
            <a:srgbClr val="1C3D72"/>
          </a:solidFill>
          <a:ln w="6350">
            <a:solidFill>
              <a:srgbClr val="1C3D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5486400"/>
            <a:ext cx="3977640" cy="-3246120"/>
          </a:xfrm>
          <a:prstGeom prst="line">
            <a:avLst/>
          </a:prstGeom>
          <a:noFill/>
          <a:ln w="317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943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0" b="1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GS</a:t>
            </a:r>
            <a:endParaRPr lang="en-US" sz="8600" dirty="0"/>
          </a:p>
        </p:txBody>
      </p:sp>
      <p:sp>
        <p:nvSpPr>
          <p:cNvPr id="12" name="Shape 10"/>
          <p:cNvSpPr/>
          <p:nvPr/>
        </p:nvSpPr>
        <p:spPr>
          <a:xfrm>
            <a:off x="841248" y="2240280"/>
            <a:ext cx="146304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2331720" y="1234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企業研究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77240" y="2697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Goldman Sachs 企業研究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04672" y="36576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アセット・マネジメント部門 × 営業部門 を読み解く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822960" y="5806440"/>
            <a:ext cx="457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E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就活企業研究  /  2025年版（FY2024決算ベース）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まず結論 — Goldman Sachsの今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420624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3520440" cy="566928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V字回復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12.7%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777240" y="3566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全社ROE（2024）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397764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7.5%(2023) → 12.7%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純利益 $14.3B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$40.54（+77%）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25112" y="1783080"/>
            <a:ext cx="3520440" cy="420624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25112" y="1783080"/>
            <a:ext cx="3520440" cy="5669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78308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戦略の核心</a:t>
            </a:r>
            <a:endParaRPr lang="en-US" sz="18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53712" y="2651760"/>
            <a:ext cx="640080" cy="6400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285232" y="26060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安定収益へ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572000" y="34747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revenues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81144" y="393192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ブレやすい 自己投資／仲介 から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安定した 運用フィー／ファイナンシング へ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全社を貫く一本の戦略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101584" y="1783080"/>
            <a:ext cx="3520440" cy="420624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101584" y="1783080"/>
            <a:ext cx="3520440" cy="566928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20" name="Text 17"/>
          <p:cNvSpPr/>
          <p:nvPr/>
        </p:nvSpPr>
        <p:spPr>
          <a:xfrm>
            <a:off x="8330184" y="1783080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2部門の位置づけ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8330184" y="2606040"/>
            <a:ext cx="306324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485632" y="27157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アセマネ部門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485632" y="310896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運用フィー（手数料）の柱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330184" y="4160520"/>
            <a:ext cx="3063240" cy="1417320"/>
          </a:xfrm>
          <a:prstGeom prst="rect">
            <a:avLst/>
          </a:prstGeom>
          <a:solidFill>
            <a:srgbClr val="FFFFFF"/>
          </a:solidFill>
          <a:ln w="16510">
            <a:solidFill>
              <a:srgbClr val="0A1A3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485632" y="427024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営業部門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485632" y="466344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マーケットメイク＋ファイナンシングの柱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PROFILE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会社の輪郭 — 155年の歴史と現体制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沿革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965960"/>
            <a:ext cx="0" cy="338328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74520"/>
            <a:ext cx="201168" cy="201168"/>
          </a:xfrm>
          <a:prstGeom prst="ellipse">
            <a:avLst/>
          </a:prstGeom>
          <a:solidFill>
            <a:srgbClr val="C9A2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176479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1869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377440" y="17647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創業（ニューヨーク）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8096" y="2743200"/>
            <a:ext cx="201168" cy="201168"/>
          </a:xfrm>
          <a:prstGeom prst="ellipse">
            <a:avLst/>
          </a:prstGeom>
          <a:solidFill>
            <a:srgbClr val="C9A2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26334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1999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377440" y="26334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NYSE上場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68096" y="3611880"/>
            <a:ext cx="201168" cy="201168"/>
          </a:xfrm>
          <a:prstGeom prst="ellipse">
            <a:avLst/>
          </a:prstGeom>
          <a:solidFill>
            <a:srgbClr val="C9A2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350215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377440" y="35021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銀行持株会社化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68096" y="4480560"/>
            <a:ext cx="201168" cy="201168"/>
          </a:xfrm>
          <a:prstGeom prst="ellipse">
            <a:avLst/>
          </a:prstGeom>
          <a:solidFill>
            <a:srgbClr val="C9A2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37083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377440" y="43708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3セグメント体制へ再編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現経営体制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0" y="1874520"/>
            <a:ext cx="5212080" cy="896112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01968" y="2075688"/>
            <a:ext cx="502920" cy="50292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148840"/>
            <a:ext cx="347472" cy="34747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315200" y="20208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David Solomon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7315200" y="236829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会長 兼 CEO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0" y="2898648"/>
            <a:ext cx="5212080" cy="896112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601968" y="3099816"/>
            <a:ext cx="502920" cy="50292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3172968"/>
            <a:ext cx="347472" cy="34747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315200" y="30449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Waldron</a:t>
            </a:r>
            <a:endParaRPr lang="en-US" sz="1900" dirty="0"/>
          </a:p>
        </p:txBody>
      </p:sp>
      <p:sp>
        <p:nvSpPr>
          <p:cNvPr id="29" name="Text 25"/>
          <p:cNvSpPr/>
          <p:nvPr/>
        </p:nvSpPr>
        <p:spPr>
          <a:xfrm>
            <a:off x="7315200" y="339242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社長 兼 COO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922776"/>
            <a:ext cx="5212080" cy="896112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601968" y="4123944"/>
            <a:ext cx="502920" cy="50292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197096"/>
            <a:ext cx="347472" cy="347472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7315200" y="4069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Denis Coleman</a:t>
            </a:r>
            <a:endParaRPr lang="en-US" sz="1900" dirty="0"/>
          </a:p>
        </p:txBody>
      </p:sp>
      <p:sp>
        <p:nvSpPr>
          <p:cNvPr id="34" name="Text 29"/>
          <p:cNvSpPr/>
          <p:nvPr/>
        </p:nvSpPr>
        <p:spPr>
          <a:xfrm>
            <a:off x="7315200" y="441655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548640" y="5897880"/>
            <a:ext cx="11064240" cy="566928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6" name="Text 31"/>
          <p:cNvSpPr/>
          <p:nvPr/>
        </p:nvSpPr>
        <p:spPr>
          <a:xfrm>
            <a:off x="822960" y="589788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ニューヨーク      </a:t>
            </a:r>
            <a:pPr indent="0" marL="0">
              <a:buNone/>
            </a:pPr>
            <a:r>
              <a:rPr lang="en-US" sz="15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従業員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 46,500人（2024年末）</a:t>
            </a:r>
            <a:endParaRPr lang="en-US" sz="1500" dirty="0"/>
          </a:p>
        </p:txBody>
      </p:sp>
      <p:sp>
        <p:nvSpPr>
          <p:cNvPr id="37" name="Text 32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SEGMENTS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3つの事業セグメント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74520"/>
            <a:ext cx="3520440" cy="3840480"/>
          </a:xfrm>
          <a:prstGeom prst="rect">
            <a:avLst/>
          </a:prstGeom>
          <a:solidFill>
            <a:srgbClr val="FFFFFF"/>
          </a:solidFill>
          <a:ln w="27940">
            <a:solidFill>
              <a:srgbClr val="C9A22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3520440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1851660" y="2240280"/>
            <a:ext cx="914400" cy="91440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2828" y="244144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2918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Banking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Markets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" y="41148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投資銀行 ＋ FICC ＋ Equities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31520" y="4617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$34.94B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4420" y="521208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</p:sp>
      <p:sp>
        <p:nvSpPr>
          <p:cNvPr id="13" name="Text 10"/>
          <p:cNvSpPr/>
          <p:nvPr/>
        </p:nvSpPr>
        <p:spPr>
          <a:xfrm>
            <a:off x="1074420" y="5212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営業部門はここ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25112" y="1874520"/>
            <a:ext cx="3520440" cy="3840480"/>
          </a:xfrm>
          <a:prstGeom prst="rect">
            <a:avLst/>
          </a:prstGeom>
          <a:solidFill>
            <a:srgbClr val="FFFFFF"/>
          </a:solidFill>
          <a:ln w="27940">
            <a:solidFill>
              <a:srgbClr val="C9A22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25112" y="1874520"/>
            <a:ext cx="3520440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6" name="Shape 13"/>
          <p:cNvSpPr/>
          <p:nvPr/>
        </p:nvSpPr>
        <p:spPr>
          <a:xfrm>
            <a:off x="5628132" y="2240280"/>
            <a:ext cx="914400" cy="91440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0" y="2441448"/>
            <a:ext cx="512064" cy="51206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507992" y="32918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Asset &amp; Wealth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4553712" y="41148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運用（GSAM）＋ ウェルス（PWM）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507992" y="4617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$16.14B</a:t>
            </a:r>
            <a:endParaRPr lang="en-US" sz="3400" dirty="0"/>
          </a:p>
        </p:txBody>
      </p:sp>
      <p:sp>
        <p:nvSpPr>
          <p:cNvPr id="21" name="Shape 17"/>
          <p:cNvSpPr/>
          <p:nvPr/>
        </p:nvSpPr>
        <p:spPr>
          <a:xfrm>
            <a:off x="4850892" y="521208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</p:sp>
      <p:sp>
        <p:nvSpPr>
          <p:cNvPr id="22" name="Text 18"/>
          <p:cNvSpPr/>
          <p:nvPr/>
        </p:nvSpPr>
        <p:spPr>
          <a:xfrm>
            <a:off x="4850892" y="5212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アセマネ部門はここ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101584" y="1874520"/>
            <a:ext cx="3520440" cy="384048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101584" y="1874520"/>
            <a:ext cx="3520440" cy="109728"/>
          </a:xfrm>
          <a:prstGeom prst="rect">
            <a:avLst/>
          </a:prstGeom>
          <a:solidFill>
            <a:srgbClr val="5A6678"/>
          </a:solidFill>
          <a:ln/>
        </p:spPr>
      </p:sp>
      <p:sp>
        <p:nvSpPr>
          <p:cNvPr id="25" name="Shape 21"/>
          <p:cNvSpPr/>
          <p:nvPr/>
        </p:nvSpPr>
        <p:spPr>
          <a:xfrm>
            <a:off x="9404604" y="2240280"/>
            <a:ext cx="914400" cy="91440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772" y="2441448"/>
            <a:ext cx="512064" cy="51206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8284464" y="32918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Solutions</a:t>
            </a:r>
            <a:endParaRPr lang="en-US" sz="1800" dirty="0"/>
          </a:p>
        </p:txBody>
      </p:sp>
      <p:sp>
        <p:nvSpPr>
          <p:cNvPr id="28" name="Text 23"/>
          <p:cNvSpPr/>
          <p:nvPr/>
        </p:nvSpPr>
        <p:spPr>
          <a:xfrm>
            <a:off x="8330184" y="41148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カード提携 等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284464" y="46177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A66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約 $2.43B</a:t>
            </a:r>
            <a:endParaRPr lang="en-US" sz="3400" dirty="0"/>
          </a:p>
        </p:txBody>
      </p:sp>
      <p:sp>
        <p:nvSpPr>
          <p:cNvPr id="30" name="Shape 25"/>
          <p:cNvSpPr/>
          <p:nvPr/>
        </p:nvSpPr>
        <p:spPr>
          <a:xfrm>
            <a:off x="8627364" y="521208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E3E7EE"/>
          </a:solidFill>
          <a:ln/>
        </p:spPr>
      </p:sp>
      <p:sp>
        <p:nvSpPr>
          <p:cNvPr id="31" name="Text 26"/>
          <p:cNvSpPr/>
          <p:nvPr/>
        </p:nvSpPr>
        <p:spPr>
          <a:xfrm>
            <a:off x="8627364" y="5212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縮小・黒字化途上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548640" y="5943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純収益はFY2024（通期）。本件で深掘りする2部門をゴールドで強調。</a:t>
            </a:r>
            <a:endParaRPr lang="en-US" sz="1150" dirty="0"/>
          </a:p>
        </p:txBody>
      </p:sp>
      <p:sp>
        <p:nvSpPr>
          <p:cNvPr id="33" name="Text 28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FY2024 RESULTS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全社業績：2024年はV字回復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874520"/>
            <a:ext cx="3886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26680" y="1874520"/>
            <a:ext cx="82296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7909560" y="2002536"/>
            <a:ext cx="3566160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7.5% → 12.7%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927848" y="265404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全社ROE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927848" y="2946654"/>
            <a:ext cx="3520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収益性が大幅改善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26680" y="3456432"/>
            <a:ext cx="3886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26680" y="3456432"/>
            <a:ext cx="82296" cy="141732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13" name="Text 10"/>
          <p:cNvSpPr/>
          <p:nvPr/>
        </p:nvSpPr>
        <p:spPr>
          <a:xfrm>
            <a:off x="7909560" y="3584448"/>
            <a:ext cx="3566160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74.6% → 63.1%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7927848" y="423595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効率比率（経費率）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927848" y="4528566"/>
            <a:ext cx="3520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経費規律で改善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726680" y="5029200"/>
            <a:ext cx="3886200" cy="86868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955280" y="50292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市況回復 ＋ 経費規律で、収益性が改善。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1 — AWM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【部門①】アセット・マネジメント部門（AWM）とは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120640" cy="187452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82296" cy="18745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385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役割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228600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機関投資家・富裕層の資産を運用し、フィー（手数料）を得る。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2608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GSAM ＝ 運用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 ＝ 超富裕層向けウェルス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5120640" cy="196596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運用資産（AUS）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429768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$3.14兆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822960" y="5349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2024年末・過去最高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035040" y="1691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AUS推移（兆ドル）</a:t>
            </a:r>
            <a:endParaRPr lang="en-US" sz="15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0" y="2011680"/>
          <a:ext cx="56692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5943600" y="5349240"/>
            <a:ext cx="5669280" cy="566928"/>
          </a:xfrm>
          <a:prstGeom prst="rect">
            <a:avLst/>
          </a:prstGeom>
          <a:solidFill>
            <a:srgbClr val="F4F6FA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26480" y="534924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28四半期連続で長期フィーベースの純流入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1 — STRATEGY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AWMの核心：自己投資 → 運用フィーへ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4572000" cy="178308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933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自己投資（プリンシパル投資）残高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5A66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$64B </a:t>
            </a:r>
            <a:pPr algn="l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algn="l" indent="0" marL="0">
              <a:buNone/>
            </a:pPr>
            <a:r>
              <a:rPr lang="en-US" sz="52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$6B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9割超を圧縮 ＝ 収益のブレを縮小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5232" y="2395728"/>
            <a:ext cx="640080" cy="6400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172200" y="1828800"/>
            <a:ext cx="5440680" cy="178308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355080" y="197510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代わりに運用報酬を拡大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355080" y="228600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&amp; other fees（2024）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327648" y="257860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$10B超</a:t>
            </a:r>
            <a:endParaRPr lang="en-US" sz="5000" dirty="0"/>
          </a:p>
        </p:txBody>
      </p:sp>
      <p:sp>
        <p:nvSpPr>
          <p:cNvPr id="14" name="Text 11"/>
          <p:cNvSpPr/>
          <p:nvPr/>
        </p:nvSpPr>
        <p:spPr>
          <a:xfrm>
            <a:off x="6355080" y="3310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C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安定的なフィー収益が収益の柱に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結果：税前マージンが激変</a:t>
            </a:r>
            <a:endParaRPr lang="en-US" sz="16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2920" y="4160520"/>
          <a:ext cx="55778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Shape 13"/>
          <p:cNvSpPr/>
          <p:nvPr/>
        </p:nvSpPr>
        <p:spPr>
          <a:xfrm>
            <a:off x="6400800" y="4023360"/>
            <a:ext cx="52120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00800" y="4023360"/>
            <a:ext cx="82296" cy="960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9" name="Text 15"/>
          <p:cNvSpPr/>
          <p:nvPr/>
        </p:nvSpPr>
        <p:spPr>
          <a:xfrm>
            <a:off x="6583680" y="4151376"/>
            <a:ext cx="489204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約$1.4B → 約$4.5B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6601968" y="455142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税前利益（AWM）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400800" y="5120640"/>
            <a:ext cx="5212080" cy="1280160"/>
          </a:xfrm>
          <a:prstGeom prst="rect">
            <a:avLst/>
          </a:prstGeom>
          <a:solidFill>
            <a:srgbClr val="F4F6F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583680" y="52303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「規模」より「収益の質」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6583680" y="57150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中期目標 mid-20s% マージンを達成。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1 — EDGE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AWMの勝ち筋：規模ではなく高マージン領域へ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074920" cy="192024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82296" cy="192024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993392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99339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オルタナティブ／プライベート市場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2542032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オルタナAUS $328B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資金調達目標 $225B を1年前倒し達成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「世界トップ5のオルタナ運用」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886200"/>
            <a:ext cx="5074920" cy="196596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3886200"/>
            <a:ext cx="82296" cy="1965960"/>
          </a:xfrm>
          <a:prstGeom prst="rect">
            <a:avLst/>
          </a:prstGeom>
          <a:solidFill>
            <a:srgbClr val="0A1A3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50792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25880" y="405079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UHNW（超富裕層）特化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22960" y="45720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低マージンのマスアフルエント（PFM）を売却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PWM ＋ Ayco に集中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「規模で挑まず、高マージンで勝つ」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98932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運用規模の比較（兆ドル）</a:t>
            </a:r>
            <a:endParaRPr lang="en-US" sz="15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897880" y="2011680"/>
          <a:ext cx="5715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Shape 12"/>
          <p:cNvSpPr/>
          <p:nvPr/>
        </p:nvSpPr>
        <p:spPr>
          <a:xfrm>
            <a:off x="5897880" y="5440680"/>
            <a:ext cx="5715000" cy="96012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6080760" y="5440680"/>
            <a:ext cx="5440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BlackRockは規模（パッシブ）の王者。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GSは規模で挑まず、高マージンで勝つ。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2 — S&amp;T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【部門②】営業部門 ＝ Sales &amp; Trading（GBM）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11064240" cy="86868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83080"/>
            <a:ext cx="82296" cy="86868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83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位置づけ： </a:t>
            </a:r>
            <a:pPr indent="0" marL="0">
              <a:buNone/>
            </a:pPr>
            <a:r>
              <a:rPr lang="en-US" sz="15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Banking &amp; Markets の中核。日本のGS証券では「証券部門」。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5440680" cy="1417320"/>
          </a:xfrm>
          <a:prstGeom prst="rect">
            <a:avLst/>
          </a:prstGeom>
          <a:solidFill>
            <a:srgbClr val="FFFFFF"/>
          </a:solidFill>
          <a:ln w="20320">
            <a:solidFill>
              <a:srgbClr val="0A1A3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3044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Equities（株式）グループ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44728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株式・派生のマーケットメイクと顧客フロー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2880360"/>
            <a:ext cx="5440680" cy="1417320"/>
          </a:xfrm>
          <a:prstGeom prst="rect">
            <a:avLst/>
          </a:prstGeom>
          <a:solidFill>
            <a:srgbClr val="FFFFFF"/>
          </a:solidFill>
          <a:ln w="20320">
            <a:solidFill>
              <a:srgbClr val="C9A22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3044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FICC（債券・為替・コモディティ）グループ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3447288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金利・クレジット・通貨・商品のトレーディング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職種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3474720" cy="502920"/>
          </a:xfrm>
          <a:prstGeom prst="roundRect">
            <a:avLst>
              <a:gd name="adj" fmla="val 18182"/>
            </a:avLst>
          </a:prstGeom>
          <a:solidFill>
            <a:srgbClr val="0A1A3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754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Sales（機関投資家カバレッジ）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754880"/>
            <a:ext cx="3474720" cy="502920"/>
          </a:xfrm>
          <a:prstGeom prst="roundRect">
            <a:avLst>
              <a:gd name="adj" fmla="val 18182"/>
            </a:avLst>
          </a:prstGeom>
          <a:solidFill>
            <a:srgbClr val="0A1A3F"/>
          </a:solidFill>
          <a:ln/>
        </p:spPr>
      </p:sp>
      <p:sp>
        <p:nvSpPr>
          <p:cNvPr id="18" name="Text 16"/>
          <p:cNvSpPr/>
          <p:nvPr/>
        </p:nvSpPr>
        <p:spPr>
          <a:xfrm>
            <a:off x="4251960" y="4754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Trading（マーケットメイク）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754880"/>
            <a:ext cx="3474720" cy="502920"/>
          </a:xfrm>
          <a:prstGeom prst="roundRect">
            <a:avLst>
              <a:gd name="adj" fmla="val 18182"/>
            </a:avLst>
          </a:prstGeom>
          <a:solidFill>
            <a:srgbClr val="0A1A3F"/>
          </a:solidFill>
          <a:ln/>
        </p:spPr>
      </p:sp>
      <p:sp>
        <p:nvSpPr>
          <p:cNvPr id="20" name="Text 18"/>
          <p:cNvSpPr/>
          <p:nvPr/>
        </p:nvSpPr>
        <p:spPr>
          <a:xfrm>
            <a:off x="7955280" y="4754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Strats（クオンツ）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532120"/>
            <a:ext cx="5440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5532120"/>
            <a:ext cx="82296" cy="960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660136"/>
            <a:ext cx="512064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$13.2B（+9%）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749808" y="606018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FICC（FY2024）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72200" y="5532120"/>
            <a:ext cx="54406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72200" y="5532120"/>
            <a:ext cx="82296" cy="96012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27" name="Text 25"/>
          <p:cNvSpPr/>
          <p:nvPr/>
        </p:nvSpPr>
        <p:spPr>
          <a:xfrm>
            <a:off x="6355080" y="5660136"/>
            <a:ext cx="512064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$13.43B（+16%）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373368" y="606018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Equities（FY2024・過去最高）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2 — STRUCTURE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営業の収益は「2階建て」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6766560" cy="169164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28800"/>
            <a:ext cx="1188720" cy="16916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28800"/>
            <a:ext cx="1188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2階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920240" y="19659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ファイナンシング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920240" y="2395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プライム・ブローカレッジ／レポ／担保貸付など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920240" y="2852928"/>
            <a:ext cx="2377440" cy="457200"/>
          </a:xfrm>
          <a:prstGeom prst="roundRect">
            <a:avLst>
              <a:gd name="adj" fmla="val 20000"/>
            </a:avLst>
          </a:prstGeom>
          <a:solidFill>
            <a:srgbClr val="E8B84B"/>
          </a:solidFill>
          <a:ln/>
        </p:spPr>
      </p:sp>
      <p:sp>
        <p:nvSpPr>
          <p:cNvPr id="11" name="Text 9"/>
          <p:cNvSpPr/>
          <p:nvPr/>
        </p:nvSpPr>
        <p:spPr>
          <a:xfrm>
            <a:off x="1920240" y="28529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反復的・安定収益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6766560" cy="1691640"/>
          </a:xfrm>
          <a:prstGeom prst="rect">
            <a:avLst/>
          </a:prstGeom>
          <a:solidFill>
            <a:srgbClr val="1C3D72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611880"/>
            <a:ext cx="1188720" cy="1691640"/>
          </a:xfrm>
          <a:prstGeom prst="rect">
            <a:avLst/>
          </a:prstGeom>
          <a:solidFill>
            <a:srgbClr val="8A97A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611880"/>
            <a:ext cx="1188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1階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920240" y="37490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マーケットメイク（仲介）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920240" y="417880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両建ての値段を提示し流動性を供給、顧客フローを仲介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920240" y="4636008"/>
            <a:ext cx="2651760" cy="457200"/>
          </a:xfrm>
          <a:prstGeom prst="roundRect">
            <a:avLst>
              <a:gd name="adj" fmla="val 20000"/>
            </a:avLst>
          </a:prstGeom>
          <a:solidFill>
            <a:srgbClr val="E3E7EE"/>
          </a:solidFill>
          <a:ln/>
        </p:spPr>
      </p:sp>
      <p:sp>
        <p:nvSpPr>
          <p:cNvPr id="18" name="Text 16"/>
          <p:cNvSpPr/>
          <p:nvPr/>
        </p:nvSpPr>
        <p:spPr>
          <a:xfrm>
            <a:off x="1920240" y="463600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市況・ボラ次第で変動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589520" y="18288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89520" y="1828800"/>
            <a:ext cx="82296" cy="16916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0" y="1956816"/>
            <a:ext cx="3703320" cy="761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$9.1B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7790688" y="275920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ファイナンシング収益（2024・過去最高）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90688" y="3051810"/>
            <a:ext cx="3657600" cy="507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2019年比 CAGR 15%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589520" y="3703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ファイナンシング収益の伸び</a:t>
            </a:r>
            <a:endParaRPr lang="en-US" sz="13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7498080" y="3977640"/>
          <a:ext cx="416052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7589520" y="528523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※2019年は概算（CAGR15%からの逆算イメージ）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48640" y="5669280"/>
            <a:ext cx="11064240" cy="777240"/>
          </a:xfrm>
          <a:prstGeom prst="rect">
            <a:avLst/>
          </a:prstGeom>
          <a:solidFill>
            <a:srgbClr val="F4F6FA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77240" y="56692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メッセージ： </a:t>
            </a:r>
            <a:pPr indent="0" marL="0">
              <a:buNone/>
            </a:pPr>
            <a:r>
              <a:rPr lang="en-US" sz="145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AWMの「運用フィー」と同じく、営業も“安定収益”を厚くしている ＝ 全社で一貫。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POSITION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業界での立ち位置：助言の絶対王者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28800"/>
            <a:ext cx="5212080" cy="411480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48840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7年連続</a:t>
            </a:r>
            <a:endParaRPr lang="en-US" sz="7000" dirty="0"/>
          </a:p>
        </p:txBody>
      </p:sp>
      <p:sp>
        <p:nvSpPr>
          <p:cNvPr id="8" name="Text 5"/>
          <p:cNvSpPr/>
          <p:nvPr/>
        </p:nvSpPr>
        <p:spPr>
          <a:xfrm>
            <a:off x="868680" y="4160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M&amp;Aアドバイザリー 世界No.1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47091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E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（2023年時点）助言ビジネスで世界トップを維持。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080760" y="1828800"/>
            <a:ext cx="5532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080760" y="1828800"/>
            <a:ext cx="82296" cy="1234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9"/>
          <p:cNvSpPr/>
          <p:nvPr/>
        </p:nvSpPr>
        <p:spPr>
          <a:xfrm>
            <a:off x="6263640" y="1956816"/>
            <a:ext cx="5212080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約$1.48兆 / シェア約32%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6281928" y="250774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完了M&amp;A 取扱額（世界首位級・直近2025集計）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080760" y="3200400"/>
            <a:ext cx="5532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080760" y="3200400"/>
            <a:ext cx="82296" cy="123444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16" name="Text 13"/>
          <p:cNvSpPr/>
          <p:nvPr/>
        </p:nvSpPr>
        <p:spPr>
          <a:xfrm>
            <a:off x="6263640" y="3328416"/>
            <a:ext cx="5212080" cy="555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No.1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6281928" y="387934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株式引受ボリューム（2023）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080760" y="4572000"/>
            <a:ext cx="5532120" cy="13716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309360" y="4681728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近年の波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09360" y="5029200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好調（高ボラ）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5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 減速</a:t>
            </a:r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V字（Equities過去最高）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STRATEGY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1本の背骨：durable revenues と「規律ある撤退」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両部門に共通の戦略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2468880" cy="1463040"/>
          </a:xfrm>
          <a:prstGeom prst="rect">
            <a:avLst/>
          </a:prstGeom>
          <a:solidFill>
            <a:srgbClr val="E3E7EE"/>
          </a:solidFill>
          <a:ln w="12700">
            <a:solidFill>
              <a:srgbClr val="5A66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148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66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変動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自己投資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マーケットメイク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4680" y="2606040"/>
            <a:ext cx="548640" cy="548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749040" y="2057400"/>
            <a:ext cx="2286000" cy="146304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11" name="Text 8"/>
          <p:cNvSpPr/>
          <p:nvPr/>
        </p:nvSpPr>
        <p:spPr>
          <a:xfrm>
            <a:off x="3749040" y="2148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安定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749040" y="25603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運用フィー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ファイナンシング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749040"/>
            <a:ext cx="5486400" cy="777240"/>
          </a:xfrm>
          <a:prstGeom prst="rect">
            <a:avLst/>
          </a:prstGeom>
          <a:solidFill>
            <a:srgbClr val="F4F6FA"/>
          </a:solidFill>
          <a:ln w="16510">
            <a:solidFill>
              <a:srgbClr val="C9A2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37490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1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revenues（安定収益）を厚くする ＝ 全社一貫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30936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消費者事業からの撤退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309360" y="2057400"/>
            <a:ext cx="5303520" cy="96012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537960" y="205740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$6B超</a:t>
            </a:r>
            <a:pPr indent="0" marL="0">
              <a:buNone/>
            </a:pPr>
            <a:r>
              <a:rPr lang="en-US" sz="1400" dirty="0">
                <a:solidFill>
                  <a:srgbClr val="CBD5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の消費者貸付損失（2020〜）</a:t>
            </a:r>
            <a:endParaRPr lang="en-US" sz="3800" dirty="0"/>
          </a:p>
        </p:txBody>
      </p:sp>
      <p:sp>
        <p:nvSpPr>
          <p:cNvPr id="18" name="Text 15"/>
          <p:cNvSpPr/>
          <p:nvPr/>
        </p:nvSpPr>
        <p:spPr>
          <a:xfrm>
            <a:off x="6556248" y="2743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/ Apple Card / GreenSky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309360" y="3154680"/>
            <a:ext cx="5303520" cy="13716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37960" y="329184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GreenSky：$1.73Bで取得 → 約$500Mで売却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Card は JPMorgan へ移管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48640" y="4892040"/>
            <a:ext cx="11064240" cy="1371600"/>
          </a:xfrm>
          <a:prstGeom prst="rect">
            <a:avLst/>
          </a:prstGeom>
          <a:solidFill>
            <a:srgbClr val="0A1A3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4892040"/>
            <a:ext cx="109728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メッセージ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22960" y="53492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失敗を認め、得意領域（IB・Markets・オルタナ・UHNW）へ回帰。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リスク：強さの裏側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874520"/>
            <a:ext cx="5440680" cy="18288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82296" cy="18288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167128"/>
            <a:ext cx="777240" cy="77724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340864"/>
            <a:ext cx="429768" cy="4297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3080" y="213055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景気循環性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783080" y="2651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IB・トレーディングは市況依存。2023の急減がそれを示す。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245352" y="1874520"/>
            <a:ext cx="5440680" cy="18288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45352" y="1874520"/>
            <a:ext cx="82296" cy="18288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9672" y="2167128"/>
            <a:ext cx="777240" cy="77724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40864"/>
            <a:ext cx="429768" cy="4297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79792" y="213055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規制資本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7479792" y="2651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バーゼルⅢ最終化（緩和方向だが不確実性が残る）。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3977640"/>
            <a:ext cx="5440680" cy="18288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48640" y="3977640"/>
            <a:ext cx="82296" cy="18288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9" name="Shape 15"/>
          <p:cNvSpPr/>
          <p:nvPr/>
        </p:nvSpPr>
        <p:spPr>
          <a:xfrm>
            <a:off x="822960" y="4270248"/>
            <a:ext cx="777240" cy="77724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4443984"/>
            <a:ext cx="429768" cy="42976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783080" y="423367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訴訟・レピュテーション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1783080" y="47548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1MDB事件で約$2.9Bの制裁金（2020年）。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6245352" y="3977640"/>
            <a:ext cx="5440680" cy="182880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245352" y="3977640"/>
            <a:ext cx="82296" cy="18288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5" name="Shape 20"/>
          <p:cNvSpPr/>
          <p:nvPr/>
        </p:nvSpPr>
        <p:spPr>
          <a:xfrm>
            <a:off x="6519672" y="4270248"/>
            <a:ext cx="777240" cy="777240"/>
          </a:xfrm>
          <a:prstGeom prst="ellipse">
            <a:avLst/>
          </a:prstGeom>
          <a:solidFill>
            <a:srgbClr val="0A1A3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443984"/>
            <a:ext cx="429768" cy="42976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479792" y="423367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戦略実行</a:t>
            </a:r>
            <a:endParaRPr lang="en-US" sz="1900" dirty="0"/>
          </a:p>
        </p:txBody>
      </p:sp>
      <p:sp>
        <p:nvSpPr>
          <p:cNvPr id="28" name="Text 22"/>
          <p:cNvSpPr/>
          <p:nvPr/>
        </p:nvSpPr>
        <p:spPr>
          <a:xfrm>
            <a:off x="7479792" y="47548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消費者撤退コスト、Platform黒字化の遅れ。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&amp; CAREERS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日本拠点と就活の視点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475720" y="457200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5257800" cy="4526280"/>
          </a:xfrm>
          <a:prstGeom prst="rect">
            <a:avLst/>
          </a:prstGeom>
          <a:solidFill>
            <a:srgbClr val="F4F6FA"/>
          </a:solidFill>
          <a:ln w="12700">
            <a:solidFill>
              <a:srgbClr val="D8DEE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5257800" cy="548640"/>
          </a:xfrm>
          <a:prstGeom prst="rect">
            <a:avLst/>
          </a:prstGeom>
          <a:solidFill>
            <a:srgbClr val="0A1A3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78308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Goldman Sachs Japan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256032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東京拠点 1974年〜、六本木ヒルズ</a:t>
            </a:r>
            <a:endParaRPr lang="en-US" sz="14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GS証券 ＋ GSアセット・マネジメント</a:t>
            </a:r>
            <a:endParaRPr lang="en-US" sz="14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部門：証券（営業）／アセマネ／IBD／</a:t>
            </a:r>
            <a:endParaRPr lang="en-US" sz="1450" dirty="0"/>
          </a:p>
          <a:p>
            <a:pPr lvl="1" indent="0" marL="0">
              <a:spcAft>
                <a:spcPts val="1100"/>
              </a:spcAft>
              <a:buNone/>
            </a:pPr>
            <a:r>
              <a:rPr lang="en-US" sz="145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投資調査／エンジニアリング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035040" y="1783080"/>
            <a:ext cx="5577840" cy="4526280"/>
          </a:xfrm>
          <a:prstGeom prst="rect">
            <a:avLst/>
          </a:prstGeom>
          <a:solidFill>
            <a:srgbClr val="FFFFFF"/>
          </a:solidFill>
          <a:ln w="20320">
            <a:solidFill>
              <a:srgbClr val="C9A227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035040" y="1783080"/>
            <a:ext cx="5577840" cy="54864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745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75120" y="1783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求める人材・選考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309360" y="2542032"/>
            <a:ext cx="5074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資質：高い知性・行動力・倫理観（integrity）・チームワーク／日英バイリンガル必須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選考：ES → Webテスト → GD/面接 → 最終（部門別・併願可）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キャリア：Analyst → Associate → VP → MD。Exit：HF/PE/事業会社財務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B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文化：14のビジネス原則（第1条「顧客の利益を常に最優先」）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43000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まとめ：面接で効く5つの視点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41248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00200" y="1828800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AWMと営業は同じ戦略の両輪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680960" y="2029968"/>
            <a:ext cx="27432" cy="4389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909560" y="1828800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変動 → 安定へ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79776"/>
            <a:ext cx="11064240" cy="841248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916936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916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9776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AWMはマージン10%→28%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680960" y="2980944"/>
            <a:ext cx="27432" cy="4389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909560" y="2779776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“収益の質”が激変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730752"/>
            <a:ext cx="11064240" cy="841248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867912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867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600200" y="3730752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規模より収益性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680960" y="3931920"/>
            <a:ext cx="27432" cy="4389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909560" y="3730752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BlackRockに規模で挑まない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681728"/>
            <a:ext cx="11064240" cy="841248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818888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8188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4681728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規律ある撤退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680960" y="4882896"/>
            <a:ext cx="27432" cy="4389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/>
          <p:nvPr/>
        </p:nvSpPr>
        <p:spPr>
          <a:xfrm>
            <a:off x="7909560" y="4681728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経営の自己規律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5632704"/>
            <a:ext cx="11064240" cy="841248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769864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5769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1A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1600200" y="5632704"/>
            <a:ext cx="6035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マクロ感応度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7680960" y="5833872"/>
            <a:ext cx="27432" cy="43891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3" name="Text 31"/>
          <p:cNvSpPr/>
          <p:nvPr/>
        </p:nvSpPr>
        <p:spPr>
          <a:xfrm>
            <a:off x="7909560" y="5632704"/>
            <a:ext cx="3566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7.5%→12.7% のV字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出典と注記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960120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91440" cy="960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一次情報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30428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 FY2024/FY2023 10-K・決算リリース・Investor Day(2020/2023)・FICC and Equities事業説明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11064240" cy="960120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926080"/>
            <a:ext cx="91440" cy="960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報道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34015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Reuters, CNBC, Bloomberg, Fortune, Banking Dive, wealthbriefing, privatebankerinternational, PwC, DOJ(1MDB)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11064240" cy="960120"/>
          </a:xfrm>
          <a:prstGeom prst="rect">
            <a:avLst/>
          </a:prstGeom>
          <a:solidFill>
            <a:srgbClr val="122B5C"/>
          </a:solidFill>
          <a:ln w="12700">
            <a:solidFill>
              <a:srgbClr val="1C3D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4023360"/>
            <a:ext cx="91440" cy="960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160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日本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77240" y="44988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goldmansachs.com/japan, am.gs.com, gBizINFO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solidFill>
            <a:srgbClr val="07142F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2852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注記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559612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E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GBM/Platformの通期セグメント税前、ファイナンシング内訳、CET1詳細は10-Kセグメント表で要一次確認。数値はFY2024決算ベース。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Goldman Sachs 企業研究</dc:title>
  <dc:subject>PptxGenJS Presentation</dc:subject>
  <dc:creator>就活企業研究</dc:creator>
  <cp:lastModifiedBy>就活企業研究</cp:lastModifiedBy>
  <cp:revision>1</cp:revision>
  <dcterms:created xsi:type="dcterms:W3CDTF">2026-06-05T04:32:48Z</dcterms:created>
  <dcterms:modified xsi:type="dcterms:W3CDTF">2026-06-05T04:32:48Z</dcterms:modified>
</cp:coreProperties>
</file>