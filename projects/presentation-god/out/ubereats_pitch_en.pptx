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39" b="1" i="0">
                <a:solidFill>
                  <a:srgbClr val="6EA8FE"/>
                </a:solidFill>
                <a:latin typeface="Times New Roman"/>
              </a:rPr>
              <a:t>Uber Eats — Investor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4370" b="1" i="0">
                <a:solidFill>
                  <a:srgbClr val="FFFFFF"/>
                </a:solidFill>
                <a:latin typeface="Times New Roman"/>
              </a:rPr>
              <a:t>"Anything, in minutes."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3977639"/>
            <a:ext cx="2743200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2070" b="0" i="1">
                <a:solidFill>
                  <a:srgbClr val="EEF1F8"/>
                </a:solidFill>
                <a:latin typeface="Times New Roman"/>
              </a:rPr>
              <a:t>From food delivery to the operating system for local commerce.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5029200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263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0" i="0">
                <a:solidFill>
                  <a:srgbClr val="8A93AD"/>
                </a:solidFill>
                <a:latin typeface="Times New Roman"/>
              </a:rPr>
              <a:t>Investor deck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Times New Roman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Times New Roman"/>
              </a:rPr>
              <a:t>Eating out and everyday shopping are still clunky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488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Restaurants can only serve who walks in — empty seats and waste are lost revenue.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Consumers want "now, nearby" — but every store's ordering flow is different.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Small local merchants lack the digital rails to capture nearby demand.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Times New Roman"/>
              </a:rPr>
              <a:t>Local inventory and immediate demand simply aren't connected.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Times New Roman"/>
              </a:rPr>
              <a:t>A platform that links supply and demand in minutes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8308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10142B"/>
                </a:solidFill>
                <a:latin typeface="Times New Roman"/>
              </a:rPr>
              <a:t>•  Demand: </a:t>
            </a:r>
            <a:r>
              <a:rPr sz="2070" b="0" i="0">
                <a:solidFill>
                  <a:srgbClr val="2A3045"/>
                </a:solidFill>
                <a:latin typeface="Times New Roman"/>
              </a:rPr>
              <a:t>instant access to a 140M-consumer base.</a:t>
            </a:r>
          </a:p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10142B"/>
                </a:solidFill>
                <a:latin typeface="Times New Roman"/>
              </a:rPr>
              <a:t>•  Delivery: </a:t>
            </a:r>
            <a:r>
              <a:rPr sz="2070" b="0" i="0">
                <a:solidFill>
                  <a:srgbClr val="2A3045"/>
                </a:solidFill>
                <a:latin typeface="Times New Roman"/>
              </a:rPr>
              <a:t>a driver network owns the last mile.</a:t>
            </a:r>
          </a:p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10142B"/>
                </a:solidFill>
                <a:latin typeface="Times New Roman"/>
              </a:rPr>
              <a:t>•  Expansion: </a:t>
            </a:r>
            <a:r>
              <a:rPr sz="2070" b="0" i="0">
                <a:solidFill>
                  <a:srgbClr val="2A3045"/>
                </a:solidFill>
                <a:latin typeface="Times New Roman"/>
              </a:rPr>
              <a:t>from meals to groceries, retail and alcohol.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3913632" cy="3977639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00200"/>
            <a:ext cx="128016" cy="3977639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1" i="0">
                <a:solidFill>
                  <a:srgbClr val="6EA8FE"/>
                </a:solidFill>
                <a:latin typeface="Times New Roman"/>
              </a:rPr>
              <a:t>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3172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39" b="0" i="1">
                <a:solidFill>
                  <a:srgbClr val="2A3045"/>
                </a:solidFill>
                <a:latin typeface="Times New Roman"/>
              </a:rPr>
              <a:t>"Make every shelf in the city deliverable in minutes." Food is the entry point to all of local commerce.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Times New Roman"/>
              </a:rPr>
              <a:t>Food delivery is only the front door.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Times New Roman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Times New Roman"/>
              </a:rPr>
              <a:t>Behaviour has shifted — irreversibly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488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Post-pandemic delivery demand stayed high and became everyday infrastructure.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Operational efficiency flipped unit economics into profit.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High-margin revenue (ads, Uber One subscription) is now scaling.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Times New Roman"/>
              </a:rPr>
              <a:t>The "will they use it" phase is over; the "is it profitable" phase has begun.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Times New Roman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Times New Roman"/>
              </a:rPr>
              <a:t>Large today, far larger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3886200"/>
          </a:xfrm>
          <a:prstGeom prst="rect">
            <a:avLst/>
          </a:prstGeom>
          <a:solidFill>
            <a:srgbClr val="E5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28016" cy="38862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39" b="1" i="0">
                <a:solidFill>
                  <a:srgbClr val="6EA8FE"/>
                </a:solidFill>
                <a:latin typeface="Times New Roman"/>
              </a:rPr>
              <a:t>CORE — Food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2A3045"/>
                </a:solidFill>
                <a:latin typeface="Times New Roman"/>
              </a:rPr>
              <a:t>•  11,000+ cities across 45 countries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2A3045"/>
                </a:solidFill>
                <a:latin typeface="Times New Roman"/>
              </a:rPr>
              <a:t>•  1.5M+ merchant partners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2A3045"/>
                </a:solidFill>
                <a:latin typeface="Times New Roman"/>
              </a:rPr>
              <a:t>•  #1 delivery brand in Japan (Mar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49240" cy="38862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28016" cy="38862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39" b="1" i="0">
                <a:solidFill>
                  <a:srgbClr val="6EA8FE"/>
                </a:solidFill>
                <a:latin typeface="Times New Roman"/>
              </a:rPr>
              <a:t>EXPANSION — Local 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EEF1F8"/>
                </a:solidFill>
                <a:latin typeface="Times New Roman"/>
              </a:rPr>
              <a:t>•  Grocery, convenience, retail, alcohol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EEF1F8"/>
                </a:solidFill>
                <a:latin typeface="Times New Roman"/>
              </a:rPr>
              <a:t>•  Fast-growing advertising business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EEF1F8"/>
                </a:solidFill>
                <a:latin typeface="Times New Roman"/>
              </a:rPr>
              <a:t>•  Loyalty via Uber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Times New Roman"/>
              </a:rPr>
              <a:t>Beyond food lies the far bigger prize of local commerce.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Times New Roman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Times New Roman"/>
              </a:rPr>
              <a:t>Scale and profitability, at the same time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~140 million consumers ordered on Uber Eats in 2024.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Delivery Gross Bookings ~$20.1B in a single quarter (Q4 2024, +18% YoY).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Delivery turned Adjusted-EBITDA positive, with improving margins.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Times New Roman"/>
              </a:rPr>
              <a:t>•  Uber platform reached 171 million monthly active consumers.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Times New Roman"/>
              </a:rPr>
              <a:t>We have entered the phase of growing and earning at once.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Times New Roman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Times New Roman"/>
              </a:rPr>
              <a:t>What we go after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0" cy="8229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1790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10142B"/>
                </a:solidFill>
                <a:latin typeface="Times New Roman"/>
              </a:rPr>
              <a:t>Widen the shelf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0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2A3045"/>
                </a:solidFill>
                <a:latin typeface="Times New Roman"/>
              </a:rPr>
              <a:t>Expand grocery, retail and alcohol categories city by 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8"/>
            <a:ext cx="731520" cy="8229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5059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10142B"/>
                </a:solidFill>
                <a:latin typeface="Times New Roman"/>
              </a:rPr>
              <a:t>Monetise at high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5292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2A3045"/>
                </a:solidFill>
                <a:latin typeface="Times New Roman"/>
              </a:rPr>
              <a:t>Scale advertising and Uber One to lift profitability.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28416"/>
            <a:ext cx="731520" cy="8229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83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10142B"/>
                </a:solidFill>
                <a:latin typeface="Times New Roman"/>
              </a:rPr>
              <a:t>Own local 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85616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2A3045"/>
                </a:solidFill>
                <a:latin typeface="Times New Roman"/>
              </a:rPr>
              <a:t>Control the rails: ordering, delivery and payments.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440680"/>
            <a:ext cx="128016" cy="86868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1" i="0">
                <a:solidFill>
                  <a:srgbClr val="6EA8FE"/>
                </a:solidFill>
                <a:latin typeface="Yu Mincho"/>
              </a:rPr>
              <a:t>SOURCES / 出典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64" b="0" i="0">
                <a:solidFill>
                  <a:srgbClr val="2A3045"/>
                </a:solidFill>
                <a:latin typeface="Times New Roman"/>
              </a:rPr>
              <a:t>Uber FY2024 results (Q4 &amp; full year, SEC 8-K) / Business of Apps &amp; Statista trackers / figures include estimates from public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