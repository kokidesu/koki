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17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Uber Eats in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148840"/>
            <a:ext cx="7863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"Anything,</a:t>
            </a:r>
          </a:p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in minutes."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0749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DFE8FF"/>
                </a:solidFill>
                <a:latin typeface="Times New Roman"/>
              </a:rPr>
              <a:t>From food delivery to the operating system for local commerce.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126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CFDDFF"/>
                </a:solidFill>
                <a:latin typeface="Times New Roman"/>
              </a:rPr>
              <a:t>Uber Technologies,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355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0">
                <a:solidFill>
                  <a:srgbClr val="BFD0FB"/>
                </a:solidFill>
                <a:latin typeface="Times New Roman"/>
              </a:rPr>
              <a:t>Investor deck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669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8A93A1"/>
                </a:solidFill>
                <a:latin typeface="Times New Roman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1556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B2028"/>
                </a:solidFill>
                <a:latin typeface="Times New Roman"/>
              </a:rPr>
              <a:t>Eating out and everyday shopping are still clunky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444D5A"/>
                </a:solidFill>
                <a:latin typeface="Times New Roman"/>
              </a:rPr>
              <a:t>Local inventory and immediate demand simply aren't 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743200"/>
            <a:ext cx="103263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 i="0">
                <a:solidFill>
                  <a:srgbClr val="444D5A"/>
                </a:solidFill>
                <a:latin typeface="Times New Roman"/>
              </a:rPr>
              <a:t>•  Restaurants only serve who walks in — empty seats and waste are lost revenue.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 i="0">
                <a:solidFill>
                  <a:srgbClr val="444D5A"/>
                </a:solidFill>
                <a:latin typeface="Times New Roman"/>
              </a:rPr>
              <a:t>•  Consumers want "now, nearby" — but every store's ordering flow differs.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 i="0">
                <a:solidFill>
                  <a:srgbClr val="444D5A"/>
                </a:solidFill>
                <a:latin typeface="Times New Roman"/>
              </a:rPr>
              <a:t>•  Small local merchants lack the digital rails to capture nearby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8A93A1"/>
                </a:solidFill>
                <a:latin typeface="Times New Roman"/>
              </a:rPr>
              <a:t>NEXT ▶ Solution: connect supply and demand in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669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8A93A1"/>
                </a:solidFill>
                <a:latin typeface="Times New Roman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1556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B2028"/>
                </a:solidFill>
                <a:latin typeface="Times New Roman"/>
              </a:rPr>
              <a:t>Linking supply and demand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444D5A"/>
                </a:solidFill>
                <a:latin typeface="Times New Roman"/>
              </a:rPr>
              <a:t>Food delivery is the entry point to all of local commerce.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9748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697480"/>
            <a:ext cx="3259226" cy="8229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990088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B2028"/>
                </a:solidFill>
                <a:latin typeface="Times New Roman"/>
              </a:rPr>
              <a:t>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840480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444D5A"/>
                </a:solidFill>
                <a:latin typeface="Times New Roman"/>
              </a:rPr>
              <a:t>•  140M consumer base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444D5A"/>
                </a:solidFill>
                <a:latin typeface="Times New Roman"/>
              </a:rPr>
              <a:t>•  Stores online instantly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5193792"/>
            <a:ext cx="3259226" cy="749808"/>
          </a:xfrm>
          <a:prstGeom prst="rect">
            <a:avLst/>
          </a:prstGeom>
          <a:solidFill>
            <a:srgbClr val="E6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340096"/>
            <a:ext cx="271058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24DAD"/>
                </a:solidFill>
                <a:latin typeface="Times New Roman"/>
              </a:rPr>
              <a:t>Capture demand beyond walk-ins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6234" y="269748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6234" y="2697480"/>
            <a:ext cx="3259226" cy="8229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0554" y="2990088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B2028"/>
                </a:solidFill>
                <a:latin typeface="Times New Roman"/>
              </a:rP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0554" y="3840480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444D5A"/>
                </a:solidFill>
                <a:latin typeface="Times New Roman"/>
              </a:rPr>
              <a:t>•  Driver network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444D5A"/>
                </a:solidFill>
                <a:latin typeface="Times New Roman"/>
              </a:rPr>
              <a:t>•  Owns the last mile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6234" y="5193792"/>
            <a:ext cx="3259226" cy="749808"/>
          </a:xfrm>
          <a:prstGeom prst="rect">
            <a:avLst/>
          </a:prstGeom>
          <a:solidFill>
            <a:srgbClr val="E6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0554" y="5340096"/>
            <a:ext cx="271058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24DAD"/>
                </a:solidFill>
                <a:latin typeface="Times New Roman"/>
              </a:rPr>
              <a:t>Stores need no fleet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1220" y="269748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2697480"/>
            <a:ext cx="3259226" cy="82296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5540" y="2990088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B2028"/>
                </a:solidFill>
                <a:latin typeface="Times New Roman"/>
              </a:rPr>
              <a:t>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5540" y="3840480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444D5A"/>
                </a:solidFill>
                <a:latin typeface="Times New Roman"/>
              </a:rPr>
              <a:t>•  Grocery, retail, alcohol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444D5A"/>
                </a:solidFill>
                <a:latin typeface="Times New Roman"/>
              </a:rPr>
              <a:t>•  Widen the shelf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1220" y="5193792"/>
            <a:ext cx="3259226" cy="749808"/>
          </a:xfrm>
          <a:prstGeom prst="rect">
            <a:avLst/>
          </a:prstGeom>
          <a:solidFill>
            <a:srgbClr val="E6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5540" y="5340096"/>
            <a:ext cx="271058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24DAD"/>
                </a:solidFill>
                <a:latin typeface="Times New Roman"/>
              </a:rPr>
              <a:t>Food is only the front door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8A93A1"/>
                </a:solidFill>
                <a:latin typeface="Times New Roman"/>
              </a:rPr>
              <a:t>NEXT ▶ Why this moment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669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8A93A1"/>
                </a:solidFill>
                <a:latin typeface="Times New Roman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1556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B2028"/>
                </a:solidFill>
                <a:latin typeface="Times New Roman"/>
              </a:rPr>
              <a:t>Behaviour has shifted — irreversibly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444D5A"/>
                </a:solidFill>
                <a:latin typeface="Times New Roman"/>
              </a:rPr>
              <a:t>The "will they use it" phase is over; the "is it profitable" phase has begun.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743200"/>
            <a:ext cx="103263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 i="0">
                <a:solidFill>
                  <a:srgbClr val="444D5A"/>
                </a:solidFill>
                <a:latin typeface="Times New Roman"/>
              </a:rPr>
              <a:t>•  Post-pandemic delivery demand stayed high and became everyday infrastructure.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 i="0">
                <a:solidFill>
                  <a:srgbClr val="444D5A"/>
                </a:solidFill>
                <a:latin typeface="Times New Roman"/>
              </a:rPr>
              <a:t>•  Operational efficiency flipped unit economics into profit.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0" i="0">
                <a:solidFill>
                  <a:srgbClr val="444D5A"/>
                </a:solidFill>
                <a:latin typeface="Times New Roman"/>
              </a:rPr>
              <a:t>•  High-margin revenue (ads, Uber One) is now scaling.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8A93A1"/>
                </a:solidFill>
                <a:latin typeface="Times New Roman"/>
              </a:rPr>
              <a:t>NEXT ▶ The numbers behind the business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669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8A93A1"/>
                </a:solidFill>
                <a:latin typeface="Times New Roman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1556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B2028"/>
                </a:solidFill>
                <a:latin typeface="Times New Roman"/>
              </a:rPr>
              <a:t>Scale and profitability, at the same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444D5A"/>
                </a:solidFill>
                <a:latin typeface="Times New Roman"/>
              </a:rPr>
              <a:t>We have entered the phase of growing and earning at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834640"/>
            <a:ext cx="2352979" cy="24688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3246120"/>
            <a:ext cx="18957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4600" b="1" i="0">
                <a:solidFill>
                  <a:srgbClr val="2F6BF0"/>
                </a:solidFill>
                <a:latin typeface="Times New Roman"/>
              </a:rPr>
              <a:t>140M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434840"/>
            <a:ext cx="18957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444D5A"/>
                </a:solidFill>
                <a:latin typeface="Times New Roman"/>
              </a:rPr>
              <a:t>consumers ordered on</a:t>
            </a:r>
          </a:p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444D5A"/>
                </a:solidFill>
                <a:latin typeface="Times New Roman"/>
              </a:rPr>
              <a:t>Uber Eats in 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9987" y="2834640"/>
            <a:ext cx="2352979" cy="24688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8587" y="3246120"/>
            <a:ext cx="18957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4600" b="1" i="0">
                <a:solidFill>
                  <a:srgbClr val="2F6BF0"/>
                </a:solidFill>
                <a:latin typeface="Times New Roman"/>
              </a:rPr>
              <a:t>$20.1B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8587" y="4434840"/>
            <a:ext cx="18957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444D5A"/>
                </a:solidFill>
                <a:latin typeface="Times New Roman"/>
              </a:rPr>
              <a:t>quarterly Delivery Gross</a:t>
            </a:r>
          </a:p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444D5A"/>
                </a:solidFill>
                <a:latin typeface="Times New Roman"/>
              </a:rPr>
              <a:t>Bookings (Q4 2024, +18%)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834640"/>
            <a:ext cx="2352979" cy="24688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3246120"/>
            <a:ext cx="18957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4600" b="1" i="0">
                <a:solidFill>
                  <a:srgbClr val="2F6BF0"/>
                </a:solidFill>
                <a:latin typeface="Times New Roman"/>
              </a:rPr>
              <a:t>171M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4434840"/>
            <a:ext cx="18957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444D5A"/>
                </a:solidFill>
                <a:latin typeface="Times New Roman"/>
              </a:rPr>
              <a:t>monthly active consumers</a:t>
            </a:r>
          </a:p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444D5A"/>
                </a:solidFill>
                <a:latin typeface="Times New Roman"/>
              </a:rPr>
              <a:t>across Uber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467" y="2834640"/>
            <a:ext cx="2352979" cy="24688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067" y="3246120"/>
            <a:ext cx="18957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4600" b="1" i="0">
                <a:solidFill>
                  <a:srgbClr val="2F6BF0"/>
                </a:solidFill>
                <a:latin typeface="Times New Roman"/>
              </a:rPr>
              <a:t>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067" y="4434840"/>
            <a:ext cx="18957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444D5A"/>
                </a:solidFill>
                <a:latin typeface="Times New Roman"/>
              </a:rPr>
              <a:t>countries</a:t>
            </a:r>
          </a:p>
          <a:p>
            <a:pPr algn="ctr">
              <a:lnSpc>
                <a:spcPct val="125000"/>
              </a:lnSpc>
            </a:pPr>
            <a:r>
              <a:rPr sz="1350" b="0" i="0">
                <a:solidFill>
                  <a:srgbClr val="444D5A"/>
                </a:solidFill>
                <a:latin typeface="Times New Roman"/>
              </a:rPr>
              <a:t>(11,000+ cities)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8A93A1"/>
                </a:solidFill>
                <a:latin typeface="Times New Roman"/>
              </a:rPr>
              <a:t>NEXT ▶ What we go after 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669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8A93A1"/>
                </a:solidFill>
                <a:latin typeface="Times New Roman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1556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B2028"/>
                </a:solidFill>
                <a:latin typeface="Times New Roman"/>
              </a:rPr>
              <a:t>From order to doorstep, in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834640"/>
            <a:ext cx="4751679" cy="1554480"/>
          </a:xfrm>
          <a:prstGeom prst="roundRect">
            <a:avLst/>
          </a:prstGeom>
          <a:solidFill>
            <a:srgbClr val="3A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3108960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657600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E4ECFF"/>
                </a:solidFill>
                <a:latin typeface="Times New Roman"/>
              </a:rPr>
              <a:t>Pick a nearby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98767" y="2834640"/>
            <a:ext cx="4751679" cy="1554480"/>
          </a:xfrm>
          <a:prstGeom prst="roundRect">
            <a:avLst/>
          </a:prstGeom>
          <a:solidFill>
            <a:srgbClr val="3A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27367" y="3108960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Cook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367" y="3657600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E4ECFF"/>
                </a:solidFill>
                <a:latin typeface="Times New Roman"/>
              </a:rPr>
              <a:t>Store notified instantly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029200"/>
            <a:ext cx="4751679" cy="1554480"/>
          </a:xfrm>
          <a:prstGeom prst="roundRect">
            <a:avLst/>
          </a:prstGeom>
          <a:solidFill>
            <a:srgbClr val="3A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303520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Deliver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852159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E4ECFF"/>
                </a:solidFill>
                <a:latin typeface="Times New Roman"/>
              </a:rPr>
              <a:t>A driver picks it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98767" y="5029200"/>
            <a:ext cx="4751679" cy="1554480"/>
          </a:xfrm>
          <a:prstGeom prst="roundRect">
            <a:avLst/>
          </a:prstGeom>
          <a:solidFill>
            <a:srgbClr val="3A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7367" y="5303520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Arrive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7367" y="5852159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E4ECFF"/>
                </a:solidFill>
                <a:latin typeface="Times New Roman"/>
              </a:rPr>
              <a:t>Delivered in minutes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02655" y="3611880"/>
            <a:ext cx="786384" cy="0"/>
          </a:xfrm>
          <a:prstGeom prst="bentConnector3">
            <a:avLst/>
          </a:prstGeom>
          <a:ln w="38100">
            <a:solidFill>
              <a:srgbClr val="444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17087" y="4480559"/>
            <a:ext cx="5757520" cy="457201"/>
          </a:xfrm>
          <a:prstGeom prst="bentConnector3">
            <a:avLst/>
          </a:prstGeom>
          <a:ln w="38100">
            <a:solidFill>
              <a:srgbClr val="C2C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02655" y="5806440"/>
            <a:ext cx="786384" cy="0"/>
          </a:xfrm>
          <a:prstGeom prst="bentConnector3">
            <a:avLst/>
          </a:prstGeom>
          <a:ln w="38100">
            <a:solidFill>
              <a:srgbClr val="444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8A93A1"/>
                </a:solidFill>
                <a:latin typeface="Times New Roman"/>
              </a:rPr>
              <a:t>NEXT ▶ The 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6692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8A93A1"/>
                </a:solidFill>
                <a:latin typeface="Times New Roman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1556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B2028"/>
                </a:solidFill>
                <a:latin typeface="Times New Roman"/>
              </a:rPr>
              <a:t>What we go after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606040"/>
            <a:ext cx="566928" cy="566928"/>
          </a:xfrm>
          <a:prstGeom prst="round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72491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62432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1B2028"/>
                </a:solidFill>
                <a:latin typeface="Times New Roman"/>
              </a:rPr>
              <a:t>Widen the shelf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30175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44D5A"/>
                </a:solidFill>
                <a:latin typeface="Times New Roman"/>
              </a:rPr>
              <a:t>Expand grocery, retail and alcohol categories city by 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502152"/>
            <a:ext cx="566928" cy="566928"/>
          </a:xfrm>
          <a:prstGeom prst="round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621024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352044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1B2028"/>
                </a:solidFill>
                <a:latin typeface="Times New Roman"/>
              </a:rPr>
              <a:t>Monetise at high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3913632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44D5A"/>
                </a:solidFill>
                <a:latin typeface="Times New Roman"/>
              </a:rPr>
              <a:t>Scale advertising and Uber One to lift profitability.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398264"/>
            <a:ext cx="566928" cy="566928"/>
          </a:xfrm>
          <a:prstGeom prst="roundRect">
            <a:avLst/>
          </a:prstGeom>
          <a:solidFill>
            <a:srgbClr val="2F6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517136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44165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1B2028"/>
                </a:solidFill>
                <a:latin typeface="Times New Roman"/>
              </a:rPr>
              <a:t>Own local 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4809744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44D5A"/>
                </a:solidFill>
                <a:latin typeface="Times New Roman"/>
              </a:rPr>
              <a:t>Control the rails: ordering, delivery and payments.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806440"/>
            <a:ext cx="10509199" cy="6400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9070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8A93A1"/>
                </a:solidFill>
                <a:latin typeface="Yu Gothic"/>
              </a:rPr>
              <a:t>SOURCES / 出典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614476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44D5A"/>
                </a:solidFill>
                <a:latin typeface="Times New Roman"/>
              </a:rPr>
              <a:t>Uber FY2024 results (Q4 &amp; full year, SEC 8-K) / Business of Apps &amp; Statista trackers (some figures are estimates from public data)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