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6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3258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FFFFFF"/>
                </a:solidFill>
                <a:latin typeface="Times New Roman"/>
              </a:rPr>
              <a:t>Uber Eats in 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2057400"/>
            <a:ext cx="7863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</a:pPr>
            <a:r>
              <a:rPr sz="4800" b="1" i="0">
                <a:solidFill>
                  <a:srgbClr val="FFFFFF"/>
                </a:solidFill>
                <a:latin typeface="Times New Roman"/>
              </a:rPr>
              <a:t>"Anything,</a:t>
            </a:r>
          </a:p>
          <a:p>
            <a:pPr algn="l">
              <a:lnSpc>
                <a:spcPct val="116000"/>
              </a:lnSpc>
            </a:pPr>
            <a:r>
              <a:rPr sz="4800" b="1" i="0">
                <a:solidFill>
                  <a:srgbClr val="FFFFFF"/>
                </a:solidFill>
                <a:latin typeface="Times New Roman"/>
              </a:rPr>
              <a:t>in minutes."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12064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DFE8FF"/>
                </a:solidFill>
                <a:latin typeface="Times New Roman"/>
              </a:rPr>
              <a:t>From food delivery to the operating system for local commerce.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172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CFDDFF"/>
                </a:solidFill>
                <a:latin typeface="Times New Roman"/>
              </a:rPr>
              <a:t>Uber Technologies, Inc.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38251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0" i="0">
                <a:solidFill>
                  <a:srgbClr val="BFD0FB"/>
                </a:solidFill>
                <a:latin typeface="Times New Roman"/>
              </a:rPr>
              <a:t>Investor deck  •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64008" cy="384048"/>
          </a:xfrm>
          <a:prstGeom prst="rect">
            <a:avLst/>
          </a:prstGeom>
          <a:solidFill>
            <a:srgbClr val="2F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548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8A93A1"/>
                </a:solidFill>
                <a:latin typeface="Times New Roman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7899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 i="0">
                <a:solidFill>
                  <a:srgbClr val="1B2028"/>
                </a:solidFill>
                <a:latin typeface="Times New Roman"/>
              </a:rPr>
              <a:t>Eating out and everyday shopping are still clunky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299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444D5A"/>
                </a:solidFill>
                <a:latin typeface="Times New Roman"/>
              </a:rPr>
              <a:t>Local inventory and immediate demand simply aren't connected.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834640"/>
            <a:ext cx="1032631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2100" b="0" i="0">
                <a:solidFill>
                  <a:srgbClr val="444D5A"/>
                </a:solidFill>
                <a:latin typeface="Times New Roman"/>
              </a:rPr>
              <a:t>•  Restaurants only serve who walks in — empty seats and waste are lost revenue.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2100" b="0" i="0">
                <a:solidFill>
                  <a:srgbClr val="444D5A"/>
                </a:solidFill>
                <a:latin typeface="Times New Roman"/>
              </a:rPr>
              <a:t>•  Consumers want "now, nearby" — but every store's ordering flow differs.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2100" b="0" i="0">
                <a:solidFill>
                  <a:srgbClr val="444D5A"/>
                </a:solidFill>
                <a:latin typeface="Times New Roman"/>
              </a:rPr>
              <a:t>•  Small local merchants lack the digital rails to capture nearby demand.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8A93A1"/>
                </a:solidFill>
                <a:latin typeface="Times New Roman"/>
              </a:rPr>
              <a:t>NEXT ▶ Solution: connect supply and demand in 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64008" cy="384048"/>
          </a:xfrm>
          <a:prstGeom prst="rect">
            <a:avLst/>
          </a:prstGeom>
          <a:solidFill>
            <a:srgbClr val="2F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548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8A93A1"/>
                </a:solidFill>
                <a:latin typeface="Times New Roman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7899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 i="0">
                <a:solidFill>
                  <a:srgbClr val="1B2028"/>
                </a:solidFill>
                <a:latin typeface="Times New Roman"/>
              </a:rPr>
              <a:t>Linking supply and demand in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299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444D5A"/>
                </a:solidFill>
                <a:latin typeface="Times New Roman"/>
              </a:rPr>
              <a:t>Food delivery is the entry point to all of local commerce.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788920"/>
            <a:ext cx="3259226" cy="324612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788920"/>
            <a:ext cx="3259226" cy="82296"/>
          </a:xfrm>
          <a:prstGeom prst="rect">
            <a:avLst/>
          </a:prstGeom>
          <a:solidFill>
            <a:srgbClr val="2F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3099815"/>
            <a:ext cx="271058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B2028"/>
                </a:solidFill>
                <a:latin typeface="Times New Roman"/>
              </a:rPr>
              <a:t>Demand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995928"/>
            <a:ext cx="271058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 i="0">
                <a:solidFill>
                  <a:srgbClr val="444D5A"/>
                </a:solidFill>
                <a:latin typeface="Times New Roman"/>
              </a:rPr>
              <a:t>•  140M consumer base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 i="0">
                <a:solidFill>
                  <a:srgbClr val="444D5A"/>
                </a:solidFill>
                <a:latin typeface="Times New Roman"/>
              </a:rPr>
              <a:t>•  Stores online instantly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5193792"/>
            <a:ext cx="3259226" cy="841248"/>
          </a:xfrm>
          <a:prstGeom prst="rect">
            <a:avLst/>
          </a:prstGeom>
          <a:solidFill>
            <a:srgbClr val="E6E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5376672"/>
            <a:ext cx="271058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24DAD"/>
                </a:solidFill>
                <a:latin typeface="Times New Roman"/>
              </a:rPr>
              <a:t>Capture demand beyond walk-ins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6234" y="2788920"/>
            <a:ext cx="3259226" cy="324612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66234" y="2788920"/>
            <a:ext cx="3259226" cy="82296"/>
          </a:xfrm>
          <a:prstGeom prst="rect">
            <a:avLst/>
          </a:prstGeom>
          <a:solidFill>
            <a:srgbClr val="2F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0554" y="3099815"/>
            <a:ext cx="271058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B2028"/>
                </a:solidFill>
                <a:latin typeface="Times New Roman"/>
              </a:rPr>
              <a:t>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0554" y="3995928"/>
            <a:ext cx="271058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 i="0">
                <a:solidFill>
                  <a:srgbClr val="444D5A"/>
                </a:solidFill>
                <a:latin typeface="Times New Roman"/>
              </a:rPr>
              <a:t>•  Driver network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 i="0">
                <a:solidFill>
                  <a:srgbClr val="444D5A"/>
                </a:solidFill>
                <a:latin typeface="Times New Roman"/>
              </a:rPr>
              <a:t>•  Owns the last mile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66234" y="5193792"/>
            <a:ext cx="3259226" cy="841248"/>
          </a:xfrm>
          <a:prstGeom prst="rect">
            <a:avLst/>
          </a:prstGeom>
          <a:solidFill>
            <a:srgbClr val="E6E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0554" y="5376672"/>
            <a:ext cx="271058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24DAD"/>
                </a:solidFill>
                <a:latin typeface="Times New Roman"/>
              </a:rPr>
              <a:t>Stores need no fleet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1220" y="2788920"/>
            <a:ext cx="3259226" cy="324612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1220" y="2788920"/>
            <a:ext cx="3259226" cy="82296"/>
          </a:xfrm>
          <a:prstGeom prst="rect">
            <a:avLst/>
          </a:prstGeom>
          <a:solidFill>
            <a:srgbClr val="2F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5540" y="3099815"/>
            <a:ext cx="271058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B2028"/>
                </a:solidFill>
                <a:latin typeface="Times New Roman"/>
              </a:rPr>
              <a:t>Expansion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5540" y="3995928"/>
            <a:ext cx="271058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 i="0">
                <a:solidFill>
                  <a:srgbClr val="444D5A"/>
                </a:solidFill>
                <a:latin typeface="Times New Roman"/>
              </a:rPr>
              <a:t>•  Grocery, retail, alcohol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 i="0">
                <a:solidFill>
                  <a:srgbClr val="444D5A"/>
                </a:solidFill>
                <a:latin typeface="Times New Roman"/>
              </a:rPr>
              <a:t>•  Widen the shelf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91220" y="5193792"/>
            <a:ext cx="3259226" cy="841248"/>
          </a:xfrm>
          <a:prstGeom prst="rect">
            <a:avLst/>
          </a:prstGeom>
          <a:solidFill>
            <a:srgbClr val="E6E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5540" y="5376672"/>
            <a:ext cx="271058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24DAD"/>
                </a:solidFill>
                <a:latin typeface="Times New Roman"/>
              </a:rPr>
              <a:t>Food is only the front door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8A93A1"/>
                </a:solidFill>
                <a:latin typeface="Times New Roman"/>
              </a:rPr>
              <a:t>NEXT ▶ Why this moment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64008" cy="384048"/>
          </a:xfrm>
          <a:prstGeom prst="rect">
            <a:avLst/>
          </a:prstGeom>
          <a:solidFill>
            <a:srgbClr val="2F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548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8A93A1"/>
                </a:solidFill>
                <a:latin typeface="Times New Roman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7899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 i="0">
                <a:solidFill>
                  <a:srgbClr val="1B2028"/>
                </a:solidFill>
                <a:latin typeface="Times New Roman"/>
              </a:rPr>
              <a:t>Behaviour has shifted — irreversibly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299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444D5A"/>
                </a:solidFill>
                <a:latin typeface="Times New Roman"/>
              </a:rPr>
              <a:t>The "will they use it" phase is over; the "is it profitable" phase has begun.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834640"/>
            <a:ext cx="1032631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2100" b="0" i="0">
                <a:solidFill>
                  <a:srgbClr val="444D5A"/>
                </a:solidFill>
                <a:latin typeface="Times New Roman"/>
              </a:rPr>
              <a:t>•  Post-pandemic delivery demand stayed high and became everyday infrastructure.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2100" b="0" i="0">
                <a:solidFill>
                  <a:srgbClr val="444D5A"/>
                </a:solidFill>
                <a:latin typeface="Times New Roman"/>
              </a:rPr>
              <a:t>•  Operational efficiency flipped unit economics into profit.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2100" b="0" i="0">
                <a:solidFill>
                  <a:srgbClr val="444D5A"/>
                </a:solidFill>
                <a:latin typeface="Times New Roman"/>
              </a:rPr>
              <a:t>•  High-margin revenue (ads, Uber One) is now scaling.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8A93A1"/>
                </a:solidFill>
                <a:latin typeface="Times New Roman"/>
              </a:rPr>
              <a:t>NEXT ▶ The numbers behind the business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64008" cy="384048"/>
          </a:xfrm>
          <a:prstGeom prst="rect">
            <a:avLst/>
          </a:prstGeom>
          <a:solidFill>
            <a:srgbClr val="2F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548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8A93A1"/>
                </a:solidFill>
                <a:latin typeface="Times New Roman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7899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 i="0">
                <a:solidFill>
                  <a:srgbClr val="1B2028"/>
                </a:solidFill>
                <a:latin typeface="Times New Roman"/>
              </a:rPr>
              <a:t>Scale and profitability, at the same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299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444D5A"/>
                </a:solidFill>
                <a:latin typeface="Times New Roman"/>
              </a:rPr>
              <a:t>We have entered the phase of growing and earning at once.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788920"/>
            <a:ext cx="2352979" cy="274320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91839"/>
            <a:ext cx="198721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i="0">
                <a:solidFill>
                  <a:srgbClr val="2F6BF0"/>
                </a:solidFill>
                <a:latin typeface="Times New Roman"/>
              </a:rPr>
              <a:t>140M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617720"/>
            <a:ext cx="19872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 i="0">
                <a:solidFill>
                  <a:srgbClr val="444D5A"/>
                </a:solidFill>
                <a:latin typeface="Times New Roman"/>
              </a:rPr>
              <a:t>consumers ordered on</a:t>
            </a:r>
          </a:p>
          <a:p>
            <a:pPr algn="ctr">
              <a:lnSpc>
                <a:spcPct val="125000"/>
              </a:lnSpc>
            </a:pPr>
            <a:r>
              <a:rPr sz="1600" b="0" i="0">
                <a:solidFill>
                  <a:srgbClr val="444D5A"/>
                </a:solidFill>
                <a:latin typeface="Times New Roman"/>
              </a:rPr>
              <a:t>Uber Eats in 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59987" y="2788920"/>
            <a:ext cx="2352979" cy="274320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2867" y="3291839"/>
            <a:ext cx="198721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5000" b="1" i="0">
                <a:solidFill>
                  <a:srgbClr val="2F6BF0"/>
                </a:solidFill>
                <a:latin typeface="Times New Roman"/>
              </a:rPr>
              <a:t>$20.1B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2867" y="4617720"/>
            <a:ext cx="19872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 i="0">
                <a:solidFill>
                  <a:srgbClr val="444D5A"/>
                </a:solidFill>
                <a:latin typeface="Times New Roman"/>
              </a:rPr>
              <a:t>Delivery Gross Bookings</a:t>
            </a:r>
          </a:p>
          <a:p>
            <a:pPr algn="ctr">
              <a:lnSpc>
                <a:spcPct val="125000"/>
              </a:lnSpc>
            </a:pPr>
            <a:r>
              <a:rPr sz="1600" b="0" i="0">
                <a:solidFill>
                  <a:srgbClr val="444D5A"/>
                </a:solidFill>
                <a:latin typeface="Times New Roman"/>
              </a:rPr>
              <a:t>(Q4 2024, +18% YoY)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788920"/>
            <a:ext cx="2352979" cy="274320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3291839"/>
            <a:ext cx="198721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i="0">
                <a:solidFill>
                  <a:srgbClr val="2F6BF0"/>
                </a:solidFill>
                <a:latin typeface="Times New Roman"/>
              </a:rPr>
              <a:t>171M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4617720"/>
            <a:ext cx="19872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 i="0">
                <a:solidFill>
                  <a:srgbClr val="444D5A"/>
                </a:solidFill>
                <a:latin typeface="Times New Roman"/>
              </a:rPr>
              <a:t>monthly active consumers</a:t>
            </a:r>
          </a:p>
          <a:p>
            <a:pPr algn="ctr">
              <a:lnSpc>
                <a:spcPct val="125000"/>
              </a:lnSpc>
            </a:pPr>
            <a:r>
              <a:rPr sz="1600" b="0" i="0">
                <a:solidFill>
                  <a:srgbClr val="444D5A"/>
                </a:solidFill>
                <a:latin typeface="Times New Roman"/>
              </a:rPr>
              <a:t>across Uber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7467" y="2788920"/>
            <a:ext cx="2352979" cy="274320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0347" y="3291839"/>
            <a:ext cx="198721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i="0">
                <a:solidFill>
                  <a:srgbClr val="2F6BF0"/>
                </a:solidFill>
                <a:latin typeface="Times New Roman"/>
              </a:rPr>
              <a:t>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347" y="4617720"/>
            <a:ext cx="19872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 i="0">
                <a:solidFill>
                  <a:srgbClr val="444D5A"/>
                </a:solidFill>
                <a:latin typeface="Times New Roman"/>
              </a:rPr>
              <a:t>countries</a:t>
            </a:r>
          </a:p>
          <a:p>
            <a:pPr algn="ctr">
              <a:lnSpc>
                <a:spcPct val="125000"/>
              </a:lnSpc>
            </a:pPr>
            <a:r>
              <a:rPr sz="1600" b="0" i="0">
                <a:solidFill>
                  <a:srgbClr val="444D5A"/>
                </a:solidFill>
                <a:latin typeface="Times New Roman"/>
              </a:rPr>
              <a:t>(11,000+ cities)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8A93A1"/>
                </a:solidFill>
                <a:latin typeface="Times New Roman"/>
              </a:rPr>
              <a:t>NEXT ▶ What we go after next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64008" cy="384048"/>
          </a:xfrm>
          <a:prstGeom prst="rect">
            <a:avLst/>
          </a:prstGeom>
          <a:solidFill>
            <a:srgbClr val="2F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548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8A93A1"/>
                </a:solidFill>
                <a:latin typeface="Times New Roman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7899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 i="0">
                <a:solidFill>
                  <a:srgbClr val="1B2028"/>
                </a:solidFill>
                <a:latin typeface="Times New Roman"/>
              </a:rPr>
              <a:t>From order to doorstep, in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834640"/>
            <a:ext cx="4751679" cy="1554480"/>
          </a:xfrm>
          <a:prstGeom prst="roundRect">
            <a:avLst/>
          </a:prstGeom>
          <a:solidFill>
            <a:srgbClr val="3A6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3044952"/>
            <a:ext cx="42944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2300" b="1" i="0">
                <a:solidFill>
                  <a:srgbClr val="FFFFFF"/>
                </a:solidFill>
                <a:latin typeface="Times New Roman"/>
              </a:rPr>
              <a:t>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685032"/>
            <a:ext cx="4294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E4ECFF"/>
                </a:solidFill>
                <a:latin typeface="Times New Roman"/>
              </a:rPr>
              <a:t>Pick a nearby store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98767" y="2834640"/>
            <a:ext cx="4751679" cy="1554480"/>
          </a:xfrm>
          <a:prstGeom prst="roundRect">
            <a:avLst/>
          </a:prstGeom>
          <a:solidFill>
            <a:srgbClr val="3A6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27367" y="3044952"/>
            <a:ext cx="42944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2300" b="1" i="0">
                <a:solidFill>
                  <a:srgbClr val="FFFFFF"/>
                </a:solidFill>
                <a:latin typeface="Times New Roman"/>
              </a:rPr>
              <a:t>Cook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7367" y="3685032"/>
            <a:ext cx="4294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E4ECFF"/>
                </a:solidFill>
                <a:latin typeface="Times New Roman"/>
              </a:rPr>
              <a:t>Store notified instantly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5029200"/>
            <a:ext cx="4751679" cy="1554480"/>
          </a:xfrm>
          <a:prstGeom prst="roundRect">
            <a:avLst/>
          </a:prstGeom>
          <a:solidFill>
            <a:srgbClr val="3A6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5239512"/>
            <a:ext cx="42944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2300" b="1" i="0">
                <a:solidFill>
                  <a:srgbClr val="FFFFFF"/>
                </a:solidFill>
                <a:latin typeface="Times New Roman"/>
              </a:rPr>
              <a:t>Deliver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5879592"/>
            <a:ext cx="4294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E4ECFF"/>
                </a:solidFill>
                <a:latin typeface="Times New Roman"/>
              </a:rPr>
              <a:t>A driver picks it 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98767" y="5029200"/>
            <a:ext cx="4751679" cy="1554480"/>
          </a:xfrm>
          <a:prstGeom prst="roundRect">
            <a:avLst/>
          </a:prstGeom>
          <a:solidFill>
            <a:srgbClr val="3A6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7367" y="5239512"/>
            <a:ext cx="42944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2300" b="1" i="0">
                <a:solidFill>
                  <a:srgbClr val="FFFFFF"/>
                </a:solidFill>
                <a:latin typeface="Times New Roman"/>
              </a:rPr>
              <a:t>Arrive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367" y="5879592"/>
            <a:ext cx="4294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E4ECFF"/>
                </a:solidFill>
                <a:latin typeface="Times New Roman"/>
              </a:rPr>
              <a:t>Delivered in minutes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02655" y="3611880"/>
            <a:ext cx="786384" cy="0"/>
          </a:xfrm>
          <a:prstGeom prst="bentConnector3">
            <a:avLst/>
          </a:prstGeom>
          <a:ln w="38100">
            <a:solidFill>
              <a:srgbClr val="444D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217087" y="4480559"/>
            <a:ext cx="5757520" cy="457201"/>
          </a:xfrm>
          <a:prstGeom prst="bentConnector3">
            <a:avLst/>
          </a:prstGeom>
          <a:ln w="38100">
            <a:solidFill>
              <a:srgbClr val="C2C8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702655" y="5806440"/>
            <a:ext cx="786384" cy="0"/>
          </a:xfrm>
          <a:prstGeom prst="bentConnector3">
            <a:avLst/>
          </a:prstGeom>
          <a:ln w="38100">
            <a:solidFill>
              <a:srgbClr val="444D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1248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8A93A1"/>
                </a:solidFill>
                <a:latin typeface="Times New Roman"/>
              </a:rPr>
              <a:t>NEXT ▶ The ask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64008" cy="384048"/>
          </a:xfrm>
          <a:prstGeom prst="rect">
            <a:avLst/>
          </a:prstGeom>
          <a:solidFill>
            <a:srgbClr val="2F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548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8A93A1"/>
                </a:solidFill>
                <a:latin typeface="Times New Roman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78992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 i="0">
                <a:solidFill>
                  <a:srgbClr val="1B2028"/>
                </a:solidFill>
                <a:latin typeface="Times New Roman"/>
              </a:rPr>
              <a:t>What we go after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697480"/>
            <a:ext cx="640080" cy="640080"/>
          </a:xfrm>
          <a:prstGeom prst="roundRect">
            <a:avLst/>
          </a:prstGeom>
          <a:solidFill>
            <a:srgbClr val="2F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834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2300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1368" y="273405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B2028"/>
                </a:solidFill>
                <a:latin typeface="Times New Roman"/>
              </a:rPr>
              <a:t>Widen the shelf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1368" y="320954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444D5A"/>
                </a:solidFill>
                <a:latin typeface="Times New Roman"/>
              </a:rPr>
              <a:t>Expand grocery, retail and alcohol categories city by city.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721608"/>
            <a:ext cx="640080" cy="640080"/>
          </a:xfrm>
          <a:prstGeom prst="roundRect">
            <a:avLst/>
          </a:prstGeom>
          <a:solidFill>
            <a:srgbClr val="2F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85876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2300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1368" y="375818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B2028"/>
                </a:solidFill>
                <a:latin typeface="Times New Roman"/>
              </a:rPr>
              <a:t>Monetise at high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42336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444D5A"/>
                </a:solidFill>
                <a:latin typeface="Times New Roman"/>
              </a:rPr>
              <a:t>Scale advertising and Uber One to lift profitability.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745736"/>
            <a:ext cx="640080" cy="640080"/>
          </a:xfrm>
          <a:prstGeom prst="roundRect">
            <a:avLst/>
          </a:prstGeom>
          <a:solidFill>
            <a:srgbClr val="2F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88289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</a:pPr>
            <a:r>
              <a:rPr sz="2300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1368" y="47823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B2028"/>
                </a:solidFill>
                <a:latin typeface="Times New Roman"/>
              </a:rPr>
              <a:t>Own local commerce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1368" y="52578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444D5A"/>
                </a:solidFill>
                <a:latin typeface="Times New Roman"/>
              </a:rPr>
              <a:t>Control the rails: ordering, delivery and payments.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5870448"/>
            <a:ext cx="10509199" cy="603504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8A93A1"/>
                </a:solidFill>
                <a:latin typeface="Yu Gothic"/>
              </a:rPr>
              <a:t>SOURCES / 出典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6181344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D5A"/>
                </a:solidFill>
                <a:latin typeface="Times New Roman"/>
              </a:rPr>
              <a:t>Uber FY2024 results (Q4 &amp; full year, SEC 8-K) / Business of Apps &amp; Statista trackers (some figures are estimates from public data)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