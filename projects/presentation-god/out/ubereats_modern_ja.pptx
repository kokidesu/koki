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9D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17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FFFFFF"/>
                </a:solidFill>
                <a:latin typeface="Yu Gothic"/>
              </a:rPr>
              <a:t>5分でわかる Uber Eats の事業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2148840"/>
            <a:ext cx="7863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>
                <a:solidFill>
                  <a:srgbClr val="FFFFFF"/>
                </a:solidFill>
                <a:latin typeface="Yu Gothic"/>
              </a:rPr>
              <a:t>「あらゆるモノを、</a:t>
            </a:r>
          </a:p>
          <a:p>
            <a:pPr algn="l">
              <a:lnSpc>
                <a:spcPct val="118000"/>
              </a:lnSpc>
            </a:pPr>
            <a:r>
              <a:rPr sz="4000" b="1" i="0">
                <a:solidFill>
                  <a:srgbClr val="FFFFFF"/>
                </a:solidFill>
                <a:latin typeface="Yu Gothic"/>
              </a:rPr>
              <a:t>数分で。」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0749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DFE8FF"/>
                </a:solidFill>
                <a:latin typeface="Yu Gothic"/>
              </a:rPr>
              <a:t>フードデリバリーから“ローカル・コマースのOS”へ。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126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CFDDFF"/>
                </a:solidFill>
                <a:latin typeface="Times New Roman"/>
              </a:rPr>
              <a:t>Uber Technologies, Inc.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355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BFD0FB"/>
                </a:solidFill>
                <a:latin typeface="Yu Gothic"/>
              </a:rPr>
              <a:t>投資家向け資料  •  2026年6月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669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8A93A1"/>
                </a:solidFill>
                <a:latin typeface="Yu Gothic"/>
              </a:rPr>
              <a:t>なぜ今、課題なのか /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11556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B2028"/>
                </a:solidFill>
                <a:latin typeface="Yu Gothic"/>
              </a:rPr>
              <a:t>外食と日常の買い物は、まだ不便だ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444D5A"/>
                </a:solidFill>
                <a:latin typeface="Yu Gothic"/>
              </a:rPr>
              <a:t>リアル店舗の在庫と、目の前の需要が、つながっていない。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32631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 i="0">
                <a:solidFill>
                  <a:srgbClr val="444D5A"/>
                </a:solidFill>
                <a:latin typeface="Yu Gothic"/>
              </a:rPr>
              <a:t>•  飲食店は来店客しか取り込めず、空席や余剰在庫が機会損失になっている。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 i="0">
                <a:solidFill>
                  <a:srgbClr val="444D5A"/>
                </a:solidFill>
                <a:latin typeface="Yu Gothic"/>
              </a:rPr>
              <a:t>•  消費者は「今すぐ・近くで」を求めるが、店ごとの注文導線はバラバラ。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 i="0">
                <a:solidFill>
                  <a:srgbClr val="444D5A"/>
                </a:solidFill>
                <a:latin typeface="Yu Gothic"/>
              </a:rPr>
              <a:t>•  個人商店や中小店舗には、需要を取り込むデジタル基盤がない。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8A93A1"/>
                </a:solidFill>
                <a:latin typeface="Yu Gothic"/>
              </a:rPr>
              <a:t>NEXT ▶ 解決策：需要と供給を数分でつなぐ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669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8A93A1"/>
                </a:solidFill>
                <a:latin typeface="Yu Gothic"/>
              </a:rPr>
              <a:t>解決策 /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11556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B2028"/>
                </a:solidFill>
                <a:latin typeface="Yu Gothic"/>
              </a:rPr>
              <a:t>需要と供給を、数分でつなぐ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444D5A"/>
                </a:solidFill>
                <a:latin typeface="Yu Gothic"/>
              </a:rPr>
              <a:t>フードデリバリーを入口に、地域コマース全体を取りに行く。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97480"/>
            <a:ext cx="3259226" cy="324612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97480"/>
            <a:ext cx="3259226" cy="82296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990088"/>
            <a:ext cx="271058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B2028"/>
                </a:solidFill>
                <a:latin typeface="Yu Gothic"/>
              </a:rPr>
              <a:t>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840480"/>
            <a:ext cx="271058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 i="0">
                <a:solidFill>
                  <a:srgbClr val="444D5A"/>
                </a:solidFill>
                <a:latin typeface="Yu Gothic"/>
              </a:rPr>
              <a:t>•  1.4億人の利用者基盤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 i="0">
                <a:solidFill>
                  <a:srgbClr val="444D5A"/>
                </a:solidFill>
                <a:latin typeface="Yu Gothic"/>
              </a:rPr>
              <a:t>•  店舗を即オンライン化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193792"/>
            <a:ext cx="3259226" cy="749808"/>
          </a:xfrm>
          <a:prstGeom prst="rect">
            <a:avLst/>
          </a:prstGeom>
          <a:solidFill>
            <a:srgbClr val="E4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5340096"/>
            <a:ext cx="271058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6713D"/>
                </a:solidFill>
                <a:latin typeface="Yu Gothic"/>
              </a:rPr>
              <a:t>来店を待たず需要を取り込む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6234" y="2697480"/>
            <a:ext cx="3259226" cy="324612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66234" y="2697480"/>
            <a:ext cx="3259226" cy="82296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0554" y="2990088"/>
            <a:ext cx="271058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B2028"/>
                </a:solidFill>
                <a:latin typeface="Yu Gothic"/>
              </a:rPr>
              <a:t>配送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0554" y="3840480"/>
            <a:ext cx="271058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 i="0">
                <a:solidFill>
                  <a:srgbClr val="444D5A"/>
                </a:solidFill>
                <a:latin typeface="Yu Gothic"/>
              </a:rPr>
              <a:t>•  ドライバー網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 i="0">
                <a:solidFill>
                  <a:srgbClr val="444D5A"/>
                </a:solidFill>
                <a:latin typeface="Yu Gothic"/>
              </a:rPr>
              <a:t>•  ラストワンマイルを担う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66234" y="5193792"/>
            <a:ext cx="3259226" cy="749808"/>
          </a:xfrm>
          <a:prstGeom prst="rect">
            <a:avLst/>
          </a:prstGeom>
          <a:solidFill>
            <a:srgbClr val="E4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0554" y="5340096"/>
            <a:ext cx="271058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6713D"/>
                </a:solidFill>
                <a:latin typeface="Yu Gothic"/>
              </a:rPr>
              <a:t>店は配達網を持たなくていい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1220" y="2697480"/>
            <a:ext cx="3259226" cy="324612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697480"/>
            <a:ext cx="3259226" cy="82296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5540" y="2990088"/>
            <a:ext cx="271058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B2028"/>
                </a:solidFill>
                <a:latin typeface="Yu Gothic"/>
              </a:rPr>
              <a:t>拡張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5540" y="3840480"/>
            <a:ext cx="271058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 i="0">
                <a:solidFill>
                  <a:srgbClr val="444D5A"/>
                </a:solidFill>
                <a:latin typeface="Yu Gothic"/>
              </a:rPr>
              <a:t>•  食料品・小売・酒類へ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 i="0">
                <a:solidFill>
                  <a:srgbClr val="444D5A"/>
                </a:solidFill>
                <a:latin typeface="Yu Gothic"/>
              </a:rPr>
              <a:t>•  品揃えを横展開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91220" y="5193792"/>
            <a:ext cx="3259226" cy="749808"/>
          </a:xfrm>
          <a:prstGeom prst="rect">
            <a:avLst/>
          </a:prstGeom>
          <a:solidFill>
            <a:srgbClr val="E4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5540" y="5340096"/>
            <a:ext cx="271058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6713D"/>
                </a:solidFill>
                <a:latin typeface="Yu Gothic"/>
              </a:rPr>
              <a:t>フードは入口にすぎない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8A93A1"/>
                </a:solidFill>
                <a:latin typeface="Yu Gothic"/>
              </a:rPr>
              <a:t>NEXT ▶ なぜ今このタイミングなのか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669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8A93A1"/>
                </a:solidFill>
                <a:latin typeface="Yu Gothic"/>
              </a:rPr>
              <a:t>なぜ今 /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11556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B2028"/>
                </a:solidFill>
                <a:latin typeface="Yu Gothic"/>
              </a:rPr>
              <a:t>行動変容が、不可逆に定着した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444D5A"/>
                </a:solidFill>
                <a:latin typeface="Yu Gothic"/>
              </a:rPr>
              <a:t>“使われるか”の段階は終わり、“儲かるか”の段階に入った。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32631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 i="0">
                <a:solidFill>
                  <a:srgbClr val="444D5A"/>
                </a:solidFill>
                <a:latin typeface="Yu Gothic"/>
              </a:rPr>
              <a:t>•  コロナ後もデリバリー利用は高止まりし、日常インフラ化した。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 i="0">
                <a:solidFill>
                  <a:srgbClr val="444D5A"/>
                </a:solidFill>
                <a:latin typeface="Yu Gothic"/>
              </a:rPr>
              <a:t>•  配送オペレーションの効率化で、ユニットエコノミクスが黒字転換。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 i="0">
                <a:solidFill>
                  <a:srgbClr val="444D5A"/>
                </a:solidFill>
                <a:latin typeface="Yu Gothic"/>
              </a:rPr>
              <a:t>•  広告やサブスク(Uber One)など高粗利の収益源が育ってきた。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8A93A1"/>
                </a:solidFill>
                <a:latin typeface="Yu Gothic"/>
              </a:rPr>
              <a:t>NEXT ▶ 市場の数字で実力を見る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669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8A93A1"/>
                </a:solidFill>
                <a:latin typeface="Yu Gothic"/>
              </a:rPr>
              <a:t>実績 /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11556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B2028"/>
                </a:solidFill>
                <a:latin typeface="Yu Gothic"/>
              </a:rPr>
              <a:t>規模と収益性を、同時に実現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444D5A"/>
                </a:solidFill>
                <a:latin typeface="Yu Gothic"/>
              </a:rPr>
              <a:t>「成長」と「利益」を両立できるフェーズに入った。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834640"/>
            <a:ext cx="2352979" cy="24688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3246120"/>
            <a:ext cx="18957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4600" b="1" i="0">
                <a:solidFill>
                  <a:srgbClr val="1F9D55"/>
                </a:solidFill>
                <a:latin typeface="Yu Gothic"/>
              </a:rPr>
              <a:t>1.4億人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4434840"/>
            <a:ext cx="18957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444D5A"/>
                </a:solidFill>
                <a:latin typeface="Yu Gothic"/>
              </a:rPr>
              <a:t>2024年にUber Eatsで</a:t>
            </a:r>
          </a:p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444D5A"/>
                </a:solidFill>
                <a:latin typeface="Yu Gothic"/>
              </a:rPr>
              <a:t>注文した利用者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59987" y="2834640"/>
            <a:ext cx="2352979" cy="24688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88587" y="3246120"/>
            <a:ext cx="18957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4600" b="1" i="0">
                <a:solidFill>
                  <a:srgbClr val="1F9D55"/>
                </a:solidFill>
                <a:latin typeface="Times New Roman"/>
              </a:rPr>
              <a:t>$20.1B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8587" y="4434840"/>
            <a:ext cx="18957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444D5A"/>
                </a:solidFill>
                <a:latin typeface="Yu Gothic"/>
              </a:rPr>
              <a:t>四半期のデリバリー総取扱高</a:t>
            </a:r>
          </a:p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444D5A"/>
                </a:solidFill>
                <a:latin typeface="Yu Gothic"/>
              </a:rPr>
              <a:t>(2024 Q4・前年比 +18%)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834640"/>
            <a:ext cx="2352979" cy="24688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3246120"/>
            <a:ext cx="18957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4600" b="1" i="0">
                <a:solidFill>
                  <a:srgbClr val="1F9D55"/>
                </a:solidFill>
                <a:latin typeface="Yu Gothic"/>
              </a:rPr>
              <a:t>1.71億人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4434840"/>
            <a:ext cx="18957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444D5A"/>
                </a:solidFill>
                <a:latin typeface="Yu Gothic"/>
              </a:rPr>
              <a:t>Uber全体の</a:t>
            </a:r>
          </a:p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444D5A"/>
                </a:solidFill>
                <a:latin typeface="Yu Gothic"/>
              </a:rPr>
              <a:t>月間利用者数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467" y="2834640"/>
            <a:ext cx="2352979" cy="24688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067" y="3246120"/>
            <a:ext cx="18957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4600" b="1" i="0">
                <a:solidFill>
                  <a:srgbClr val="1F9D55"/>
                </a:solidFill>
                <a:latin typeface="Yu Gothic"/>
              </a:rPr>
              <a:t>45カ国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067" y="4434840"/>
            <a:ext cx="18957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444D5A"/>
                </a:solidFill>
                <a:latin typeface="Yu Gothic"/>
              </a:rPr>
              <a:t>展開国数</a:t>
            </a:r>
          </a:p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444D5A"/>
                </a:solidFill>
                <a:latin typeface="Yu Gothic"/>
              </a:rPr>
              <a:t>(11,000都市超)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8A93A1"/>
                </a:solidFill>
                <a:latin typeface="Yu Gothic"/>
              </a:rPr>
              <a:t>NEXT ▶ 次に取りに行くもの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669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8A93A1"/>
                </a:solidFill>
                <a:latin typeface="Yu Gothic"/>
              </a:rPr>
              <a:t>仕組み /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11556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B2028"/>
                </a:solidFill>
                <a:latin typeface="Yu Gothic"/>
              </a:rPr>
              <a:t>注文から配達まで、数分で完結する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834640"/>
            <a:ext cx="4751679" cy="1554480"/>
          </a:xfrm>
          <a:prstGeom prst="roundRect">
            <a:avLst/>
          </a:prstGeom>
          <a:solidFill>
            <a:srgbClr val="2F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3108960"/>
            <a:ext cx="42944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FFFFFF"/>
                </a:solidFill>
                <a:latin typeface="Yu Gothic"/>
              </a:rPr>
              <a:t>注文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657600"/>
            <a:ext cx="4294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E4ECFF"/>
                </a:solidFill>
                <a:latin typeface="Yu Gothic"/>
              </a:rPr>
              <a:t>アプリで近くの店を選ぶ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98767" y="2834640"/>
            <a:ext cx="4751679" cy="1554480"/>
          </a:xfrm>
          <a:prstGeom prst="roundRect">
            <a:avLst/>
          </a:prstGeom>
          <a:solidFill>
            <a:srgbClr val="2F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27367" y="3108960"/>
            <a:ext cx="42944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FFFFFF"/>
                </a:solidFill>
                <a:latin typeface="Yu Gothic"/>
              </a:rPr>
              <a:t>調理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7367" y="3657600"/>
            <a:ext cx="4294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E4ECFF"/>
                </a:solidFill>
                <a:latin typeface="Yu Gothic"/>
              </a:rPr>
              <a:t>店舗に即時通知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5029200"/>
            <a:ext cx="4751679" cy="1554480"/>
          </a:xfrm>
          <a:prstGeom prst="roundRect">
            <a:avLst/>
          </a:prstGeom>
          <a:solidFill>
            <a:srgbClr val="2F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5303520"/>
            <a:ext cx="42944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FFFFFF"/>
                </a:solidFill>
                <a:latin typeface="Yu Gothic"/>
              </a:rPr>
              <a:t>配達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5852159"/>
            <a:ext cx="4294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E4ECFF"/>
                </a:solidFill>
                <a:latin typeface="Yu Gothic"/>
              </a:rPr>
              <a:t>ドライバーが受け取り運ぶ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98767" y="5029200"/>
            <a:ext cx="4751679" cy="1554480"/>
          </a:xfrm>
          <a:prstGeom prst="roundRect">
            <a:avLst/>
          </a:prstGeom>
          <a:solidFill>
            <a:srgbClr val="2F8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7367" y="5303520"/>
            <a:ext cx="42944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FFFFFF"/>
                </a:solidFill>
                <a:latin typeface="Yu Gothic"/>
              </a:rPr>
              <a:t>到着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367" y="5852159"/>
            <a:ext cx="4294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E4ECFF"/>
                </a:solidFill>
                <a:latin typeface="Yu Gothic"/>
              </a:rPr>
              <a:t>数分〜数十分で受け取り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02655" y="3611880"/>
            <a:ext cx="786384" cy="0"/>
          </a:xfrm>
          <a:prstGeom prst="bentConnector3">
            <a:avLst/>
          </a:prstGeom>
          <a:ln w="38100">
            <a:solidFill>
              <a:srgbClr val="444D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217087" y="4480559"/>
            <a:ext cx="5757520" cy="457201"/>
          </a:xfrm>
          <a:prstGeom prst="bentConnector3">
            <a:avLst/>
          </a:prstGeom>
          <a:ln w="38100">
            <a:solidFill>
              <a:srgbClr val="C2C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702655" y="5806440"/>
            <a:ext cx="786384" cy="0"/>
          </a:xfrm>
          <a:prstGeom prst="bentConnector3">
            <a:avLst/>
          </a:prstGeom>
          <a:ln w="38100">
            <a:solidFill>
              <a:srgbClr val="444D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8A93A1"/>
                </a:solidFill>
                <a:latin typeface="Yu Gothic"/>
              </a:rPr>
              <a:t>NEXT ▶ 提案：次の打ち手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669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8A93A1"/>
                </a:solidFill>
                <a:latin typeface="Yu Gothic"/>
              </a:rPr>
              <a:t>提案 /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11556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B2028"/>
                </a:solidFill>
                <a:latin typeface="Yu Gothic"/>
              </a:rPr>
              <a:t>次に取りに行くもの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606040"/>
            <a:ext cx="566928" cy="566928"/>
          </a:xfrm>
          <a:prstGeom prst="round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724912"/>
            <a:ext cx="566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624328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1B2028"/>
                </a:solidFill>
                <a:latin typeface="Yu Gothic"/>
              </a:rPr>
              <a:t>品揃えの拡張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9928" y="30175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44D5A"/>
                </a:solidFill>
                <a:latin typeface="Yu Gothic"/>
              </a:rPr>
              <a:t>食料品・小売・酒類のカテゴリを各都市で広げる。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502152"/>
            <a:ext cx="566928" cy="566928"/>
          </a:xfrm>
          <a:prstGeom prst="round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621024"/>
            <a:ext cx="566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3520440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1B2028"/>
                </a:solidFill>
                <a:latin typeface="Yu Gothic"/>
              </a:rPr>
              <a:t>高粗利の収益化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3913632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44D5A"/>
                </a:solidFill>
                <a:latin typeface="Yu Gothic"/>
              </a:rPr>
              <a:t>広告とUber Oneの普及で利益率をさらに引き上げる。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398264"/>
            <a:ext cx="566928" cy="566928"/>
          </a:xfrm>
          <a:prstGeom prst="round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517136"/>
            <a:ext cx="566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9928" y="4416552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1B2028"/>
                </a:solidFill>
                <a:latin typeface="Yu Gothic"/>
              </a:rPr>
              <a:t>ローカルOS化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4809744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44D5A"/>
                </a:solidFill>
                <a:latin typeface="Yu Gothic"/>
              </a:rPr>
              <a:t>地域コマースの基盤（注文・配送・決済）を押さえる。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5806440"/>
            <a:ext cx="10509199" cy="6400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907024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8A93A1"/>
                </a:solidFill>
                <a:latin typeface="Yu Gothic"/>
              </a:rPr>
              <a:t>SOURCES / 出典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6144768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444D5A"/>
                </a:solidFill>
                <a:latin typeface="Yu Gothic"/>
              </a:rPr>
              <a:t>Uber FY2024決算 (Q4 &amp; 通期, SEC 8-K) / Business of Apps・Statista 各統計（一部は公開情報に基づく概算）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