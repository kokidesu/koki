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39" b="1" i="0">
                <a:solidFill>
                  <a:srgbClr val="6EA8FE"/>
                </a:solidFill>
                <a:latin typeface="Yu Mincho"/>
              </a:rPr>
              <a:t>Uber Eats — 事業ピッチ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4370" b="1" i="0">
                <a:solidFill>
                  <a:srgbClr val="FFFFFF"/>
                </a:solidFill>
                <a:latin typeface="Yu Mincho"/>
              </a:rPr>
              <a:t>「あらゆるモノを、数分で。」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3977639"/>
            <a:ext cx="2743200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070" b="0" i="1">
                <a:solidFill>
                  <a:srgbClr val="EEF1F8"/>
                </a:solidFill>
                <a:latin typeface="Yu Mincho"/>
              </a:rPr>
              <a:t>フードデリバリーから“ローカル・コマースのOS”へ。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502920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263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0" i="0">
                <a:solidFill>
                  <a:srgbClr val="8A93AD"/>
                </a:solidFill>
                <a:latin typeface="Yu Mincho"/>
              </a:rPr>
              <a:t>投資家向け資料  •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Yu Mincho"/>
              </a:rPr>
              <a:t>課題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Mincho"/>
              </a:rPr>
              <a:t>外食と日常の買い物は、まだ不便だ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488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飲食店は来店客しか取り込めず、空席・余剰在庫が機会損失になっている。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消費者は「今すぐ・近くで」を求めるが、店ごとの注文導線はバラバラ。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個人商店や中小店舗には、需要を取り込むデジタル基盤がない。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Yu Mincho"/>
              </a:rPr>
              <a:t>リアル店舗の在庫と、目の前の需要が、つながっていない。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Yu Mincho"/>
              </a:rPr>
              <a:t>解決策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Mincho"/>
              </a:rPr>
              <a:t>需要と供給を、数分でつなぐプラットフォーム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830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10142B"/>
                </a:solidFill>
                <a:latin typeface="Yu Mincho"/>
              </a:rPr>
              <a:t>•  集客: </a:t>
            </a:r>
            <a:r>
              <a:rPr sz="2070" b="0" i="0">
                <a:solidFill>
                  <a:srgbClr val="2A3045"/>
                </a:solidFill>
                <a:latin typeface="Yu Mincho"/>
              </a:rPr>
              <a:t>140百万人の利用者基盤に店舗を即接続。</a:t>
            </a:r>
          </a:p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10142B"/>
                </a:solidFill>
                <a:latin typeface="Yu Mincho"/>
              </a:rPr>
              <a:t>•  配送: </a:t>
            </a:r>
            <a:r>
              <a:rPr sz="2070" b="0" i="0">
                <a:solidFill>
                  <a:srgbClr val="2A3045"/>
                </a:solidFill>
                <a:latin typeface="Yu Mincho"/>
              </a:rPr>
              <a:t>ドライバー網がラストワンマイルを担う。</a:t>
            </a:r>
          </a:p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10142B"/>
                </a:solidFill>
                <a:latin typeface="Yu Mincho"/>
              </a:rPr>
              <a:t>•  拡張: </a:t>
            </a:r>
            <a:r>
              <a:rPr sz="2070" b="0" i="0">
                <a:solidFill>
                  <a:srgbClr val="2A3045"/>
                </a:solidFill>
                <a:latin typeface="Yu Mincho"/>
              </a:rPr>
              <a:t>食事→食料品→小売→酒類へ品揃えを横展開。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3913632" cy="3977639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128016" cy="3977639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1" i="0">
                <a:solidFill>
                  <a:srgbClr val="6EA8FE"/>
                </a:solidFill>
                <a:latin typeface="Yu Mincho"/>
              </a:rPr>
              <a:t>ひとことで言うと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317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39" b="0" i="1">
                <a:solidFill>
                  <a:srgbClr val="2A3045"/>
                </a:solidFill>
                <a:latin typeface="Yu Mincho"/>
              </a:rPr>
              <a:t>「街じゅうの在庫を、スマホから数分で届く状態にする」。フードを入口に、地域コマース全体を取りに行く。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Yu Mincho"/>
              </a:rPr>
              <a:t>フードデリバリーは入口にすぎない。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Yu Mincho"/>
              </a:rPr>
              <a:t>なぜ今 /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Mincho"/>
              </a:rPr>
              <a:t>行動変容が、不可逆に定着した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488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コロナ後もデリバリー利用は高止まりし、日常インフラ化した。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配送オペレーションの効率化で、ユニットエコノミクスが黒字転換。</a:t>
            </a:r>
          </a:p>
          <a:p>
            <a:pPr>
              <a:lnSpc>
                <a:spcPct val="105000"/>
              </a:lnSpc>
              <a:spcAft>
                <a:spcPts val="4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広告・サブスク(Uber One)など高粗利の収益源が育ってきた。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Yu Mincho"/>
              </a:rPr>
              <a:t>“使われる”段階は終わり、“儲かる”段階に入った。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Yu Mincho"/>
              </a:rPr>
              <a:t>市場 /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Mincho"/>
              </a:rPr>
              <a:t>巨大かつ拡張余地のある市場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3886200"/>
          </a:xfrm>
          <a:prstGeom prst="rect">
            <a:avLst/>
          </a:prstGeom>
          <a:solidFill>
            <a:srgbClr val="E5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28016" cy="38862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39" b="1" i="0">
                <a:solidFill>
                  <a:srgbClr val="6EA8FE"/>
                </a:solidFill>
                <a:latin typeface="Yu Mincho"/>
              </a:rPr>
              <a:t>コア — フードデリバリー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2A3045"/>
                </a:solidFill>
                <a:latin typeface="Yu Mincho"/>
              </a:rPr>
              <a:t>•  世界11,000都市・45カ国で展開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2A3045"/>
                </a:solidFill>
                <a:latin typeface="Yu Mincho"/>
              </a:rPr>
              <a:t>•  加盟店150万超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2A3045"/>
                </a:solidFill>
                <a:latin typeface="Yu Mincho"/>
              </a:rPr>
              <a:t>•  日本では最も利用される配送ブランド(2024年3月時点)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49240" cy="38862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28016" cy="38862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39" b="1" i="0">
                <a:solidFill>
                  <a:srgbClr val="6EA8FE"/>
                </a:solidFill>
                <a:latin typeface="Yu Mincho"/>
              </a:rPr>
              <a:t>拡張 — ローカル・コマース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EEF1F8"/>
                </a:solidFill>
                <a:latin typeface="Yu Mincho"/>
              </a:rPr>
              <a:t>•  食料品・コンビニ・小売・酒類へ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EEF1F8"/>
                </a:solidFill>
                <a:latin typeface="Yu Mincho"/>
              </a:rPr>
              <a:t>•  広告事業が高成長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EEF1F8"/>
                </a:solidFill>
                <a:latin typeface="Yu Mincho"/>
              </a:rPr>
              <a:t>•  Uber One によるロイヤルティ強化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Yu Mincho"/>
              </a:rPr>
              <a:t>フードの先に、地域コマースという桁違いの市場がある。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Yu Mincho"/>
              </a:rPr>
              <a:t>実績 /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Mincho"/>
              </a:rPr>
              <a:t>数字が示す、規模と収益性の両立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2024年にUber Eatsで注文した利用者は約1億4,000万人。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デリバリー総取扱高は四半期で約201億ドル(2024年Q4、前年比+18%)。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デリバリー事業は調整後EBITDAで黒字化し、利益率が改善中。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070" b="0" i="0">
                <a:solidFill>
                  <a:srgbClr val="2A3045"/>
                </a:solidFill>
                <a:latin typeface="Yu Mincho"/>
              </a:rPr>
              <a:t>•  Uber全体の月間利用者は1億7,100万人に到達。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10142B"/>
                </a:solidFill>
                <a:latin typeface="Yu Mincho"/>
              </a:rPr>
              <a:t>「成長」と「利益」を同時に出せるフェーズに入った。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6EA8FE"/>
                </a:solidFill>
                <a:latin typeface="Yu Mincho"/>
              </a:rPr>
              <a:t>提案 /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Mincho"/>
              </a:rPr>
              <a:t>次に取りに行くもの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0" cy="8229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1790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10142B"/>
                </a:solidFill>
                <a:latin typeface="Yu Mincho"/>
              </a:rPr>
              <a:t>品揃えの拡張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2A3045"/>
                </a:solidFill>
                <a:latin typeface="Yu Mincho"/>
              </a:rPr>
              <a:t>食料品・小売・酒類のカテゴリを各都市で拡大。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731520" cy="8229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5059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10142B"/>
                </a:solidFill>
                <a:latin typeface="Yu Mincho"/>
              </a:rPr>
              <a:t>高粗利の収益化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5292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2A3045"/>
                </a:solidFill>
                <a:latin typeface="Yu Mincho"/>
              </a:rPr>
              <a:t>広告とUber Oneの普及で利益率をさらに引き上げる。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28416"/>
            <a:ext cx="731520" cy="8229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83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10142B"/>
                </a:solidFill>
                <a:latin typeface="Yu Mincho"/>
              </a:rPr>
              <a:t>ローカルOL化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85616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2A3045"/>
                </a:solidFill>
                <a:latin typeface="Yu Mincho"/>
              </a:rPr>
              <a:t>地域コマースの基盤(注文・配送・決済)を押さえる。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28016" cy="86868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1" i="0">
                <a:solidFill>
                  <a:srgbClr val="6EA8FE"/>
                </a:solidFill>
                <a:latin typeface="Yu Mincho"/>
              </a:rPr>
              <a:t>SOURCES / 出典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64" b="0" i="0">
                <a:solidFill>
                  <a:srgbClr val="2A3045"/>
                </a:solidFill>
                <a:latin typeface="Yu Mincho"/>
              </a:rPr>
              <a:t>Uber FY2024決算(Q4&amp;通期, SEC 8-K) / Business of Apps・Statista 各統計 / 数値は公開情報に基づく概算を含む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87085"/>
                </a:solidFill>
                <a:latin typeface="Times New Roman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