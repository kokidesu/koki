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4E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13258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900" b="1" i="0">
                <a:solidFill>
                  <a:srgbClr val="FFFFFF"/>
                </a:solidFill>
                <a:latin typeface="Yu Gothic"/>
              </a:rPr>
              <a:t>Uber 面接対策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2057400"/>
            <a:ext cx="7863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</a:pPr>
            <a:r>
              <a:rPr sz="4800" b="1" i="0">
                <a:solidFill>
                  <a:srgbClr val="FFFFFF"/>
                </a:solidFill>
                <a:latin typeface="Yu Gothic"/>
              </a:rPr>
              <a:t>Uberの選考を、</a:t>
            </a:r>
          </a:p>
          <a:p>
            <a:pPr algn="l">
              <a:lnSpc>
                <a:spcPct val="116000"/>
              </a:lnSpc>
            </a:pPr>
            <a:r>
              <a:rPr sz="4800" b="1" i="0">
                <a:solidFill>
                  <a:srgbClr val="FFFFFF"/>
                </a:solidFill>
                <a:latin typeface="Yu Gothic"/>
              </a:rPr>
              <a:t>戦略的に突破する。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512064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 i="0">
                <a:solidFill>
                  <a:srgbClr val="DFE8FF"/>
                </a:solidFill>
                <a:latin typeface="Yu Gothic"/>
              </a:rPr>
              <a:t>選考プロセスの全体像と、ラウンド別の準備ポイント。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172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 i="0">
                <a:solidFill>
                  <a:srgbClr val="CFDDFF"/>
                </a:solidFill>
                <a:latin typeface="Times New Roman"/>
              </a:rPr>
              <a:t>Interview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382512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8000"/>
              </a:lnSpc>
            </a:pPr>
            <a:r>
              <a:rPr sz="1300" b="0" i="0">
                <a:solidFill>
                  <a:srgbClr val="BFD0FB"/>
                </a:solidFill>
                <a:latin typeface="Yu Gothic"/>
              </a:rPr>
              <a:t>ソフトウェアエンジニア向け  •  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566928"/>
            <a:ext cx="64008" cy="384048"/>
          </a:xfrm>
          <a:prstGeom prst="rect">
            <a:avLst/>
          </a:prstGeom>
          <a:solidFill>
            <a:srgbClr val="3D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5486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8A93A1"/>
                </a:solidFill>
                <a:latin typeface="Yu Gothic"/>
              </a:rPr>
              <a:t>全体像 /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7899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3500" b="1" i="0">
                <a:solidFill>
                  <a:srgbClr val="1B2028"/>
                </a:solidFill>
                <a:latin typeface="Yu Gothic"/>
              </a:rPr>
              <a:t>選考は4ステップで進む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02996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444D5A"/>
                </a:solidFill>
                <a:latin typeface="Yu Gothic"/>
              </a:rPr>
              <a:t>まず流れを把握する。各段階で見られる観点が違う。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834640"/>
            <a:ext cx="4751679" cy="1554480"/>
          </a:xfrm>
          <a:prstGeom prst="roundRect">
            <a:avLst/>
          </a:prstGeom>
          <a:solidFill>
            <a:srgbClr val="4453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3044952"/>
            <a:ext cx="4294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2300" b="1" i="0">
                <a:solidFill>
                  <a:srgbClr val="FFFFFF"/>
                </a:solidFill>
                <a:latin typeface="Yu Gothic"/>
              </a:rPr>
              <a:t>リクルーター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3685032"/>
            <a:ext cx="42944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E4ECFF"/>
                </a:solidFill>
                <a:latin typeface="Yu Gothic"/>
              </a:rPr>
              <a:t>経歴・志望・レベル感を確認 (30〜45分)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98767" y="2834640"/>
            <a:ext cx="4751679" cy="1554480"/>
          </a:xfrm>
          <a:prstGeom prst="roundRect">
            <a:avLst/>
          </a:prstGeom>
          <a:solidFill>
            <a:srgbClr val="4453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27367" y="3044952"/>
            <a:ext cx="4294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2300" b="1" i="0">
                <a:solidFill>
                  <a:srgbClr val="FFFFFF"/>
                </a:solidFill>
                <a:latin typeface="Yu Gothic"/>
              </a:rPr>
              <a:t>技術スクリーン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27367" y="3685032"/>
            <a:ext cx="42944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E4ECFF"/>
                </a:solidFill>
                <a:latin typeface="Yu Gothic"/>
              </a:rPr>
              <a:t>ライブコーディング1問 (45〜60分)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5029200"/>
            <a:ext cx="4751679" cy="1554480"/>
          </a:xfrm>
          <a:prstGeom prst="roundRect">
            <a:avLst/>
          </a:prstGeom>
          <a:solidFill>
            <a:srgbClr val="4453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5239512"/>
            <a:ext cx="4294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2300" b="1" i="0">
                <a:solidFill>
                  <a:srgbClr val="FFFFFF"/>
                </a:solidFill>
                <a:latin typeface="Yu Gothic"/>
              </a:rPr>
              <a:t>オンサイト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5879592"/>
            <a:ext cx="42944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E4ECFF"/>
                </a:solidFill>
                <a:latin typeface="Yu Gothic"/>
              </a:rPr>
              <a:t>4〜6ラウンドの集中面接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98767" y="5029200"/>
            <a:ext cx="4751679" cy="1554480"/>
          </a:xfrm>
          <a:prstGeom prst="roundRect">
            <a:avLst/>
          </a:prstGeom>
          <a:solidFill>
            <a:srgbClr val="4453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27367" y="5239512"/>
            <a:ext cx="4294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2300" b="1" i="0">
                <a:solidFill>
                  <a:srgbClr val="FFFFFF"/>
                </a:solidFill>
                <a:latin typeface="Yu Gothic"/>
              </a:rPr>
              <a:t>最終判断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7367" y="5879592"/>
            <a:ext cx="42944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E4ECFF"/>
                </a:solidFill>
                <a:latin typeface="Yu Gothic"/>
              </a:rPr>
              <a:t>通常3〜6週間で結果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02655" y="3611880"/>
            <a:ext cx="786384" cy="0"/>
          </a:xfrm>
          <a:prstGeom prst="bentConnector3">
            <a:avLst/>
          </a:prstGeom>
          <a:ln w="38100">
            <a:solidFill>
              <a:srgbClr val="444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217087" y="4480559"/>
            <a:ext cx="5757520" cy="457201"/>
          </a:xfrm>
          <a:prstGeom prst="bentConnector3">
            <a:avLst/>
          </a:prstGeom>
          <a:ln w="38100">
            <a:solidFill>
              <a:srgbClr val="C2C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02655" y="5806440"/>
            <a:ext cx="786384" cy="0"/>
          </a:xfrm>
          <a:prstGeom prst="bentConnector3">
            <a:avLst/>
          </a:prstGeom>
          <a:ln w="38100">
            <a:solidFill>
              <a:srgbClr val="444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41248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8A93A1"/>
                </a:solidFill>
                <a:latin typeface="Yu Gothic"/>
              </a:rPr>
              <a:t>NEXT ▶ 評価される3つの軸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566928"/>
            <a:ext cx="64008" cy="384048"/>
          </a:xfrm>
          <a:prstGeom prst="rect">
            <a:avLst/>
          </a:prstGeom>
          <a:solidFill>
            <a:srgbClr val="3D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5486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8A93A1"/>
                </a:solidFill>
                <a:latin typeface="Yu Gothic"/>
              </a:rPr>
              <a:t>評価軸 / WHAT THEY ASSESS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7899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3500" b="1" i="0">
                <a:solidFill>
                  <a:srgbClr val="1B2028"/>
                </a:solidFill>
                <a:latin typeface="Yu Gothic"/>
              </a:rPr>
              <a:t>Uberが見る3つの能力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02996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444D5A"/>
                </a:solidFill>
                <a:latin typeface="Yu Gothic"/>
              </a:rPr>
              <a:t>技術力・設計力・人間力の3点で総合評価される。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788920"/>
            <a:ext cx="3259226" cy="324612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2788920"/>
            <a:ext cx="3259226" cy="82296"/>
          </a:xfrm>
          <a:prstGeom prst="rect">
            <a:avLst/>
          </a:prstGeom>
          <a:solidFill>
            <a:srgbClr val="3D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3099815"/>
            <a:ext cx="271058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B2028"/>
                </a:solidFill>
                <a:latin typeface="Yu Gothic"/>
              </a:rPr>
              <a:t>ソフトウェア工学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3995928"/>
            <a:ext cx="271058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0" i="0">
                <a:solidFill>
                  <a:srgbClr val="444D5A"/>
                </a:solidFill>
                <a:latin typeface="Yu Gothic"/>
              </a:rPr>
              <a:t>•  データ構造・アルゴリズム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0" i="0">
                <a:solidFill>
                  <a:srgbClr val="444D5A"/>
                </a:solidFill>
                <a:latin typeface="Yu Gothic"/>
              </a:rPr>
              <a:t>•  テストと可読性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0" i="0">
                <a:solidFill>
                  <a:srgbClr val="444D5A"/>
                </a:solidFill>
                <a:latin typeface="Yu Gothic"/>
              </a:rPr>
              <a:t>•  設計パターンの理解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5193792"/>
            <a:ext cx="3259226" cy="841248"/>
          </a:xfrm>
          <a:prstGeom prst="rect">
            <a:avLst/>
          </a:prstGeom>
          <a:solidFill>
            <a:srgbClr val="E8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5376672"/>
            <a:ext cx="27105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C384D"/>
                </a:solidFill>
                <a:latin typeface="Yu Gothic"/>
              </a:rPr>
              <a:t>“動く”だけでなく“良い”コード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66234" y="2788920"/>
            <a:ext cx="3259226" cy="324612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66234" y="2788920"/>
            <a:ext cx="3259226" cy="82296"/>
          </a:xfrm>
          <a:prstGeom prst="rect">
            <a:avLst/>
          </a:prstGeom>
          <a:solidFill>
            <a:srgbClr val="3D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40554" y="3099815"/>
            <a:ext cx="271058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B2028"/>
                </a:solidFill>
                <a:latin typeface="Yu Gothic"/>
              </a:rPr>
              <a:t>設計・アーキテクチャ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0554" y="3995928"/>
            <a:ext cx="271058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0" i="0">
                <a:solidFill>
                  <a:srgbClr val="444D5A"/>
                </a:solidFill>
                <a:latin typeface="Yu Gothic"/>
              </a:rPr>
              <a:t>•  システム/プロダクト設計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0" i="0">
                <a:solidFill>
                  <a:srgbClr val="444D5A"/>
                </a:solidFill>
                <a:latin typeface="Yu Gothic"/>
              </a:rPr>
              <a:t>•  トレードオフの判断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0" i="0">
                <a:solidFill>
                  <a:srgbClr val="444D5A"/>
                </a:solidFill>
                <a:latin typeface="Yu Gothic"/>
              </a:rPr>
              <a:t>•  拡張性・将来要件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66234" y="5193792"/>
            <a:ext cx="3259226" cy="841248"/>
          </a:xfrm>
          <a:prstGeom prst="rect">
            <a:avLst/>
          </a:prstGeom>
          <a:solidFill>
            <a:srgbClr val="E8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40554" y="5376672"/>
            <a:ext cx="27105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C384D"/>
                </a:solidFill>
                <a:latin typeface="Yu Gothic"/>
              </a:rPr>
              <a:t>制約を踏まえた現実的な設計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1220" y="2788920"/>
            <a:ext cx="3259226" cy="324612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1220" y="2788920"/>
            <a:ext cx="3259226" cy="82296"/>
          </a:xfrm>
          <a:prstGeom prst="rect">
            <a:avLst/>
          </a:prstGeom>
          <a:solidFill>
            <a:srgbClr val="3D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5540" y="3099815"/>
            <a:ext cx="271058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B2028"/>
                </a:solidFill>
                <a:latin typeface="Yu Gothic"/>
              </a:rPr>
              <a:t>協働・リーダーシップ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5540" y="3995928"/>
            <a:ext cx="271058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0" i="0">
                <a:solidFill>
                  <a:srgbClr val="444D5A"/>
                </a:solidFill>
                <a:latin typeface="Yu Gothic"/>
              </a:rPr>
              <a:t>•  他チームとの連携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0" i="0">
                <a:solidFill>
                  <a:srgbClr val="444D5A"/>
                </a:solidFill>
                <a:latin typeface="Yu Gothic"/>
              </a:rPr>
              <a:t>•  巻き込みと支援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0" i="0">
                <a:solidFill>
                  <a:srgbClr val="444D5A"/>
                </a:solidFill>
                <a:latin typeface="Yu Gothic"/>
              </a:rPr>
              <a:t>•  影響範囲の広さ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91220" y="5193792"/>
            <a:ext cx="3259226" cy="841248"/>
          </a:xfrm>
          <a:prstGeom prst="rect">
            <a:avLst/>
          </a:prstGeom>
          <a:solidFill>
            <a:srgbClr val="E8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5540" y="5376672"/>
            <a:ext cx="27105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C384D"/>
                </a:solidFill>
                <a:latin typeface="Yu Gothic"/>
              </a:rPr>
              <a:t>一人で速いより、チームで強い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8A93A1"/>
                </a:solidFill>
                <a:latin typeface="Yu Gothic"/>
              </a:rPr>
              <a:t>NEXT ▶ ラウンド別の準備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566928"/>
            <a:ext cx="64008" cy="384048"/>
          </a:xfrm>
          <a:prstGeom prst="rect">
            <a:avLst/>
          </a:prstGeom>
          <a:solidFill>
            <a:srgbClr val="3D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5486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8A93A1"/>
                </a:solidFill>
                <a:latin typeface="Yu Gothic"/>
              </a:rPr>
              <a:t>数字で把握 / 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7899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3500" b="1" i="0">
                <a:solidFill>
                  <a:srgbClr val="1B2028"/>
                </a:solidFill>
                <a:latin typeface="Yu Gothic"/>
              </a:rPr>
              <a:t>準備の目安となる数字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02996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444D5A"/>
                </a:solidFill>
                <a:latin typeface="Yu Gothic"/>
              </a:rPr>
              <a:t>時間配分を体に染み込ませておく。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788920"/>
            <a:ext cx="2352979" cy="274320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91839"/>
            <a:ext cx="198721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3400" b="1" i="0">
                <a:solidFill>
                  <a:srgbClr val="3D4E6B"/>
                </a:solidFill>
                <a:latin typeface="Yu Gothic"/>
              </a:rPr>
              <a:t>45〜60分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617720"/>
            <a:ext cx="19872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 i="0">
                <a:solidFill>
                  <a:srgbClr val="444D5A"/>
                </a:solidFill>
                <a:latin typeface="Yu Gothic"/>
              </a:rPr>
              <a:t>1ラウンドの所要時間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59987" y="2788920"/>
            <a:ext cx="2352979" cy="274320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2867" y="3291839"/>
            <a:ext cx="198721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6000" b="1" i="0">
                <a:solidFill>
                  <a:srgbClr val="3D4E6B"/>
                </a:solidFill>
                <a:latin typeface="Times New Roman"/>
              </a:rPr>
              <a:t>4〜6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2867" y="4617720"/>
            <a:ext cx="19872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 i="0">
                <a:solidFill>
                  <a:srgbClr val="444D5A"/>
                </a:solidFill>
                <a:latin typeface="Yu Gothic"/>
              </a:rPr>
              <a:t>オンサイトの</a:t>
            </a:r>
          </a:p>
          <a:p>
            <a:pPr algn="ctr">
              <a:lnSpc>
                <a:spcPct val="125000"/>
              </a:lnSpc>
            </a:pPr>
            <a:r>
              <a:rPr sz="1600" b="0" i="0">
                <a:solidFill>
                  <a:srgbClr val="444D5A"/>
                </a:solidFill>
                <a:latin typeface="Yu Gothic"/>
              </a:rPr>
              <a:t>ラウンド数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788920"/>
            <a:ext cx="2352979" cy="274320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1607" y="3291839"/>
            <a:ext cx="198721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3400" b="1" i="0">
                <a:solidFill>
                  <a:srgbClr val="3D4E6B"/>
                </a:solidFill>
                <a:latin typeface="Yu Gothic"/>
              </a:rPr>
              <a:t>30〜40分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607" y="4617720"/>
            <a:ext cx="19872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 i="0">
                <a:solidFill>
                  <a:srgbClr val="444D5A"/>
                </a:solidFill>
                <a:latin typeface="Yu Gothic"/>
              </a:rPr>
              <a:t>コーディング1問に</a:t>
            </a:r>
          </a:p>
          <a:p>
            <a:pPr algn="ctr">
              <a:lnSpc>
                <a:spcPct val="125000"/>
              </a:lnSpc>
            </a:pPr>
            <a:r>
              <a:rPr sz="1600" b="0" i="0">
                <a:solidFill>
                  <a:srgbClr val="444D5A"/>
                </a:solidFill>
                <a:latin typeface="Yu Gothic"/>
              </a:rPr>
              <a:t>かける目安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97467" y="2788920"/>
            <a:ext cx="2352979" cy="274320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0347" y="3291839"/>
            <a:ext cx="198721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4600" b="1" i="0">
                <a:solidFill>
                  <a:srgbClr val="3D4E6B"/>
                </a:solidFill>
                <a:latin typeface="Yu Gothic"/>
              </a:rPr>
              <a:t>3〜6週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0347" y="4617720"/>
            <a:ext cx="19872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 i="0">
                <a:solidFill>
                  <a:srgbClr val="444D5A"/>
                </a:solidFill>
                <a:latin typeface="Yu Gothic"/>
              </a:rPr>
              <a:t>応募から結果までの</a:t>
            </a:r>
          </a:p>
          <a:p>
            <a:pPr algn="ctr">
              <a:lnSpc>
                <a:spcPct val="125000"/>
              </a:lnSpc>
            </a:pPr>
            <a:r>
              <a:rPr sz="1600" b="0" i="0">
                <a:solidFill>
                  <a:srgbClr val="444D5A"/>
                </a:solidFill>
                <a:latin typeface="Yu Gothic"/>
              </a:rPr>
              <a:t>標準的な期間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8A93A1"/>
                </a:solidFill>
                <a:latin typeface="Yu Gothic"/>
              </a:rPr>
              <a:t>NEXT ▶ コーディング対策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566928"/>
            <a:ext cx="64008" cy="384048"/>
          </a:xfrm>
          <a:prstGeom prst="rect">
            <a:avLst/>
          </a:prstGeom>
          <a:solidFill>
            <a:srgbClr val="3D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5486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8A93A1"/>
                </a:solidFill>
                <a:latin typeface="Yu Gothic"/>
              </a:rPr>
              <a:t>ラウンド対策① /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7899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3500" b="1" i="0">
                <a:solidFill>
                  <a:srgbClr val="1B2028"/>
                </a:solidFill>
                <a:latin typeface="Yu Gothic"/>
              </a:rPr>
              <a:t>コーディングは「過程」を見せる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02996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444D5A"/>
                </a:solidFill>
                <a:latin typeface="Yu Gothic"/>
              </a:rPr>
              <a:t>正解より、考え方・コミュニケーション・詰めの丁寧さ。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606040"/>
            <a:ext cx="1032631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100" b="0" i="0">
                <a:solidFill>
                  <a:srgbClr val="444D5A"/>
                </a:solidFill>
                <a:latin typeface="Yu Gothic"/>
              </a:rPr>
              <a:t>•  まず要件と制約を口頭で確認し、入出力と例を固めてから書き始める。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100" b="0" i="0">
                <a:solidFill>
                  <a:srgbClr val="444D5A"/>
                </a:solidFill>
                <a:latin typeface="Yu Gothic"/>
              </a:rPr>
              <a:t>•  素直な解 → 計算量を述べる → 改善、の順で思考を声に出す。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100" b="0" i="0">
                <a:solidFill>
                  <a:srgbClr val="444D5A"/>
                </a:solidFill>
                <a:latin typeface="Yu Gothic"/>
              </a:rPr>
              <a:t>•  境界値・エラー処理・簡単なテストまでやり切る（中レベルが中心）。</a:t>
            </a:r>
          </a:p>
          <a:p>
            <a:pPr>
              <a:lnSpc>
                <a:spcPct val="120000"/>
              </a:lnSpc>
              <a:spcAft>
                <a:spcPts val="1500"/>
              </a:spcAft>
            </a:pPr>
            <a:r>
              <a:rPr sz="2100" b="0" i="0">
                <a:solidFill>
                  <a:srgbClr val="444D5A"/>
                </a:solidFill>
                <a:latin typeface="Yu Gothic"/>
              </a:rPr>
              <a:t>•  30〜40分で1問を解く感覚を、本番形式で時間を計って練習する。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8A93A1"/>
                </a:solidFill>
                <a:latin typeface="Yu Gothic"/>
              </a:rPr>
              <a:t>NEXT ▶ システム設計と行動面接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566928"/>
            <a:ext cx="64008" cy="384048"/>
          </a:xfrm>
          <a:prstGeom prst="rect">
            <a:avLst/>
          </a:prstGeom>
          <a:solidFill>
            <a:srgbClr val="3D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5486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8A93A1"/>
                </a:solidFill>
                <a:latin typeface="Yu Gothic"/>
              </a:rPr>
              <a:t>ラウンド対策② / DESIGN &amp; BEHAVIORAL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7899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3500" b="1" i="0">
                <a:solidFill>
                  <a:srgbClr val="1B2028"/>
                </a:solidFill>
                <a:latin typeface="Yu Gothic"/>
              </a:rPr>
              <a:t>設計と行動面接の型を持つ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02996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444D5A"/>
                </a:solidFill>
                <a:latin typeface="Yu Gothic"/>
              </a:rPr>
              <a:t>設計は手順を固定化し、行動はエピソードを在庫化する。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788920"/>
            <a:ext cx="3259226" cy="324612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2788920"/>
            <a:ext cx="3259226" cy="82296"/>
          </a:xfrm>
          <a:prstGeom prst="rect">
            <a:avLst/>
          </a:prstGeom>
          <a:solidFill>
            <a:srgbClr val="3D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3099815"/>
            <a:ext cx="271058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B2028"/>
                </a:solidFill>
                <a:latin typeface="Yu Gothic"/>
              </a:rPr>
              <a:t>システム設計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3995928"/>
            <a:ext cx="271058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0" i="0">
                <a:solidFill>
                  <a:srgbClr val="444D5A"/>
                </a:solidFill>
                <a:latin typeface="Yu Gothic"/>
              </a:rPr>
              <a:t>•  要件→規模→API→データ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0" i="0">
                <a:solidFill>
                  <a:srgbClr val="444D5A"/>
                </a:solidFill>
                <a:latin typeface="Yu Gothic"/>
              </a:rPr>
              <a:t>•  ボトルネックとスケール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0" i="0">
                <a:solidFill>
                  <a:srgbClr val="444D5A"/>
                </a:solidFill>
                <a:latin typeface="Yu Gothic"/>
              </a:rPr>
              <a:t>•  一貫性とのトレードオフ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5193792"/>
            <a:ext cx="3259226" cy="841248"/>
          </a:xfrm>
          <a:prstGeom prst="rect">
            <a:avLst/>
          </a:prstGeom>
          <a:solidFill>
            <a:srgbClr val="E8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5376672"/>
            <a:ext cx="27105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C384D"/>
                </a:solidFill>
                <a:latin typeface="Yu Gothic"/>
              </a:rPr>
              <a:t>“なぜその選択か”を語る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66234" y="2788920"/>
            <a:ext cx="3259226" cy="324612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66234" y="2788920"/>
            <a:ext cx="3259226" cy="82296"/>
          </a:xfrm>
          <a:prstGeom prst="rect">
            <a:avLst/>
          </a:prstGeom>
          <a:solidFill>
            <a:srgbClr val="3D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40554" y="3099815"/>
            <a:ext cx="271058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B2028"/>
                </a:solidFill>
                <a:latin typeface="Yu Gothic"/>
              </a:rPr>
              <a:t>行動面接 (STAR)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0554" y="3995928"/>
            <a:ext cx="271058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0" i="0">
                <a:solidFill>
                  <a:srgbClr val="444D5A"/>
                </a:solidFill>
                <a:latin typeface="Times New Roman"/>
              </a:rPr>
              <a:t>•  Situation / Task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0" i="0">
                <a:solidFill>
                  <a:srgbClr val="444D5A"/>
                </a:solidFill>
                <a:latin typeface="Times New Roman"/>
              </a:rPr>
              <a:t>•  Action / Result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0" i="0">
                <a:solidFill>
                  <a:srgbClr val="444D5A"/>
                </a:solidFill>
                <a:latin typeface="Yu Gothic"/>
              </a:rPr>
              <a:t>•  数字で成果を示す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66234" y="5193792"/>
            <a:ext cx="3259226" cy="841248"/>
          </a:xfrm>
          <a:prstGeom prst="rect">
            <a:avLst/>
          </a:prstGeom>
          <a:solidFill>
            <a:srgbClr val="E8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40554" y="5376672"/>
            <a:ext cx="27105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C384D"/>
                </a:solidFill>
                <a:latin typeface="Yu Gothic"/>
              </a:rPr>
              <a:t>具体エピソードを5本用意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1220" y="2788920"/>
            <a:ext cx="3259226" cy="324612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1220" y="2788920"/>
            <a:ext cx="3259226" cy="82296"/>
          </a:xfrm>
          <a:prstGeom prst="rect">
            <a:avLst/>
          </a:prstGeom>
          <a:solidFill>
            <a:srgbClr val="3D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5540" y="3099815"/>
            <a:ext cx="271058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B2028"/>
                </a:solidFill>
                <a:latin typeface="Yu Gothic"/>
              </a:rPr>
              <a:t>逆質問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5540" y="3995928"/>
            <a:ext cx="271058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0" i="0">
                <a:solidFill>
                  <a:srgbClr val="444D5A"/>
                </a:solidFill>
                <a:latin typeface="Yu Gothic"/>
              </a:rPr>
              <a:t>•  チーム・技術スタック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0" i="0">
                <a:solidFill>
                  <a:srgbClr val="444D5A"/>
                </a:solidFill>
                <a:latin typeface="Yu Gothic"/>
              </a:rPr>
              <a:t>•  成功の定義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0" i="0">
                <a:solidFill>
                  <a:srgbClr val="444D5A"/>
                </a:solidFill>
                <a:latin typeface="Yu Gothic"/>
              </a:rPr>
              <a:t>•  入社後90日の期待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91220" y="5193792"/>
            <a:ext cx="3259226" cy="841248"/>
          </a:xfrm>
          <a:prstGeom prst="rect">
            <a:avLst/>
          </a:prstGeom>
          <a:solidFill>
            <a:srgbClr val="E8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5540" y="5376672"/>
            <a:ext cx="27105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C384D"/>
                </a:solidFill>
                <a:latin typeface="Yu Gothic"/>
              </a:rPr>
              <a:t>意欲と相性を示す場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8A93A1"/>
                </a:solidFill>
                <a:latin typeface="Yu Gothic"/>
              </a:rPr>
              <a:t>NEXT ▶ 当日までの3つ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566928"/>
            <a:ext cx="64008" cy="384048"/>
          </a:xfrm>
          <a:prstGeom prst="rect">
            <a:avLst/>
          </a:prstGeom>
          <a:solidFill>
            <a:srgbClr val="3D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5486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8A93A1"/>
                </a:solidFill>
                <a:latin typeface="Yu Gothic"/>
              </a:rPr>
              <a:t>まとめ /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7899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3500" b="1" i="0">
                <a:solidFill>
                  <a:srgbClr val="1B2028"/>
                </a:solidFill>
                <a:latin typeface="Yu Gothic"/>
              </a:rPr>
              <a:t>本番までにやる3つ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697480"/>
            <a:ext cx="640080" cy="640080"/>
          </a:xfrm>
          <a:prstGeom prst="roundRect">
            <a:avLst/>
          </a:prstGeom>
          <a:solidFill>
            <a:srgbClr val="3D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8346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2300" b="1" i="0">
                <a:solidFill>
                  <a:srgbClr val="FFFFFF"/>
                </a:solidFill>
                <a:latin typeface="Times New Roman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1368" y="273405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B2028"/>
                </a:solidFill>
                <a:latin typeface="Yu Gothic"/>
              </a:rPr>
              <a:t>型を固定する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1368" y="3209544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44D5A"/>
                </a:solidFill>
                <a:latin typeface="Yu Gothic"/>
              </a:rPr>
              <a:t>コーディングと設計の進め方を“いつも同じ手順”にする。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3721608"/>
            <a:ext cx="640080" cy="640080"/>
          </a:xfrm>
          <a:prstGeom prst="roundRect">
            <a:avLst/>
          </a:prstGeom>
          <a:solidFill>
            <a:srgbClr val="3D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85876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2300" b="1" i="0">
                <a:solidFill>
                  <a:srgbClr val="FFFFFF"/>
                </a:solidFill>
                <a:latin typeface="Times New Roman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1368" y="375818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B2028"/>
                </a:solidFill>
                <a:latin typeface="Yu Gothic"/>
              </a:rPr>
              <a:t>エピソードを5本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423367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44D5A"/>
                </a:solidFill>
                <a:latin typeface="Yu Gothic"/>
              </a:rPr>
              <a:t>STARで語れる実績を、数字付きで準備しておく。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4745736"/>
            <a:ext cx="640080" cy="640080"/>
          </a:xfrm>
          <a:prstGeom prst="roundRect">
            <a:avLst/>
          </a:prstGeom>
          <a:solidFill>
            <a:srgbClr val="3D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882896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2300" b="1" i="0">
                <a:solidFill>
                  <a:srgbClr val="FFFFFF"/>
                </a:solidFill>
                <a:latin typeface="Times New Roman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01368" y="478231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B2028"/>
                </a:solidFill>
                <a:latin typeface="Yu Gothic"/>
              </a:rPr>
              <a:t>時間を計って模擬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1368" y="52578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44D5A"/>
                </a:solidFill>
                <a:latin typeface="Yu Gothic"/>
              </a:rPr>
              <a:t>本番形式で時間を計り、声に出して反復練習する。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5870448"/>
            <a:ext cx="10509199" cy="603504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59436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8A93A1"/>
                </a:solidFill>
                <a:latin typeface="Yu Gothic"/>
              </a:rPr>
              <a:t>SOURCES / 出典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6181344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44D5A"/>
                </a:solidFill>
                <a:latin typeface="Yu Gothic"/>
              </a:rPr>
              <a:t>Glassdoor / Exponent / Prepfully / InterviewBit ほか Uber SWE 選考ガイド・体験記（2024–2026）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