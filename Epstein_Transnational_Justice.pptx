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08A2B"/>
                </a:solidFill>
                <a:latin typeface="Calibri"/>
              </a:rPr>
              <a:t>TRANSNATIONAL CRIME &amp; THE LIMITS OF INTERNATIONAL JUSTICE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What the Epstein Case Reveals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1">
                <a:solidFill>
                  <a:srgbClr val="F2F4F7"/>
                </a:solidFill>
                <a:latin typeface="Calibri"/>
              </a:rPr>
              <a:t>A case study in cross-border exploitation, jurisdiction, and accountability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6B7682"/>
                </a:solidFill>
                <a:latin typeface="Calibri"/>
              </a:rPr>
              <a:t>Group Presentation  •  Faculty of Law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Our Central Question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1143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27632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1">
                <a:solidFill>
                  <a:srgbClr val="0F2A43"/>
                </a:solidFill>
                <a:latin typeface="Calibri"/>
              </a:rPr>
              <a:t>Why is transnational sexual exploitation so hard to prosecute — and what do</a:t>
            </a:r>
          </a:p>
          <a:p>
            <a:pPr algn="l">
              <a:lnSpc>
                <a:spcPct val="110000"/>
              </a:lnSpc>
            </a:pPr>
            <a:r>
              <a:rPr sz="1900" b="1" i="1">
                <a:solidFill>
                  <a:srgbClr val="0F2A43"/>
                </a:solidFill>
                <a:latin typeface="Calibri"/>
              </a:rPr>
              <a:t>international law and cross-border cooperation need in order to work?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260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Calibri"/>
              </a:rPr>
              <a:t>•  Part 1 — Framing &amp; the international scope of the case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Calibri"/>
              </a:rPr>
              <a:t>•  Part 2 — The international legal framework (Palermo Protocol, UNTOC, jurisdiction &amp; extradition)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Calibri"/>
              </a:rPr>
              <a:t>•  Part 3 — Wealth, mobility, and the problem of "elite impunity"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900">
                <a:solidFill>
                  <a:srgbClr val="334455"/>
                </a:solidFill>
                <a:latin typeface="Calibri"/>
              </a:rPr>
              <a:t>•  Part 4 — Accountability, transparency &amp; lessons (incl. a Japan comparison)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682"/>
                </a:solidFill>
                <a:latin typeface="Calibri"/>
              </a:rPr>
              <a:t>Note: This presentation centres victims and legal systems — not sensational detail.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Calibri"/>
              </a:rPr>
              <a:t>PART 1  •  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Why This Is an International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Who: </a:t>
            </a:r>
            <a:r>
              <a:rPr sz="1800">
                <a:solidFill>
                  <a:srgbClr val="334455"/>
                </a:solidFill>
                <a:latin typeface="Calibri"/>
              </a:rPr>
              <a:t>Jeffrey Epstein, a financier whose network spanned multiple countries.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2008: </a:t>
            </a:r>
            <a:r>
              <a:rPr sz="1800">
                <a:solidFill>
                  <a:srgbClr val="334455"/>
                </a:solidFill>
                <a:latin typeface="Calibri"/>
              </a:rPr>
              <a:t>A lenient Florida plea deal — state charges, limited accountability.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2019: </a:t>
            </a:r>
            <a:r>
              <a:rPr sz="1800">
                <a:solidFill>
                  <a:srgbClr val="334455"/>
                </a:solidFill>
                <a:latin typeface="Calibri"/>
              </a:rPr>
              <a:t>Federal sex-trafficking charges in New York; Epstein died in custody.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>
                <a:solidFill>
                  <a:srgbClr val="334455"/>
                </a:solidFill>
                <a:latin typeface="Calibri"/>
              </a:rPr>
              <a:t>•  Cross-border recruitment of victims, including minors and foreign nationals.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>
                <a:solidFill>
                  <a:srgbClr val="334455"/>
                </a:solidFill>
                <a:latin typeface="Calibri"/>
              </a:rPr>
              <a:t>•  Offshore wealth and properties across the US, US Virgin Islands and Paris.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>
                <a:solidFill>
                  <a:srgbClr val="334455"/>
                </a:solidFill>
                <a:latin typeface="Calibri"/>
              </a:rPr>
              <a:t>•  A globe-spanning social network of internationally prominent figures.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554480"/>
            <a:ext cx="393192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8A2B"/>
                </a:solidFill>
                <a:latin typeface="Calibri"/>
              </a:rPr>
              <a:t>WHY IT'S "INTERNATIONAL"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28600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Calibri"/>
              </a:rPr>
              <a:t>•  Victims moved across borders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Calibri"/>
              </a:rPr>
              <a:t>•  Money held offshore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Calibri"/>
              </a:rPr>
              <a:t>•  Multiple jurisdictions involved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Calibri"/>
              </a:rPr>
              <a:t>•  Foreign &amp; quasi-diplomatic figures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600">
                <a:solidFill>
                  <a:srgbClr val="334455"/>
                </a:solidFill>
                <a:latin typeface="Calibri"/>
              </a:rPr>
              <a:t>•  → A test for international justice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Calibri"/>
              </a:rPr>
              <a:t>PART 2  •  LEGAL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Trafficking as a Transnational Crime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UN Palermo Protocol (2000): </a:t>
            </a:r>
            <a:r>
              <a:rPr sz="1800">
                <a:solidFill>
                  <a:srgbClr val="334455"/>
                </a:solidFill>
                <a:latin typeface="Calibri"/>
              </a:rPr>
              <a:t>Defines trafficking in persons and obliges states to criminalise it.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UN Convention against Transnational Organized Crime (UNTOC): </a:t>
            </a:r>
            <a:r>
              <a:rPr sz="1800">
                <a:solidFill>
                  <a:srgbClr val="334455"/>
                </a:solidFill>
                <a:latin typeface="Calibri"/>
              </a:rPr>
              <a:t>The parent framework for cooperation.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Jurisdiction: </a:t>
            </a:r>
            <a:r>
              <a:rPr sz="1800">
                <a:solidFill>
                  <a:srgbClr val="334455"/>
                </a:solidFill>
                <a:latin typeface="Calibri"/>
              </a:rPr>
              <a:t>Which state may prosecute when conduct spans several countries?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Extradition &amp; MLATs: </a:t>
            </a:r>
            <a:r>
              <a:rPr sz="1800">
                <a:solidFill>
                  <a:srgbClr val="334455"/>
                </a:solidFill>
                <a:latin typeface="Calibri"/>
              </a:rPr>
              <a:t>Mutual Legal Assistance Treaties enable evidence-sharing across borders.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Foreign nationals: </a:t>
            </a:r>
            <a:r>
              <a:rPr sz="1800">
                <a:solidFill>
                  <a:srgbClr val="334455"/>
                </a:solidFill>
                <a:latin typeface="Calibri"/>
              </a:rPr>
              <a:t>Ghislaine Maxwell (UK) — convicted 2021 of sex-trafficking conspiracy.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Quasi-diplomatic complications: </a:t>
            </a:r>
            <a:r>
              <a:rPr sz="1800">
                <a:solidFill>
                  <a:srgbClr val="334455"/>
                </a:solidFill>
                <a:latin typeface="Calibri"/>
              </a:rPr>
              <a:t>Prince Andrew settled a US civil case (2022) and later lost titles.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1">
                <a:solidFill>
                  <a:srgbClr val="0F2A43"/>
                </a:solidFill>
                <a:latin typeface="Calibri"/>
              </a:rPr>
              <a:t>Takeaway: The law exists — the difficulty is coordinating sovereign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Calibri"/>
              </a:rPr>
              <a:t>PART 3  •  WEALTH &amp; MOBILITY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How Wealth Enabled "Elite Impunity"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>
                <a:solidFill>
                  <a:srgbClr val="334455"/>
                </a:solidFill>
                <a:latin typeface="Calibri"/>
              </a:rPr>
              <a:t>•  Offshore structures and private wealth obscured assets and ownership.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>
                <a:solidFill>
                  <a:srgbClr val="334455"/>
                </a:solidFill>
                <a:latin typeface="Calibri"/>
              </a:rPr>
              <a:t>•  Property in several jurisdictions enabled mobility and evasion.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Identity documents: </a:t>
            </a:r>
            <a:r>
              <a:rPr sz="1800">
                <a:solidFill>
                  <a:srgbClr val="334455"/>
                </a:solidFill>
                <a:latin typeface="Calibri"/>
              </a:rPr>
              <a:t>an expired passport bore Epstein's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Contrast: </a:t>
            </a:r>
            <a:r>
              <a:rPr sz="1800">
                <a:solidFill>
                  <a:srgbClr val="334455"/>
                </a:solidFill>
                <a:latin typeface="Calibri"/>
              </a:rPr>
              <a:t>the lenient 2008 outcome vs. the 2019 federal prosecution.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800">
                <a:solidFill>
                  <a:srgbClr val="334455"/>
                </a:solidFill>
                <a:latin typeface="Calibri"/>
              </a:rPr>
              <a:t>•  Maxwell's 2021 conviction showed accountability is possible — but slow.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554480"/>
            <a:ext cx="393192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8A2B"/>
                </a:solidFill>
                <a:latin typeface="Calibri"/>
              </a:rPr>
              <a:t>COMPARATIVE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77440"/>
            <a:ext cx="34747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34455"/>
                </a:solidFill>
                <a:latin typeface="Calibri"/>
              </a:rPr>
              <a:t>Would other legal systems — the UK, France, or Japan — have acted faster, or slower, against a defendant of comparable wealth and mobility?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Calibri"/>
              </a:rPr>
              <a:t>PART 4  • 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Transparency, Survivors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>
                <a:solidFill>
                  <a:srgbClr val="334455"/>
                </a:solidFill>
                <a:latin typeface="Calibri"/>
              </a:rPr>
              <a:t>•  2025 document-release wave under US transparency legislation brought new scrutiny.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Survivors' concern: </a:t>
            </a:r>
            <a:r>
              <a:rPr sz="1800">
                <a:solidFill>
                  <a:srgbClr val="334455"/>
                </a:solidFill>
                <a:latin typeface="Calibri"/>
              </a:rPr>
              <a:t>disclosures made it easy to identify victims — but not the enablers.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Lesson: </a:t>
            </a:r>
            <a:r>
              <a:rPr sz="1800">
                <a:solidFill>
                  <a:srgbClr val="334455"/>
                </a:solidFill>
                <a:latin typeface="Calibri"/>
              </a:rPr>
              <a:t>transparency must be designed to protect victims while exposing accountability.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Reform: </a:t>
            </a:r>
            <a:r>
              <a:rPr sz="1800">
                <a:solidFill>
                  <a:srgbClr val="334455"/>
                </a:solidFill>
                <a:latin typeface="Calibri"/>
              </a:rPr>
              <a:t>stronger MLATs, faster extradition, victim-centred disclosure, asset tracing.</a:t>
            </a:r>
          </a:p>
          <a:p>
            <a:pPr>
              <a:lnSpc>
                <a:spcPct val="105000"/>
              </a:lnSpc>
              <a:spcAft>
                <a:spcPts val="1500"/>
              </a:spcAft>
            </a:pPr>
            <a:r>
              <a:rPr sz="1800" b="1">
                <a:solidFill>
                  <a:srgbClr val="0F2A43"/>
                </a:solidFill>
                <a:latin typeface="Calibri"/>
              </a:rPr>
              <a:t>•  Japan comparison: </a:t>
            </a:r>
            <a:r>
              <a:rPr sz="1800">
                <a:solidFill>
                  <a:srgbClr val="334455"/>
                </a:solidFill>
                <a:latin typeface="Calibri"/>
              </a:rPr>
              <a:t>anti-trafficking framework &amp; US State Dept. TIP assessments offer a benchmark.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806440"/>
            <a:ext cx="11064240" cy="6858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925312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1">
                <a:solidFill>
                  <a:srgbClr val="FFFFFF"/>
                </a:solidFill>
                <a:latin typeface="Calibri"/>
              </a:rPr>
              <a:t>Closing: Justice across borders depends less on new laws than on the will to cooperate.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1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5544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Calibri"/>
              </a:rPr>
              <a:t>Crime crosses borders — justice often doesn't.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984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Calibri"/>
              </a:rPr>
              <a:t>Networks are global; enforcement is national.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697479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Calibri"/>
              </a:rPr>
              <a:t>The legal tools exist.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27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Calibri"/>
              </a:rPr>
              <a:t>Palermo &amp; UNTOC provide the framework; coordination is the gap.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94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59352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8404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Calibri"/>
              </a:rPr>
              <a:t>Wealth buys time, not immunity.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270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Calibri"/>
              </a:rPr>
              <a:t>Mobility delayed — but did not prevent — accountability.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37760"/>
            <a:ext cx="777240" cy="9601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02352"/>
            <a:ext cx="777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983480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0F2A43"/>
                </a:solidFill>
                <a:latin typeface="Calibri"/>
              </a:rPr>
              <a:t>Transparency must protect victims.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5413248"/>
            <a:ext cx="9875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334455"/>
                </a:solidFill>
                <a:latin typeface="Calibri"/>
              </a:rPr>
              <a:t>Disclosure should expose enablers, not endanger survivors.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1">
                <a:solidFill>
                  <a:srgbClr val="F2F4F7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Calibri"/>
              </a:rPr>
              <a:t>SELECTED SOURCES &amp; INSTRUMENTS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3474720"/>
            <a:ext cx="6400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Calibri"/>
              </a:rPr>
              <a:t>•  UN Protocol to Prevent, Suppress and Punish Trafficking in Persons (Palermo Protocol, 2000)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Calibri"/>
              </a:rPr>
              <a:t>•  UN Convention against Transnational Organized Crime (UNTOC)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Calibri"/>
              </a:rPr>
              <a:t>•  US Dept. of Justice filings: US v. Epstein (2019); US v. Maxwell (2021)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Calibri"/>
              </a:rPr>
              <a:t>•  US State Department Trafficking in Persons (TIP) Reports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00">
                <a:solidFill>
                  <a:srgbClr val="F2F4F7"/>
                </a:solidFill>
                <a:latin typeface="Calibri"/>
              </a:rPr>
              <a:t>•  Contemporary news reporting on 2025 document disclosures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