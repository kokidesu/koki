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TRANSNATIONAL CRIME &amp; THE LIMITS OF INTERNATIONAL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720" b="1" i="0">
                <a:solidFill>
                  <a:srgbClr val="FFFFFF"/>
                </a:solidFill>
                <a:latin typeface="Times New Roman"/>
              </a:rPr>
              <a:t>What the Epstein Case Reveals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4247" y="3767328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A case study in cross-border exploitation, jurisdiction, and accountability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347" y="4526280"/>
            <a:ext cx="11430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989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34" b="0" i="0">
                <a:solidFill>
                  <a:srgbClr val="909CAA"/>
                </a:solidFill>
                <a:latin typeface="Times New Roman"/>
              </a:rPr>
              <a:t>Group Presentation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Our Central Question &amp; Roadmap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508760"/>
            <a:ext cx="11091672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128016" cy="10972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42" b="1" i="1">
                <a:solidFill>
                  <a:srgbClr val="0F2A43"/>
                </a:solidFill>
                <a:latin typeface="Times New Roman"/>
              </a:rPr>
              <a:t>Why is transnational sexual exploitation so hard to prosecute — and what do international law and cross-border cooperation need in order to work?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1 — Framing &amp; the international scope of the case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2 — The international legal framework (Palermo Protocol, UNTOC, jurisdiction &amp; extradition)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3 — Wealth, mobility, and the problem of "elite impunity"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4 — Accountability, transparency &amp; lessons (incl. a Japan comparison)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This presentation centres victims and legal systems — not sensational detail.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1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Framing &amp; the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International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Who Epstein was — and why this case crosses borders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Who Was Jeffrey Epstein?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A US financier who built extraordinary wealth and a network of powerful international contacts.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2005–06: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Palm Beach (Florida) police investigation into abuse of minors.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2008: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controversial state plea deal; he registered as a sex offender.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2019: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Arrested on federal sex-trafficking charges in New York.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Died in custody in August 2019 (ruled a suicide) — ending the criminal case against him.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WHY HE MATTERS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88" b="0" i="1">
                <a:solidFill>
                  <a:srgbClr val="334455"/>
                </a:solidFill>
                <a:latin typeface="Times New Roman"/>
              </a:rPr>
              <a:t>His death meant accountability had to be pursued through others — and across borders. The case became a test of how legal systems cooperate.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crime was global; the criminal case ended at one nation's border.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CHRONOLOGY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A Case That Spanned Two Decades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943100" y="2706624"/>
            <a:ext cx="8311896" cy="457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15668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Florida state plea deal — widely criticised as lenient.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6300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Federal trafficking charges in New York; death in custody.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6932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1344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Ghislaine Maxwell convicted of sex-trafficking conspiracy.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27564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1976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Document-release wave renews scrutiny and debate.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From a local plea bargain to a global question about justice, wealth and cross-border accountability.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Why This Is an International Story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Recruitment: </a:t>
            </a:r>
            <a:r>
              <a:rPr sz="2124">
                <a:solidFill>
                  <a:srgbClr val="334455"/>
                </a:solidFill>
                <a:latin typeface="Times New Roman"/>
              </a:rPr>
              <a:t>victims, including minors and foreign nationals, moved across borders.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Finance: </a:t>
            </a:r>
            <a:r>
              <a:rPr sz="2124">
                <a:solidFill>
                  <a:srgbClr val="334455"/>
                </a:solidFill>
                <a:latin typeface="Times New Roman"/>
              </a:rPr>
              <a:t>wealth held through offshore structures, obscuring ownership.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Property: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residences across the US, the US Virgin Islands and Paris.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Identity: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an expired passport bore his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Network: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associates spanning several countries and high office.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THE CORE TENSION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88" b="0" i="1">
                <a:solidFill>
                  <a:srgbClr val="334455"/>
                </a:solidFill>
                <a:latin typeface="Times New Roman"/>
              </a:rPr>
              <a:t>The network was global, but criminal enforcement is national. That gap is the heart of our presentation.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A global network meets national enforcement — and falls through the gaps.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2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The International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Legal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international law addresses crime that crosses borders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What Makes a Crime "Transnational"?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Committed in more than one state — or in one state but planned, directed or with effects in another.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Trafficking in persons is a paradigm case: it inherently moves people, money and evidence across borders.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Prosecuting it therefore requires more than one country's police, courts and laws to act together.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This is exactly where domestic systems, built for domestic crime, come under strain.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question is institutional, not just moral: can sovereign systems coordinate fast enough?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Palermo Protocol (2000)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Full name: </a:t>
            </a:r>
            <a:r>
              <a:rPr sz="2242">
                <a:solidFill>
                  <a:srgbClr val="334455"/>
                </a:solidFill>
                <a:latin typeface="Times New Roman"/>
              </a:rPr>
              <a:t>UN Protocol to Prevent, Suppress and Punish Trafficking in Persons.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First globally agreed definition of human trafficking.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Three elements: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act, the means, and the purpose of exploitation.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For children, the "means" element is not required — any recruitment for exploitation qualifies.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Obliges states parties to criminalise trafficking in their domestic law.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It gives 190+ states a shared vocabulary — a precondition for cooperation.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UNTOC &amp; Cross-Border Cooperation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Parent treaty: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UN Convention against Transnational Organized Crime.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The Palermo Protocol supplements it; the two operate together.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Provides a framework for extradition, mutual legal assistance and joint investigations.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Can serve as a legal basis for cooperation even where no bilateral treaty exists.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Encourages asset confiscation and protection of victims and witnesses.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In short: the machinery for international cooperation already exists on paper.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Jurisdiction, Extradition &amp; MLATs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Jurisdiction: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states may claim it by territory or by nationality of offender/victim.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Concurrent claims: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several states may have a right to prosecute the same conduct.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Extradition: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typically needs a treaty plus "dual criminality" (an offence in both states).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MLATs: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Mutual Legal Assistance Treaties move evidence, testimony and records across borders.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The friction: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requests are slow, can be refused, and stall when suspects are wealthy or well-connected.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tools exist — but speed and political will decide whether they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Foreign Nationals &amp; Quasi-Diplomatic Figures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Ghislaine Maxwell (UK): </a:t>
            </a:r>
            <a:r>
              <a:rPr sz="2242">
                <a:solidFill>
                  <a:srgbClr val="334455"/>
                </a:solidFill>
                <a:latin typeface="Times New Roman"/>
              </a:rPr>
              <a:t>convicted in 2021 of sex-trafficking conspiracy in a US court.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Prince Andrew: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settled a US civil claim in 2022 and later stepped back from royal titles.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High status confers no criminal immunity — but it can create practical and diplomatic hurdles.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Foreign nationality complicates arrest, extradition and the gathering of evidence abroad.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Stick to what is adjudicated: charges, a conviction, a settled civil case — not speculation.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3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Wealth, Mobility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&amp; Impunity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resources can delay — though not always defeat — accountability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Offshore Wealth &amp; Global Mobility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Offshore structures and trusts can obscure who really owns assets.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Property in several jurisdictions provides places to live, store value and move between.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Private travel reduces the friction and scrutiny of ordinary border crossings.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Multiple identity documents — including the false-name passport — illustrate evasion capacity.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Together these convert wealth into mobility, and mobility into delay.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None of this is unique to one man — it is how illicit elite wealth tends to behave.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"Elite Impunity": 2008 vs 2019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45920"/>
            <a:ext cx="5349240" cy="38862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2008 — FLORIDA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State-level plea deal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Served ~13 months, with work release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Non-prosecution agreement shielded others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Victims said they were not consulted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349240" cy="3886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2019 — FEDERAL (NY)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Federal sex-trafficking charges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Held without bail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Treated as serious organised wrongdoing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Case ended only with his death in custody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same conduct, two very different responses — a decade apart.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COMPARATIVE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Would Other Systems Have Acted Differently?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Adversarial vs inquisitorial: </a:t>
            </a:r>
            <a:r>
              <a:rPr sz="2242">
                <a:solidFill>
                  <a:srgbClr val="334455"/>
                </a:solidFill>
                <a:latin typeface="Times New Roman"/>
              </a:rPr>
              <a:t>France's investigating magistrates can drive cases differently from US prosecutors.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Victim participation: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some systems give victims a formal role earlier in proceedings.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Limitation periods: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how long after the abuse can charges still be brought?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Plea bargaining: </a:t>
            </a:r>
            <a:r>
              <a:rPr sz="2242">
                <a:solidFill>
                  <a:srgbClr val="334455"/>
                </a:solidFill>
                <a:latin typeface="Times New Roman"/>
              </a:rPr>
              <a:t>less central in many civil-law systems, changing the incentive to settle quietly.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Central question: would the UK, France or Japan have acted faster — or slower?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4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Accountability,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Transparency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Designing cross-border justice that actually protects victims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2025 Document-Release Wave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US transparency legislation drove a large release of case-related documents.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Intended to answer public demand for accountability and openness.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Survivors' concern: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disclosures made it easy to identify those abused — but not those who may have been involved.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A real tension emerges between public transparency and the privacy and safety of victims.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Transparency is not automatically just — its design determines who it protects.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Reform Proposals &amp; a Japan Comparison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Faster, better-resourced MLAT and extradition channels.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Victim-centred disclosure rules that shield identities by default.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Stronger cross-border asset tracing and recovery.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Harmonised definitions so cooperation isn't blocked by mismatched laws.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JAPAN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3317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</a:pPr>
            <a:r>
              <a:rPr sz="1770" b="0" i="1">
                <a:solidFill>
                  <a:srgbClr val="334455"/>
                </a:solidFill>
                <a:latin typeface="Times New Roman"/>
              </a:rPr>
              <a:t>Japan has an anti-trafficking action framework and is assessed annually in the US State Department's TIP Report — a useful benchmark for how a non-Western system measures up on cross-border cooperation.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Better justice across borders is mostly an engineering problem, not a gap in principle.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463040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51790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Crime crosses borders — justice often doesn't.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8366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Networks are global; enforcement is national.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95728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45059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The legal tools already exist.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81635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Palermo &amp; UNTOC provide the framework; coordination is the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28416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9300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832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Wealth buys time, not immunity.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7490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Mobility delayed — but did not finally prevent — accountability.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61104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2569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31596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Transparency must protect victims.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8172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Disclosure should expose enablers, not endanger survivors.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440680"/>
            <a:ext cx="128016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59552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97" b="1" i="0">
                <a:solidFill>
                  <a:srgbClr val="C08A2B"/>
                </a:solidFill>
                <a:latin typeface="Times New Roman"/>
              </a:rPr>
              <a:t>SELECTED SOURCES &amp; INSTRUMENTS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852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97" b="0" i="0">
                <a:solidFill>
                  <a:srgbClr val="334455"/>
                </a:solidFill>
                <a:latin typeface="Times New Roman"/>
              </a:rPr>
              <a:t>Palermo Protocol (2000) · UN Convention against Transnational Organized Crime · US DOJ filings (US v. Epstein 2019; US v. Maxwell 2021) · US State Dept. Trafficking in Persons Reports · contemporary reporting on 2025 disclosures.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