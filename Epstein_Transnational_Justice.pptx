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760" b="1" i="0">
                <a:solidFill>
                  <a:srgbClr val="C08A2B"/>
                </a:solidFill>
                <a:latin typeface="Times New Roman"/>
              </a:rPr>
              <a:t>TRANSNATIONAL CRIME &amp; THE LIMITS OF INTERNATIONAL JUSTICE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FFFFFF"/>
                </a:solidFill>
                <a:latin typeface="Times New Roman"/>
              </a:rPr>
              <a:t>What the Epstein Case Reveals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4724247" y="3767328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980" b="0" i="1">
                <a:solidFill>
                  <a:srgbClr val="F2F4F7"/>
                </a:solidFill>
                <a:latin typeface="Times New Roman"/>
              </a:rPr>
              <a:t>A case study in cross-border exploitation, jurisdiction, and accountability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893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1430" b="0" i="0">
                <a:solidFill>
                  <a:srgbClr val="909CAA"/>
                </a:solidFill>
                <a:latin typeface="Times New Roman"/>
              </a:rPr>
              <a:t>Group Presentation  •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30" b="1" i="0">
                <a:solidFill>
                  <a:srgbClr val="C08A2B"/>
                </a:solidFill>
                <a:latin typeface="Times New Roman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60" b="1" i="0">
                <a:solidFill>
                  <a:srgbClr val="FFFFFF"/>
                </a:solidFill>
                <a:latin typeface="Times New Roman"/>
              </a:rPr>
              <a:t>Our Central Question &amp; Roadmap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508760"/>
            <a:ext cx="11091672" cy="10972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128016" cy="109728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91640"/>
            <a:ext cx="106070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090" b="1" i="1">
                <a:solidFill>
                  <a:srgbClr val="0F2A43"/>
                </a:solidFill>
                <a:latin typeface="Times New Roman"/>
              </a:rPr>
              <a:t>Why is transnational sexual exploitation so hard to prosecute — and what do international law and cross-border cooperation need in order to work?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6324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90">
                <a:solidFill>
                  <a:srgbClr val="334455"/>
                </a:solidFill>
                <a:latin typeface="Times New Roman"/>
              </a:rPr>
              <a:t>•  Part 1 — Framing &amp; the international scope of the case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90">
                <a:solidFill>
                  <a:srgbClr val="334455"/>
                </a:solidFill>
                <a:latin typeface="Times New Roman"/>
              </a:rPr>
              <a:t>•  Part 2 — The international legal framework (Palermo Protocol, UNTOC, jurisdiction &amp; extradition)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90">
                <a:solidFill>
                  <a:srgbClr val="334455"/>
                </a:solidFill>
                <a:latin typeface="Times New Roman"/>
              </a:rPr>
              <a:t>•  Part 3 — Wealth, mobility, and the problem of "elite impunity"</a:t>
            </a:r>
          </a:p>
          <a:p>
            <a:pPr>
              <a:lnSpc>
                <a:spcPct val="105000"/>
              </a:lnSpc>
              <a:spcAft>
                <a:spcPts val="2000"/>
              </a:spcAft>
            </a:pPr>
            <a:r>
              <a:rPr sz="2090">
                <a:solidFill>
                  <a:srgbClr val="334455"/>
                </a:solidFill>
                <a:latin typeface="Times New Roman"/>
              </a:rPr>
              <a:t>•  Part 4 — Accountability, transparency &amp; lessons (incl. a Japan comparison)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1">
                <a:solidFill>
                  <a:srgbClr val="0F2A43"/>
                </a:solidFill>
                <a:latin typeface="Times New Roman"/>
              </a:rPr>
              <a:t>This presentation centres victims and legal systems — not sensational detail.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10" b="0" i="0">
                <a:solidFill>
                  <a:srgbClr val="6B7682"/>
                </a:solidFill>
                <a:latin typeface="Times New Roman"/>
              </a:rPr>
              <a:t>02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640080"/>
            <a:ext cx="4937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3100" b="1" i="0">
                <a:solidFill>
                  <a:srgbClr val="1C3A56"/>
                </a:solidFill>
                <a:latin typeface="Times New Roman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30" b="1" i="0">
                <a:solidFill>
                  <a:srgbClr val="C08A2B"/>
                </a:solidFill>
                <a:latin typeface="Times New Roman"/>
              </a:rPr>
              <a:t>SECTION 1 OF 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07792"/>
            <a:ext cx="749807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30" b="1" i="0">
                <a:solidFill>
                  <a:srgbClr val="FFFFFF"/>
                </a:solidFill>
                <a:latin typeface="Times New Roman"/>
              </a:rPr>
              <a:t>Framing &amp; the</a:t>
            </a:r>
          </a:p>
          <a:p>
            <a:pPr algn="l">
              <a:lnSpc>
                <a:spcPct val="100000"/>
              </a:lnSpc>
            </a:pPr>
            <a:r>
              <a:rPr sz="3630" b="1" i="0">
                <a:solidFill>
                  <a:srgbClr val="FFFFFF"/>
                </a:solidFill>
                <a:latin typeface="Times New Roman"/>
              </a:rPr>
              <a:t>International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80" b="0" i="1">
                <a:solidFill>
                  <a:srgbClr val="F2F4F7"/>
                </a:solidFill>
                <a:latin typeface="Times New Roman"/>
              </a:rPr>
              <a:t>Who Epstein was — and why this case crosses borders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10" b="0" i="0">
                <a:solidFill>
                  <a:srgbClr val="909CAA"/>
                </a:solidFill>
                <a:latin typeface="Times New Roman"/>
              </a:rPr>
              <a:t>03 / 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30" b="1" i="0">
                <a:solidFill>
                  <a:srgbClr val="C08A2B"/>
                </a:solidFill>
                <a:latin typeface="Times New Roman"/>
              </a:rPr>
              <a:t>PART 1  •  BACKGROUND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60" b="1" i="0">
                <a:solidFill>
                  <a:srgbClr val="FFFFFF"/>
                </a:solidFill>
                <a:latin typeface="Times New Roman"/>
              </a:rPr>
              <a:t>Who Was Jeffrey Epstein?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980">
                <a:solidFill>
                  <a:srgbClr val="334455"/>
                </a:solidFill>
                <a:latin typeface="Times New Roman"/>
              </a:rPr>
              <a:t>•  A US financier who built extraordinary wealth and a network of powerful international contacts.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980" b="1">
                <a:solidFill>
                  <a:srgbClr val="0F2A43"/>
                </a:solidFill>
                <a:latin typeface="Times New Roman"/>
              </a:rPr>
              <a:t>•  2005–06: </a:t>
            </a:r>
            <a:r>
              <a:rPr sz="1980">
                <a:solidFill>
                  <a:srgbClr val="334455"/>
                </a:solidFill>
                <a:latin typeface="Times New Roman"/>
              </a:rPr>
              <a:t>A Palm Beach (Florida) police investigation into abuse of minors.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980" b="1">
                <a:solidFill>
                  <a:srgbClr val="0F2A43"/>
                </a:solidFill>
                <a:latin typeface="Times New Roman"/>
              </a:rPr>
              <a:t>•  2008: </a:t>
            </a:r>
            <a:r>
              <a:rPr sz="1980">
                <a:solidFill>
                  <a:srgbClr val="334455"/>
                </a:solidFill>
                <a:latin typeface="Times New Roman"/>
              </a:rPr>
              <a:t>A controversial state plea deal; he registered as a sex offender.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980" b="1">
                <a:solidFill>
                  <a:srgbClr val="0F2A43"/>
                </a:solidFill>
                <a:latin typeface="Times New Roman"/>
              </a:rPr>
              <a:t>•  2019: </a:t>
            </a:r>
            <a:r>
              <a:rPr sz="1980">
                <a:solidFill>
                  <a:srgbClr val="334455"/>
                </a:solidFill>
                <a:latin typeface="Times New Roman"/>
              </a:rPr>
              <a:t>Arrested on federal sex-trafficking charges in New York.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980">
                <a:solidFill>
                  <a:srgbClr val="334455"/>
                </a:solidFill>
                <a:latin typeface="Times New Roman"/>
              </a:rPr>
              <a:t>•  Died in custody in August 2019 (ruled a suicide) — ending the criminal case against him.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26679" y="1600200"/>
            <a:ext cx="3913632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128016" cy="3977639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8288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40" b="1" i="0">
                <a:solidFill>
                  <a:srgbClr val="C08A2B"/>
                </a:solidFill>
                <a:latin typeface="Times New Roman"/>
              </a:rPr>
              <a:t>WHY HE MATTERS HERE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331720"/>
            <a:ext cx="3474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60" b="0" i="1">
                <a:solidFill>
                  <a:srgbClr val="334455"/>
                </a:solidFill>
                <a:latin typeface="Times New Roman"/>
              </a:rPr>
              <a:t>His death meant accountability had to be pursued through others — and across borders. The case became a test of how legal systems cooperate.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1">
                <a:solidFill>
                  <a:srgbClr val="0F2A43"/>
                </a:solidFill>
                <a:latin typeface="Times New Roman"/>
              </a:rPr>
              <a:t>The crime was global; the criminal case ended at one nation's border.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10" b="0" i="0">
                <a:solidFill>
                  <a:srgbClr val="6B7682"/>
                </a:solidFill>
                <a:latin typeface="Times New Roman"/>
              </a:rPr>
              <a:t>04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30" b="1" i="0">
                <a:solidFill>
                  <a:srgbClr val="C08A2B"/>
                </a:solidFill>
                <a:latin typeface="Times New Roman"/>
              </a:rPr>
              <a:t>PART 1  •  CHRONOLOGY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60" b="1" i="0">
                <a:solidFill>
                  <a:srgbClr val="FFFFFF"/>
                </a:solidFill>
                <a:latin typeface="Times New Roman"/>
              </a:rPr>
              <a:t>A Case That Spanned Two Decades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943100" y="2706624"/>
            <a:ext cx="8311896" cy="4572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331720"/>
            <a:ext cx="2606040" cy="77724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487168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3080" b="1" i="0">
                <a:solidFill>
                  <a:srgbClr val="FFFFFF"/>
                </a:solidFill>
                <a:latin typeface="Times New Roman"/>
              </a:rPr>
              <a:t>2008</a:t>
            </a:r>
          </a:p>
        </p:txBody>
      </p:sp>
      <p:sp>
        <p:nvSpPr>
          <p:cNvPr id="9" name="Rectangle 8"/>
          <p:cNvSpPr/>
          <p:nvPr/>
        </p:nvSpPr>
        <p:spPr>
          <a:xfrm>
            <a:off x="1915668" y="3108960"/>
            <a:ext cx="54864" cy="301752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538728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40" b="0" i="0">
                <a:solidFill>
                  <a:srgbClr val="334455"/>
                </a:solidFill>
                <a:latin typeface="Times New Roman"/>
              </a:rPr>
              <a:t>Florida state plea deal — widely criticised as lenient.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2331720"/>
            <a:ext cx="2606040" cy="77724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0712" y="2487168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3080" b="1" i="0">
                <a:solidFill>
                  <a:srgbClr val="FFFFFF"/>
                </a:solidFill>
                <a:latin typeface="Times New Roman"/>
              </a:rPr>
              <a:t>2019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86300" y="3108960"/>
            <a:ext cx="54864" cy="301752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10712" y="3538728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40" b="0" i="0">
                <a:solidFill>
                  <a:srgbClr val="334455"/>
                </a:solidFill>
                <a:latin typeface="Times New Roman"/>
              </a:rPr>
              <a:t>Federal trafficking charges in New York; death in custody.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1344" y="2331720"/>
            <a:ext cx="2606040" cy="77724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2487168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3080" b="1" i="0">
                <a:solidFill>
                  <a:srgbClr val="FFFFFF"/>
                </a:solidFill>
                <a:latin typeface="Times New Roman"/>
              </a:rPr>
              <a:t>2021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56932" y="3108960"/>
            <a:ext cx="54864" cy="301752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81344" y="3538728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40" b="0" i="0">
                <a:solidFill>
                  <a:srgbClr val="334455"/>
                </a:solidFill>
                <a:latin typeface="Times New Roman"/>
              </a:rPr>
              <a:t>Ghislaine Maxwell convicted of sex-trafficking conspiracy.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51976" y="2331720"/>
            <a:ext cx="2606040" cy="77724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51976" y="2487168"/>
            <a:ext cx="2606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3080" b="1" i="0">
                <a:solidFill>
                  <a:srgbClr val="FFFFFF"/>
                </a:solidFill>
                <a:latin typeface="Times New Roman"/>
              </a:rPr>
              <a:t>2025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27564" y="3108960"/>
            <a:ext cx="54864" cy="301752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51976" y="3538728"/>
            <a:ext cx="2606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40" b="0" i="0">
                <a:solidFill>
                  <a:srgbClr val="334455"/>
                </a:solidFill>
                <a:latin typeface="Times New Roman"/>
              </a:rPr>
              <a:t>Document-release wave renews scrutiny and debate.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1">
                <a:solidFill>
                  <a:srgbClr val="0F2A43"/>
                </a:solidFill>
                <a:latin typeface="Times New Roman"/>
              </a:rPr>
              <a:t>From a local plea bargain to a global question about justice, wealth and cross-border accountability.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10" b="0" i="0">
                <a:solidFill>
                  <a:srgbClr val="6B7682"/>
                </a:solidFill>
                <a:latin typeface="Times New Roman"/>
              </a:rPr>
              <a:t>05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30" b="1" i="0">
                <a:solidFill>
                  <a:srgbClr val="C08A2B"/>
                </a:solidFill>
                <a:latin typeface="Times New Roman"/>
              </a:rPr>
              <a:t>PART 1  • 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60" b="1" i="0">
                <a:solidFill>
                  <a:srgbClr val="FFFFFF"/>
                </a:solidFill>
                <a:latin typeface="Times New Roman"/>
              </a:rPr>
              <a:t>Why This Is an International 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980" b="1">
                <a:solidFill>
                  <a:srgbClr val="0F2A43"/>
                </a:solidFill>
                <a:latin typeface="Times New Roman"/>
              </a:rPr>
              <a:t>•  Recruitment: </a:t>
            </a:r>
            <a:r>
              <a:rPr sz="1980">
                <a:solidFill>
                  <a:srgbClr val="334455"/>
                </a:solidFill>
                <a:latin typeface="Times New Roman"/>
              </a:rPr>
              <a:t>victims, including minors and foreign nationals, moved across borders.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980" b="1">
                <a:solidFill>
                  <a:srgbClr val="0F2A43"/>
                </a:solidFill>
                <a:latin typeface="Times New Roman"/>
              </a:rPr>
              <a:t>•  Finance: </a:t>
            </a:r>
            <a:r>
              <a:rPr sz="1980">
                <a:solidFill>
                  <a:srgbClr val="334455"/>
                </a:solidFill>
                <a:latin typeface="Times New Roman"/>
              </a:rPr>
              <a:t>wealth held through offshore structures, obscuring ownership.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980" b="1">
                <a:solidFill>
                  <a:srgbClr val="0F2A43"/>
                </a:solidFill>
                <a:latin typeface="Times New Roman"/>
              </a:rPr>
              <a:t>•  Property: </a:t>
            </a:r>
            <a:r>
              <a:rPr sz="1980">
                <a:solidFill>
                  <a:srgbClr val="334455"/>
                </a:solidFill>
                <a:latin typeface="Times New Roman"/>
              </a:rPr>
              <a:t>residences across the US, the US Virgin Islands and Paris.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980" b="1">
                <a:solidFill>
                  <a:srgbClr val="0F2A43"/>
                </a:solidFill>
                <a:latin typeface="Times New Roman"/>
              </a:rPr>
              <a:t>•  Identity: </a:t>
            </a:r>
            <a:r>
              <a:rPr sz="1980">
                <a:solidFill>
                  <a:srgbClr val="334455"/>
                </a:solidFill>
                <a:latin typeface="Times New Roman"/>
              </a:rPr>
              <a:t>an expired passport bore his photo, a false name, and listed Saudi Arabia as residence.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980" b="1">
                <a:solidFill>
                  <a:srgbClr val="0F2A43"/>
                </a:solidFill>
                <a:latin typeface="Times New Roman"/>
              </a:rPr>
              <a:t>•  Network: </a:t>
            </a:r>
            <a:r>
              <a:rPr sz="1980">
                <a:solidFill>
                  <a:srgbClr val="334455"/>
                </a:solidFill>
                <a:latin typeface="Times New Roman"/>
              </a:rPr>
              <a:t>associates spanning several countries and high office.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26679" y="1600200"/>
            <a:ext cx="3913632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128016" cy="3977639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8288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40" b="1" i="0">
                <a:solidFill>
                  <a:srgbClr val="C08A2B"/>
                </a:solidFill>
                <a:latin typeface="Times New Roman"/>
              </a:rPr>
              <a:t>THE CORE TENSION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331720"/>
            <a:ext cx="34747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760" b="0" i="1">
                <a:solidFill>
                  <a:srgbClr val="334455"/>
                </a:solidFill>
                <a:latin typeface="Times New Roman"/>
              </a:rPr>
              <a:t>The network was global, but criminal enforcement is national. That gap is the heart of our presentation.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1">
                <a:solidFill>
                  <a:srgbClr val="0F2A43"/>
                </a:solidFill>
                <a:latin typeface="Times New Roman"/>
              </a:rPr>
              <a:t>A global network meets national enforcement — and falls through the gaps.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10" b="0" i="0">
                <a:solidFill>
                  <a:srgbClr val="6B7682"/>
                </a:solidFill>
                <a:latin typeface="Times New Roman"/>
              </a:rPr>
              <a:t>06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640080"/>
            <a:ext cx="4937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3100" b="1" i="0">
                <a:solidFill>
                  <a:srgbClr val="1C3A56"/>
                </a:solidFill>
                <a:latin typeface="Times New Roman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30" b="1" i="0">
                <a:solidFill>
                  <a:srgbClr val="C08A2B"/>
                </a:solidFill>
                <a:latin typeface="Times New Roman"/>
              </a:rPr>
              <a:t>SECTION 2 OF 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07792"/>
            <a:ext cx="749807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30" b="1" i="0">
                <a:solidFill>
                  <a:srgbClr val="FFFFFF"/>
                </a:solidFill>
                <a:latin typeface="Times New Roman"/>
              </a:rPr>
              <a:t>The International</a:t>
            </a:r>
          </a:p>
          <a:p>
            <a:pPr algn="l">
              <a:lnSpc>
                <a:spcPct val="100000"/>
              </a:lnSpc>
            </a:pPr>
            <a:r>
              <a:rPr sz="3630" b="1" i="0">
                <a:solidFill>
                  <a:srgbClr val="FFFFFF"/>
                </a:solidFill>
                <a:latin typeface="Times New Roman"/>
              </a:rPr>
              <a:t>Legal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80" b="0" i="1">
                <a:solidFill>
                  <a:srgbClr val="F2F4F7"/>
                </a:solidFill>
                <a:latin typeface="Times New Roman"/>
              </a:rPr>
              <a:t>How international law addresses crime that crosses borders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10" b="0" i="0">
                <a:solidFill>
                  <a:srgbClr val="909CAA"/>
                </a:solidFill>
                <a:latin typeface="Times New Roman"/>
              </a:rPr>
              <a:t>07 / 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30" b="1" i="0">
                <a:solidFill>
                  <a:srgbClr val="C08A2B"/>
                </a:solidFill>
                <a:latin typeface="Times New Roman"/>
              </a:rPr>
              <a:t>PART 2  • 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60" b="1" i="0">
                <a:solidFill>
                  <a:srgbClr val="FFFFFF"/>
                </a:solidFill>
                <a:latin typeface="Times New Roman"/>
              </a:rPr>
              <a:t>What Makes a Crime "Transnational"?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090">
                <a:solidFill>
                  <a:srgbClr val="334455"/>
                </a:solidFill>
                <a:latin typeface="Times New Roman"/>
              </a:rPr>
              <a:t>•  Committed in more than one state — or in one state but planned, directed or with effects in another.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090">
                <a:solidFill>
                  <a:srgbClr val="334455"/>
                </a:solidFill>
                <a:latin typeface="Times New Roman"/>
              </a:rPr>
              <a:t>•  Trafficking in persons is a paradigm case: it inherently moves people, money and evidence across borders.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090">
                <a:solidFill>
                  <a:srgbClr val="334455"/>
                </a:solidFill>
                <a:latin typeface="Times New Roman"/>
              </a:rPr>
              <a:t>•  Prosecuting it therefore requires more than one country's police, courts and laws to act together.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090">
                <a:solidFill>
                  <a:srgbClr val="334455"/>
                </a:solidFill>
                <a:latin typeface="Times New Roman"/>
              </a:rPr>
              <a:t>•  This is exactly where domestic systems, built for domestic crime, come under strain.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1">
                <a:solidFill>
                  <a:srgbClr val="0F2A43"/>
                </a:solidFill>
                <a:latin typeface="Times New Roman"/>
              </a:rPr>
              <a:t>The question is institutional, not just moral: can sovereign systems coordinate fast enough?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10" b="0" i="0">
                <a:solidFill>
                  <a:srgbClr val="6B7682"/>
                </a:solidFill>
                <a:latin typeface="Times New Roman"/>
              </a:rPr>
              <a:t>08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30" b="1" i="0">
                <a:solidFill>
                  <a:srgbClr val="C08A2B"/>
                </a:solidFill>
                <a:latin typeface="Times New Roman"/>
              </a:rPr>
              <a:t>PART 2  •  INSTRUMENTS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60" b="1" i="0">
                <a:solidFill>
                  <a:srgbClr val="FFFFFF"/>
                </a:solidFill>
                <a:latin typeface="Times New Roman"/>
              </a:rPr>
              <a:t>The Palermo Protocol (2000)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090" b="1">
                <a:solidFill>
                  <a:srgbClr val="0F2A43"/>
                </a:solidFill>
                <a:latin typeface="Times New Roman"/>
              </a:rPr>
              <a:t>•  Full name: </a:t>
            </a:r>
            <a:r>
              <a:rPr sz="2090">
                <a:solidFill>
                  <a:srgbClr val="334455"/>
                </a:solidFill>
                <a:latin typeface="Times New Roman"/>
              </a:rPr>
              <a:t>UN Protocol to Prevent, Suppress and Punish Trafficking in Persons.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090">
                <a:solidFill>
                  <a:srgbClr val="334455"/>
                </a:solidFill>
                <a:latin typeface="Times New Roman"/>
              </a:rPr>
              <a:t>•  First globally agreed definition of human trafficking.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090" b="1">
                <a:solidFill>
                  <a:srgbClr val="0F2A43"/>
                </a:solidFill>
                <a:latin typeface="Times New Roman"/>
              </a:rPr>
              <a:t>•  Three elements: </a:t>
            </a:r>
            <a:r>
              <a:rPr sz="2090">
                <a:solidFill>
                  <a:srgbClr val="334455"/>
                </a:solidFill>
                <a:latin typeface="Times New Roman"/>
              </a:rPr>
              <a:t>the act, the means, and the purpose of exploitation.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090">
                <a:solidFill>
                  <a:srgbClr val="334455"/>
                </a:solidFill>
                <a:latin typeface="Times New Roman"/>
              </a:rPr>
              <a:t>•  For children, the "means" element is not required — any recruitment for exploitation qualifies.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090">
                <a:solidFill>
                  <a:srgbClr val="334455"/>
                </a:solidFill>
                <a:latin typeface="Times New Roman"/>
              </a:rPr>
              <a:t>•  Obliges states parties to criminalise trafficking in their domestic law.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1">
                <a:solidFill>
                  <a:srgbClr val="0F2A43"/>
                </a:solidFill>
                <a:latin typeface="Times New Roman"/>
              </a:rPr>
              <a:t>It gives 190+ states a shared vocabulary — a precondition for cooperation.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10" b="0" i="0">
                <a:solidFill>
                  <a:srgbClr val="6B7682"/>
                </a:solidFill>
                <a:latin typeface="Times New Roman"/>
              </a:rPr>
              <a:t>09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30" b="1" i="0">
                <a:solidFill>
                  <a:srgbClr val="C08A2B"/>
                </a:solidFill>
                <a:latin typeface="Times New Roman"/>
              </a:rPr>
              <a:t>PART 2  •  INSTRUMENTS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60" b="1" i="0">
                <a:solidFill>
                  <a:srgbClr val="FFFFFF"/>
                </a:solidFill>
                <a:latin typeface="Times New Roman"/>
              </a:rPr>
              <a:t>UNTOC &amp; Cross-Border Cooperation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090" b="1">
                <a:solidFill>
                  <a:srgbClr val="0F2A43"/>
                </a:solidFill>
                <a:latin typeface="Times New Roman"/>
              </a:rPr>
              <a:t>•  Parent treaty: </a:t>
            </a:r>
            <a:r>
              <a:rPr sz="2090">
                <a:solidFill>
                  <a:srgbClr val="334455"/>
                </a:solidFill>
                <a:latin typeface="Times New Roman"/>
              </a:rPr>
              <a:t>the UN Convention against Transnational Organized Crime.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090">
                <a:solidFill>
                  <a:srgbClr val="334455"/>
                </a:solidFill>
                <a:latin typeface="Times New Roman"/>
              </a:rPr>
              <a:t>•  The Palermo Protocol supplements it; the two operate together.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090">
                <a:solidFill>
                  <a:srgbClr val="334455"/>
                </a:solidFill>
                <a:latin typeface="Times New Roman"/>
              </a:rPr>
              <a:t>•  Provides a framework for extradition, mutual legal assistance and joint investigations.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090">
                <a:solidFill>
                  <a:srgbClr val="334455"/>
                </a:solidFill>
                <a:latin typeface="Times New Roman"/>
              </a:rPr>
              <a:t>•  Can serve as a legal basis for cooperation even where no bilateral treaty exists.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090">
                <a:solidFill>
                  <a:srgbClr val="334455"/>
                </a:solidFill>
                <a:latin typeface="Times New Roman"/>
              </a:rPr>
              <a:t>•  Encourages asset confiscation and protection of victims and witnesses.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1">
                <a:solidFill>
                  <a:srgbClr val="0F2A43"/>
                </a:solidFill>
                <a:latin typeface="Times New Roman"/>
              </a:rPr>
              <a:t>In short: the machinery for international cooperation already exists on paper.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10" b="0" i="0">
                <a:solidFill>
                  <a:srgbClr val="6B7682"/>
                </a:solidFill>
                <a:latin typeface="Times New Roman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30" b="1" i="0">
                <a:solidFill>
                  <a:srgbClr val="C08A2B"/>
                </a:solidFill>
                <a:latin typeface="Times New Roman"/>
              </a:rPr>
              <a:t>PART 2  •  ENFORCEMENT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60" b="1" i="0">
                <a:solidFill>
                  <a:srgbClr val="FFFFFF"/>
                </a:solidFill>
                <a:latin typeface="Times New Roman"/>
              </a:rPr>
              <a:t>Jurisdiction, Extradition &amp; MLATs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090" b="1">
                <a:solidFill>
                  <a:srgbClr val="0F2A43"/>
                </a:solidFill>
                <a:latin typeface="Times New Roman"/>
              </a:rPr>
              <a:t>•  Jurisdiction: </a:t>
            </a:r>
            <a:r>
              <a:rPr sz="2090">
                <a:solidFill>
                  <a:srgbClr val="334455"/>
                </a:solidFill>
                <a:latin typeface="Times New Roman"/>
              </a:rPr>
              <a:t>states may claim it by territory or by nationality of offender/victim.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090" b="1">
                <a:solidFill>
                  <a:srgbClr val="0F2A43"/>
                </a:solidFill>
                <a:latin typeface="Times New Roman"/>
              </a:rPr>
              <a:t>•  Concurrent claims: </a:t>
            </a:r>
            <a:r>
              <a:rPr sz="2090">
                <a:solidFill>
                  <a:srgbClr val="334455"/>
                </a:solidFill>
                <a:latin typeface="Times New Roman"/>
              </a:rPr>
              <a:t>several states may have a right to prosecute the same conduct.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090" b="1">
                <a:solidFill>
                  <a:srgbClr val="0F2A43"/>
                </a:solidFill>
                <a:latin typeface="Times New Roman"/>
              </a:rPr>
              <a:t>•  Extradition: </a:t>
            </a:r>
            <a:r>
              <a:rPr sz="2090">
                <a:solidFill>
                  <a:srgbClr val="334455"/>
                </a:solidFill>
                <a:latin typeface="Times New Roman"/>
              </a:rPr>
              <a:t>typically needs a treaty plus "dual criminality" (an offence in both states).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090" b="1">
                <a:solidFill>
                  <a:srgbClr val="0F2A43"/>
                </a:solidFill>
                <a:latin typeface="Times New Roman"/>
              </a:rPr>
              <a:t>•  MLATs: </a:t>
            </a:r>
            <a:r>
              <a:rPr sz="2090">
                <a:solidFill>
                  <a:srgbClr val="334455"/>
                </a:solidFill>
                <a:latin typeface="Times New Roman"/>
              </a:rPr>
              <a:t>Mutual Legal Assistance Treaties move evidence, testimony and records across borders.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090" b="1">
                <a:solidFill>
                  <a:srgbClr val="0F2A43"/>
                </a:solidFill>
                <a:latin typeface="Times New Roman"/>
              </a:rPr>
              <a:t>•  The friction: </a:t>
            </a:r>
            <a:r>
              <a:rPr sz="2090">
                <a:solidFill>
                  <a:srgbClr val="334455"/>
                </a:solidFill>
                <a:latin typeface="Times New Roman"/>
              </a:rPr>
              <a:t>requests are slow, can be refused, and stall when suspects are wealthy or well-connected.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1">
                <a:solidFill>
                  <a:srgbClr val="0F2A43"/>
                </a:solidFill>
                <a:latin typeface="Times New Roman"/>
              </a:rPr>
              <a:t>The tools exist — but speed and political will decide whether they 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10" b="0" i="0">
                <a:solidFill>
                  <a:srgbClr val="6B7682"/>
                </a:solidFill>
                <a:latin typeface="Times New Roman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30" b="1" i="0">
                <a:solidFill>
                  <a:srgbClr val="C08A2B"/>
                </a:solidFill>
                <a:latin typeface="Times New Roman"/>
              </a:rPr>
              <a:t>PART 2  •  ACTORS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60" b="1" i="0">
                <a:solidFill>
                  <a:srgbClr val="FFFFFF"/>
                </a:solidFill>
                <a:latin typeface="Times New Roman"/>
              </a:rPr>
              <a:t>Foreign Nationals &amp; Quasi-Diplomatic Figures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090" b="1">
                <a:solidFill>
                  <a:srgbClr val="0F2A43"/>
                </a:solidFill>
                <a:latin typeface="Times New Roman"/>
              </a:rPr>
              <a:t>•  Ghislaine Maxwell (UK): </a:t>
            </a:r>
            <a:r>
              <a:rPr sz="2090">
                <a:solidFill>
                  <a:srgbClr val="334455"/>
                </a:solidFill>
                <a:latin typeface="Times New Roman"/>
              </a:rPr>
              <a:t>convicted in 2021 of sex-trafficking conspiracy in a US court.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090" b="1">
                <a:solidFill>
                  <a:srgbClr val="0F2A43"/>
                </a:solidFill>
                <a:latin typeface="Times New Roman"/>
              </a:rPr>
              <a:t>•  Prince Andrew: </a:t>
            </a:r>
            <a:r>
              <a:rPr sz="2090">
                <a:solidFill>
                  <a:srgbClr val="334455"/>
                </a:solidFill>
                <a:latin typeface="Times New Roman"/>
              </a:rPr>
              <a:t>settled a US civil claim in 2022 and later stepped back from royal titles.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090">
                <a:solidFill>
                  <a:srgbClr val="334455"/>
                </a:solidFill>
                <a:latin typeface="Times New Roman"/>
              </a:rPr>
              <a:t>•  High status confers no criminal immunity — but it can create practical and diplomatic hurdles.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090">
                <a:solidFill>
                  <a:srgbClr val="334455"/>
                </a:solidFill>
                <a:latin typeface="Times New Roman"/>
              </a:rPr>
              <a:t>•  Foreign nationality complicates arrest, extradition and the gathering of evidence abroad.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1">
                <a:solidFill>
                  <a:srgbClr val="0F2A43"/>
                </a:solidFill>
                <a:latin typeface="Times New Roman"/>
              </a:rPr>
              <a:t>Stick to what is adjudicated: charges, a conviction, a settled civil case — not speculation.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10" b="0" i="0">
                <a:solidFill>
                  <a:srgbClr val="6B7682"/>
                </a:solidFill>
                <a:latin typeface="Times New Roman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640080"/>
            <a:ext cx="4937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3100" b="1" i="0">
                <a:solidFill>
                  <a:srgbClr val="1C3A56"/>
                </a:solidFill>
                <a:latin typeface="Times New Roman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30" b="1" i="0">
                <a:solidFill>
                  <a:srgbClr val="C08A2B"/>
                </a:solidFill>
                <a:latin typeface="Times New Roman"/>
              </a:rPr>
              <a:t>SECTION 3 OF 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07792"/>
            <a:ext cx="749807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30" b="1" i="0">
                <a:solidFill>
                  <a:srgbClr val="FFFFFF"/>
                </a:solidFill>
                <a:latin typeface="Times New Roman"/>
              </a:rPr>
              <a:t>Wealth, Mobility</a:t>
            </a:r>
          </a:p>
          <a:p>
            <a:pPr algn="l">
              <a:lnSpc>
                <a:spcPct val="100000"/>
              </a:lnSpc>
            </a:pPr>
            <a:r>
              <a:rPr sz="3630" b="1" i="0">
                <a:solidFill>
                  <a:srgbClr val="FFFFFF"/>
                </a:solidFill>
                <a:latin typeface="Times New Roman"/>
              </a:rPr>
              <a:t>&amp; Impunity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80" b="0" i="1">
                <a:solidFill>
                  <a:srgbClr val="F2F4F7"/>
                </a:solidFill>
                <a:latin typeface="Times New Roman"/>
              </a:rPr>
              <a:t>How resources can delay — though not always defeat — accountability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10" b="0" i="0">
                <a:solidFill>
                  <a:srgbClr val="909CAA"/>
                </a:solidFill>
                <a:latin typeface="Times New Roman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30" b="1" i="0">
                <a:solidFill>
                  <a:srgbClr val="C08A2B"/>
                </a:solidFill>
                <a:latin typeface="Times New Roman"/>
              </a:rPr>
              <a:t>PART 3  •  MECHANICS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60" b="1" i="0">
                <a:solidFill>
                  <a:srgbClr val="FFFFFF"/>
                </a:solidFill>
                <a:latin typeface="Times New Roman"/>
              </a:rPr>
              <a:t>Offshore Wealth &amp; Global Mobility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090">
                <a:solidFill>
                  <a:srgbClr val="334455"/>
                </a:solidFill>
                <a:latin typeface="Times New Roman"/>
              </a:rPr>
              <a:t>•  Offshore structures and trusts can obscure who really owns assets.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090">
                <a:solidFill>
                  <a:srgbClr val="334455"/>
                </a:solidFill>
                <a:latin typeface="Times New Roman"/>
              </a:rPr>
              <a:t>•  Property in several jurisdictions provides places to live, store value and move between.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090">
                <a:solidFill>
                  <a:srgbClr val="334455"/>
                </a:solidFill>
                <a:latin typeface="Times New Roman"/>
              </a:rPr>
              <a:t>•  Private travel reduces the friction and scrutiny of ordinary border crossings.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090">
                <a:solidFill>
                  <a:srgbClr val="334455"/>
                </a:solidFill>
                <a:latin typeface="Times New Roman"/>
              </a:rPr>
              <a:t>•  Multiple identity documents — including the false-name passport — illustrate evasion capacity.</a:t>
            </a:r>
          </a:p>
          <a:p>
            <a:pPr>
              <a:lnSpc>
                <a:spcPct val="105000"/>
              </a:lnSpc>
              <a:spcAft>
                <a:spcPts val="2800"/>
              </a:spcAft>
            </a:pPr>
            <a:r>
              <a:rPr sz="2090">
                <a:solidFill>
                  <a:srgbClr val="334455"/>
                </a:solidFill>
                <a:latin typeface="Times New Roman"/>
              </a:rPr>
              <a:t>•  Together these convert wealth into mobility, and mobility into delay.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1">
                <a:solidFill>
                  <a:srgbClr val="0F2A43"/>
                </a:solidFill>
                <a:latin typeface="Times New Roman"/>
              </a:rPr>
              <a:t>None of this is unique to one man — it is how illicit elite wealth tends to behave.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10" b="0" i="0">
                <a:solidFill>
                  <a:srgbClr val="6B7682"/>
                </a:solidFill>
                <a:latin typeface="Times New Roman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30" b="1" i="0">
                <a:solidFill>
                  <a:srgbClr val="C08A2B"/>
                </a:solidFill>
                <a:latin typeface="Times New Roman"/>
              </a:rPr>
              <a:t>PART 3  • 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60" b="1" i="0">
                <a:solidFill>
                  <a:srgbClr val="FFFFFF"/>
                </a:solidFill>
                <a:latin typeface="Times New Roman"/>
              </a:rPr>
              <a:t>"Elite Impunity": 2008 vs 2019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645920"/>
            <a:ext cx="5349240" cy="38862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128016" cy="388620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7451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C08A2B"/>
                </a:solidFill>
                <a:latin typeface="Times New Roman"/>
              </a:rPr>
              <a:t>2008 — FLORIDA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650">
                <a:solidFill>
                  <a:srgbClr val="334455"/>
                </a:solidFill>
                <a:latin typeface="Times New Roman"/>
              </a:rPr>
              <a:t>•  State-level plea deal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650">
                <a:solidFill>
                  <a:srgbClr val="334455"/>
                </a:solidFill>
                <a:latin typeface="Times New Roman"/>
              </a:rPr>
              <a:t>•  Served ~13 months, with work release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650">
                <a:solidFill>
                  <a:srgbClr val="334455"/>
                </a:solidFill>
                <a:latin typeface="Times New Roman"/>
              </a:rPr>
              <a:t>•  Non-prosecution agreement shielded others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650">
                <a:solidFill>
                  <a:srgbClr val="334455"/>
                </a:solidFill>
                <a:latin typeface="Times New Roman"/>
              </a:rPr>
              <a:t>•  Victims said they were not consulted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645920"/>
            <a:ext cx="5349240" cy="38862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645920"/>
            <a:ext cx="128016" cy="388620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874519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760" b="1" i="0">
                <a:solidFill>
                  <a:srgbClr val="C08A2B"/>
                </a:solidFill>
                <a:latin typeface="Times New Roman"/>
              </a:rPr>
              <a:t>2019 — FEDERAL (NY)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23774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650">
                <a:solidFill>
                  <a:srgbClr val="F2F4F7"/>
                </a:solidFill>
                <a:latin typeface="Times New Roman"/>
              </a:rPr>
              <a:t>•  Federal sex-trafficking charges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650">
                <a:solidFill>
                  <a:srgbClr val="F2F4F7"/>
                </a:solidFill>
                <a:latin typeface="Times New Roman"/>
              </a:rPr>
              <a:t>•  Held without bail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650">
                <a:solidFill>
                  <a:srgbClr val="F2F4F7"/>
                </a:solidFill>
                <a:latin typeface="Times New Roman"/>
              </a:rPr>
              <a:t>•  Treated as serious organised wrongdoing</a:t>
            </a:r>
          </a:p>
          <a:p>
            <a:pPr>
              <a:lnSpc>
                <a:spcPct val="105000"/>
              </a:lnSpc>
              <a:spcAft>
                <a:spcPts val="1600"/>
              </a:spcAft>
            </a:pPr>
            <a:r>
              <a:rPr sz="1650">
                <a:solidFill>
                  <a:srgbClr val="F2F4F7"/>
                </a:solidFill>
                <a:latin typeface="Times New Roman"/>
              </a:rPr>
              <a:t>•  Case ended only with his death in custody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1">
                <a:solidFill>
                  <a:srgbClr val="0F2A43"/>
                </a:solidFill>
                <a:latin typeface="Times New Roman"/>
              </a:rPr>
              <a:t>The same conduct, two very different responses — a decade apart.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10" b="0" i="0">
                <a:solidFill>
                  <a:srgbClr val="6B7682"/>
                </a:solidFill>
                <a:latin typeface="Times New Roman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30" b="1" i="0">
                <a:solidFill>
                  <a:srgbClr val="C08A2B"/>
                </a:solidFill>
                <a:latin typeface="Times New Roman"/>
              </a:rPr>
              <a:t>PART 3  •  COMPARATIVE LAW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60" b="1" i="0">
                <a:solidFill>
                  <a:srgbClr val="FFFFFF"/>
                </a:solidFill>
                <a:latin typeface="Times New Roman"/>
              </a:rPr>
              <a:t>Would Other Systems Have Acted Differently?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090" b="1">
                <a:solidFill>
                  <a:srgbClr val="0F2A43"/>
                </a:solidFill>
                <a:latin typeface="Times New Roman"/>
              </a:rPr>
              <a:t>•  Adversarial vs inquisitorial: </a:t>
            </a:r>
            <a:r>
              <a:rPr sz="2090">
                <a:solidFill>
                  <a:srgbClr val="334455"/>
                </a:solidFill>
                <a:latin typeface="Times New Roman"/>
              </a:rPr>
              <a:t>France's investigating magistrates can drive cases differently from US prosecutors.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090" b="1">
                <a:solidFill>
                  <a:srgbClr val="0F2A43"/>
                </a:solidFill>
                <a:latin typeface="Times New Roman"/>
              </a:rPr>
              <a:t>•  Victim participation: </a:t>
            </a:r>
            <a:r>
              <a:rPr sz="2090">
                <a:solidFill>
                  <a:srgbClr val="334455"/>
                </a:solidFill>
                <a:latin typeface="Times New Roman"/>
              </a:rPr>
              <a:t>some systems give victims a formal role earlier in proceedings.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090" b="1">
                <a:solidFill>
                  <a:srgbClr val="0F2A43"/>
                </a:solidFill>
                <a:latin typeface="Times New Roman"/>
              </a:rPr>
              <a:t>•  Limitation periods: </a:t>
            </a:r>
            <a:r>
              <a:rPr sz="2090">
                <a:solidFill>
                  <a:srgbClr val="334455"/>
                </a:solidFill>
                <a:latin typeface="Times New Roman"/>
              </a:rPr>
              <a:t>how long after the abuse can charges still be brought?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090" b="1">
                <a:solidFill>
                  <a:srgbClr val="0F2A43"/>
                </a:solidFill>
                <a:latin typeface="Times New Roman"/>
              </a:rPr>
              <a:t>•  Plea bargaining: </a:t>
            </a:r>
            <a:r>
              <a:rPr sz="2090">
                <a:solidFill>
                  <a:srgbClr val="334455"/>
                </a:solidFill>
                <a:latin typeface="Times New Roman"/>
              </a:rPr>
              <a:t>less central in many civil-law systems, changing the incentive to settle quietly.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1">
                <a:solidFill>
                  <a:srgbClr val="0F2A43"/>
                </a:solidFill>
                <a:latin typeface="Times New Roman"/>
              </a:rPr>
              <a:t>Central question: would the UK, France or Japan have acted faster — or slower?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10" b="0" i="0">
                <a:solidFill>
                  <a:srgbClr val="6B7682"/>
                </a:solidFill>
                <a:latin typeface="Times New Roman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A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040880" y="640080"/>
            <a:ext cx="493776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3100" b="1" i="0">
                <a:solidFill>
                  <a:srgbClr val="1C3A56"/>
                </a:solidFill>
                <a:latin typeface="Times New Roman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30" b="1" i="0">
                <a:solidFill>
                  <a:srgbClr val="C08A2B"/>
                </a:solidFill>
                <a:latin typeface="Times New Roman"/>
              </a:rPr>
              <a:t>SECTION 4 OF 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697480"/>
            <a:ext cx="2743200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07792"/>
            <a:ext cx="749807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3630" b="1" i="0">
                <a:solidFill>
                  <a:srgbClr val="FFFFFF"/>
                </a:solidFill>
                <a:latin typeface="Times New Roman"/>
              </a:rPr>
              <a:t>Accountability,</a:t>
            </a:r>
          </a:p>
          <a:p>
            <a:pPr algn="l">
              <a:lnSpc>
                <a:spcPct val="100000"/>
              </a:lnSpc>
            </a:pPr>
            <a:r>
              <a:rPr sz="3630" b="1" i="0">
                <a:solidFill>
                  <a:srgbClr val="FFFFFF"/>
                </a:solidFill>
                <a:latin typeface="Times New Roman"/>
              </a:rPr>
              <a:t>Transparency &amp; Lessons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80" b="0" i="1">
                <a:solidFill>
                  <a:srgbClr val="F2F4F7"/>
                </a:solidFill>
                <a:latin typeface="Times New Roman"/>
              </a:rPr>
              <a:t>Designing cross-border justice that actually protects victims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10" b="0" i="0">
                <a:solidFill>
                  <a:srgbClr val="909CAA"/>
                </a:solidFill>
                <a:latin typeface="Times New Roman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30" b="1" i="0">
                <a:solidFill>
                  <a:srgbClr val="C08A2B"/>
                </a:solidFill>
                <a:latin typeface="Times New Roman"/>
              </a:rPr>
              <a:t>PART 4  •  TRANSPARENCY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60" b="1" i="0">
                <a:solidFill>
                  <a:srgbClr val="FFFFFF"/>
                </a:solidFill>
                <a:latin typeface="Times New Roman"/>
              </a:rPr>
              <a:t>The 2025 Document-Release Wave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090">
                <a:solidFill>
                  <a:srgbClr val="334455"/>
                </a:solidFill>
                <a:latin typeface="Times New Roman"/>
              </a:rPr>
              <a:t>•  US transparency legislation drove a large release of case-related documents.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090">
                <a:solidFill>
                  <a:srgbClr val="334455"/>
                </a:solidFill>
                <a:latin typeface="Times New Roman"/>
              </a:rPr>
              <a:t>•  Intended to answer public demand for accountability and openness.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090" b="1">
                <a:solidFill>
                  <a:srgbClr val="0F2A43"/>
                </a:solidFill>
                <a:latin typeface="Times New Roman"/>
              </a:rPr>
              <a:t>•  Survivors' concern: </a:t>
            </a:r>
            <a:r>
              <a:rPr sz="2090">
                <a:solidFill>
                  <a:srgbClr val="334455"/>
                </a:solidFill>
                <a:latin typeface="Times New Roman"/>
              </a:rPr>
              <a:t>the disclosures made it easy to identify those abused — but not those who may have been involved.</a:t>
            </a:r>
          </a:p>
          <a:p>
            <a:pPr>
              <a:lnSpc>
                <a:spcPct val="105000"/>
              </a:lnSpc>
              <a:spcAft>
                <a:spcPts val="3000"/>
              </a:spcAft>
            </a:pPr>
            <a:r>
              <a:rPr sz="2090">
                <a:solidFill>
                  <a:srgbClr val="334455"/>
                </a:solidFill>
                <a:latin typeface="Times New Roman"/>
              </a:rPr>
              <a:t>•  A real tension emerges between public transparency and the privacy and safety of victims.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1">
                <a:solidFill>
                  <a:srgbClr val="0F2A43"/>
                </a:solidFill>
                <a:latin typeface="Times New Roman"/>
              </a:rPr>
              <a:t>Transparency is not automatically just — its design determines who it protects.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10" b="0" i="0">
                <a:solidFill>
                  <a:srgbClr val="6B7682"/>
                </a:solidFill>
                <a:latin typeface="Times New Roman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30" b="1" i="0">
                <a:solidFill>
                  <a:srgbClr val="C08A2B"/>
                </a:solidFill>
                <a:latin typeface="Times New Roman"/>
              </a:rPr>
              <a:t>PART 4  •  LESSONS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60" b="1" i="0">
                <a:solidFill>
                  <a:srgbClr val="FFFFFF"/>
                </a:solidFill>
                <a:latin typeface="Times New Roman"/>
              </a:rPr>
              <a:t>Reform Proposals &amp; a Japan 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6766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980">
                <a:solidFill>
                  <a:srgbClr val="334455"/>
                </a:solidFill>
                <a:latin typeface="Times New Roman"/>
              </a:rPr>
              <a:t>•  Faster, better-resourced MLAT and extradition channels.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980">
                <a:solidFill>
                  <a:srgbClr val="334455"/>
                </a:solidFill>
                <a:latin typeface="Times New Roman"/>
              </a:rPr>
              <a:t>•  Victim-centred disclosure rules that shield identities by default.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980">
                <a:solidFill>
                  <a:srgbClr val="334455"/>
                </a:solidFill>
                <a:latin typeface="Times New Roman"/>
              </a:rPr>
              <a:t>•  Stronger cross-border asset tracing and recovery.</a:t>
            </a:r>
          </a:p>
          <a:p>
            <a:pPr>
              <a:lnSpc>
                <a:spcPct val="105000"/>
              </a:lnSpc>
              <a:spcAft>
                <a:spcPts val="2600"/>
              </a:spcAft>
            </a:pPr>
            <a:r>
              <a:rPr sz="1980">
                <a:solidFill>
                  <a:srgbClr val="334455"/>
                </a:solidFill>
                <a:latin typeface="Times New Roman"/>
              </a:rPr>
              <a:t>•  Harmonised definitions so cooperation isn't blocked by mismatched laws.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26679" y="1600200"/>
            <a:ext cx="3913632" cy="3977639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26679" y="1600200"/>
            <a:ext cx="128016" cy="3977639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18288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40" b="1" i="0">
                <a:solidFill>
                  <a:srgbClr val="C08A2B"/>
                </a:solidFill>
                <a:latin typeface="Times New Roman"/>
              </a:rPr>
              <a:t>JAPAN ANGLE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331720"/>
            <a:ext cx="3474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2000"/>
              </a:lnSpc>
            </a:pPr>
            <a:r>
              <a:rPr sz="1650" b="0" i="1">
                <a:solidFill>
                  <a:srgbClr val="334455"/>
                </a:solidFill>
                <a:latin typeface="Times New Roman"/>
              </a:rPr>
              <a:t>Japan has an anti-trafficking action framework and is assessed annually in the US State Department's TIP Report — a useful benchmark for how a non-Western system measures up on cross-border cooperation.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779008"/>
            <a:ext cx="12191695" cy="566928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5779008"/>
            <a:ext cx="128016" cy="566928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591616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0" i="1">
                <a:solidFill>
                  <a:srgbClr val="0F2A43"/>
                </a:solidFill>
                <a:latin typeface="Times New Roman"/>
              </a:rPr>
              <a:t>Better justice across borders is mostly an engineering problem, not a gap in principle.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10" b="0" i="0">
                <a:solidFill>
                  <a:srgbClr val="6B7682"/>
                </a:solidFill>
                <a:latin typeface="Times New Roman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F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430" b="1" i="0">
                <a:solidFill>
                  <a:srgbClr val="C08A2B"/>
                </a:solidFill>
                <a:latin typeface="Times New Roman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60" b="1" i="0">
                <a:solidFill>
                  <a:srgbClr val="FFFFFF"/>
                </a:solidFill>
                <a:latin typeface="Times New Roman"/>
              </a:rPr>
              <a:t>Four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463040"/>
            <a:ext cx="731520" cy="82296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640" b="1" i="0">
                <a:solidFill>
                  <a:srgbClr val="FFFFFF"/>
                </a:solidFill>
                <a:latin typeface="Times New Roman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517904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80" b="1" i="0">
                <a:solidFill>
                  <a:srgbClr val="0F2A43"/>
                </a:solidFill>
                <a:latin typeface="Times New Roman"/>
              </a:rPr>
              <a:t>Crime crosses borders — justice often doesn't.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883664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40" b="0" i="1">
                <a:solidFill>
                  <a:srgbClr val="334455"/>
                </a:solidFill>
                <a:latin typeface="Times New Roman"/>
              </a:rPr>
              <a:t>Networks are global; enforcement is national.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95728"/>
            <a:ext cx="731520" cy="82296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603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640" b="1" i="0">
                <a:solidFill>
                  <a:srgbClr val="FFFFFF"/>
                </a:solidFill>
                <a:latin typeface="Times New Roman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450592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80" b="1" i="0">
                <a:solidFill>
                  <a:srgbClr val="0F2A43"/>
                </a:solidFill>
                <a:latin typeface="Times New Roman"/>
              </a:rPr>
              <a:t>The legal tools already exist.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816352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40" b="0" i="1">
                <a:solidFill>
                  <a:srgbClr val="334455"/>
                </a:solidFill>
                <a:latin typeface="Times New Roman"/>
              </a:rPr>
              <a:t>Palermo &amp; UNTOC provide the framework; coordination is the gap.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328416"/>
            <a:ext cx="731520" cy="82296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493008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640" b="1" i="0">
                <a:solidFill>
                  <a:srgbClr val="FFFFFF"/>
                </a:solidFill>
                <a:latin typeface="Times New Roman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38328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80" b="1" i="0">
                <a:solidFill>
                  <a:srgbClr val="0F2A43"/>
                </a:solidFill>
                <a:latin typeface="Times New Roman"/>
              </a:rPr>
              <a:t>Wealth buys time, not immunity.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749040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40" b="0" i="1">
                <a:solidFill>
                  <a:srgbClr val="334455"/>
                </a:solidFill>
                <a:latin typeface="Times New Roman"/>
              </a:rPr>
              <a:t>Mobility delayed — but did not finally prevent — accountability.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61104"/>
            <a:ext cx="731520" cy="82296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425696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0000"/>
              </a:lnSpc>
            </a:pPr>
            <a:r>
              <a:rPr sz="2640" b="1" i="0">
                <a:solidFill>
                  <a:srgbClr val="FFFFFF"/>
                </a:solidFill>
                <a:latin typeface="Times New Roman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1596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980" b="1" i="0">
                <a:solidFill>
                  <a:srgbClr val="0F2A43"/>
                </a:solidFill>
                <a:latin typeface="Times New Roman"/>
              </a:rPr>
              <a:t>Transparency must protect victims.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681728"/>
            <a:ext cx="9966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540" b="0" i="1">
                <a:solidFill>
                  <a:srgbClr val="334455"/>
                </a:solidFill>
                <a:latin typeface="Times New Roman"/>
              </a:rPr>
              <a:t>Disclosure should expose enablers, not endanger survivors.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440680"/>
            <a:ext cx="128016" cy="868680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59552"/>
            <a:ext cx="10607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10" b="1" i="0">
                <a:solidFill>
                  <a:srgbClr val="C08A2B"/>
                </a:solidFill>
                <a:latin typeface="Times New Roman"/>
              </a:rPr>
              <a:t>SELECTED SOURCES &amp; INSTRUMENTS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8521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10" b="0" i="0">
                <a:solidFill>
                  <a:srgbClr val="334455"/>
                </a:solidFill>
                <a:latin typeface="Times New Roman"/>
              </a:rPr>
              <a:t>Palermo Protocol (2000) · UN Convention against Transnational Organized Crime · US DOJ filings (US v. Epstein 2019; US v. Maxwell 2021) · US State Dept. Trafficking in Persons Reports · contemporary reporting on 2025 disclosures.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6583680"/>
            <a:ext cx="411480" cy="32004"/>
          </a:xfrm>
          <a:prstGeom prst="rect">
            <a:avLst/>
          </a:prstGeom>
          <a:solidFill>
            <a:srgbClr val="C08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24160" y="6419088"/>
            <a:ext cx="1216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0000"/>
              </a:lnSpc>
            </a:pPr>
            <a:r>
              <a:rPr sz="1210" b="0" i="0">
                <a:solidFill>
                  <a:srgbClr val="6B7682"/>
                </a:solidFill>
                <a:latin typeface="Times New Roman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