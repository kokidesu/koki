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08A2B"/>
                </a:solidFill>
                <a:latin typeface="Times New Roman"/>
              </a:rPr>
              <a:t>TRANSNATIONAL CRIME &amp; THE LIMITS OF INTERNATIONAL JUSTICE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Times New Roman"/>
              </a:rPr>
              <a:t>What the Epstein Case Reveals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1">
                <a:solidFill>
                  <a:srgbClr val="F2F4F7"/>
                </a:solidFill>
                <a:latin typeface="Times New Roman"/>
              </a:rPr>
              <a:t>A case study in cross-border exploitation, jurisdiction, and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B7682"/>
                </a:solidFill>
                <a:latin typeface="Times New Roman"/>
              </a:rPr>
              <a:t>Group Presentation  •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A2B"/>
                </a:solidFill>
                <a:latin typeface="Times New Roman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Our Central Question &amp;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1064240" cy="1143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1">
                <a:solidFill>
                  <a:srgbClr val="0F2A43"/>
                </a:solidFill>
                <a:latin typeface="Times New Roman"/>
              </a:rPr>
              <a:t>Why is transnational sexual exploitation so hard to prosecute — and what do international law and cross-border cooperation need in order to work?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Part 1 — Framing &amp; the international scope of the case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Part 2 — The international legal framework (Palermo Protocol, UNTOC, jurisdiction &amp; extradition)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Part 3 — Wealth, mobility, and the problem of "elite impunity"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Part 4 — Accountability, transparency &amp; lessons (incl. a Japan comparison)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7682"/>
                </a:solidFill>
                <a:latin typeface="Times New Roman"/>
              </a:rPr>
              <a:t>Note: This presentation centres victims and legal systems — not sensational detail.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246120"/>
            <a:ext cx="2926080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08A2B"/>
                </a:solidFill>
                <a:latin typeface="Times New Roman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Framing &amp; the International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F2F4F7"/>
                </a:solidFill>
                <a:latin typeface="Times New Roman"/>
              </a:rPr>
              <a:t>Who Epstein was — and why this case crosses borders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A2B"/>
                </a:solidFill>
                <a:latin typeface="Times New Roman"/>
              </a:rPr>
              <a:t>PART 1  • 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Who Was Jeffrey Epstein?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>
                <a:solidFill>
                  <a:srgbClr val="334455"/>
                </a:solidFill>
                <a:latin typeface="Times New Roman"/>
              </a:rPr>
              <a:t>•  A US financier who built extraordinary wealth and a network of powerful international contacts.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0F2A43"/>
                </a:solidFill>
                <a:latin typeface="Times New Roman"/>
              </a:rPr>
              <a:t>•  2005–06: </a:t>
            </a:r>
            <a:r>
              <a:rPr sz="1800">
                <a:solidFill>
                  <a:srgbClr val="334455"/>
                </a:solidFill>
                <a:latin typeface="Times New Roman"/>
              </a:rPr>
              <a:t>A Palm Beach (Florida) police investigation into abuse of minors.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0F2A43"/>
                </a:solidFill>
                <a:latin typeface="Times New Roman"/>
              </a:rPr>
              <a:t>•  2008: </a:t>
            </a:r>
            <a:r>
              <a:rPr sz="1800">
                <a:solidFill>
                  <a:srgbClr val="334455"/>
                </a:solidFill>
                <a:latin typeface="Times New Roman"/>
              </a:rPr>
              <a:t>A controversial state plea deal; he registered as a sex offender.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0F2A43"/>
                </a:solidFill>
                <a:latin typeface="Times New Roman"/>
              </a:rPr>
              <a:t>•  2019: </a:t>
            </a:r>
            <a:r>
              <a:rPr sz="1800">
                <a:solidFill>
                  <a:srgbClr val="334455"/>
                </a:solidFill>
                <a:latin typeface="Times New Roman"/>
              </a:rPr>
              <a:t>Arrested on federal sex-trafficking charges in New York.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>
                <a:solidFill>
                  <a:srgbClr val="334455"/>
                </a:solidFill>
                <a:latin typeface="Times New Roman"/>
              </a:rPr>
              <a:t>•  Died in custody in August 2019 (ruled a suicide) — ending the criminal case against him.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554480"/>
            <a:ext cx="3931920" cy="4480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783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08A2B"/>
                </a:solidFill>
                <a:latin typeface="Times New Roman"/>
              </a:rPr>
              <a:t>WHY HE MATTERS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28600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1">
                <a:solidFill>
                  <a:srgbClr val="334455"/>
                </a:solidFill>
                <a:latin typeface="Times New Roman"/>
              </a:rPr>
              <a:t>His death meant accountability had to be pursued through others — and across borders. The case became a test of how legal systems cooperate.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A2B"/>
                </a:solidFill>
                <a:latin typeface="Times New Roman"/>
              </a:rPr>
              <a:t>PART 1  •  CHRONOLOGY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A Case That Spanned Two Decades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2606040" cy="7772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57984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Times New Roman"/>
              </a:rPr>
              <a:t>2008</a:t>
            </a:r>
          </a:p>
        </p:txBody>
      </p:sp>
      <p:sp>
        <p:nvSpPr>
          <p:cNvPr id="8" name="Rectangle 7"/>
          <p:cNvSpPr/>
          <p:nvPr/>
        </p:nvSpPr>
        <p:spPr>
          <a:xfrm>
            <a:off x="1915668" y="2788920"/>
            <a:ext cx="54864" cy="32004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4455"/>
                </a:solidFill>
                <a:latin typeface="Times New Roman"/>
              </a:rPr>
              <a:t>Florida state plea deal — widely criticised as lenient.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0712" y="2011680"/>
            <a:ext cx="2606040" cy="7772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2157984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Times New Roman"/>
              </a:rPr>
              <a:t>2019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2788920"/>
            <a:ext cx="54864" cy="32004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324612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4455"/>
                </a:solidFill>
                <a:latin typeface="Times New Roman"/>
              </a:rPr>
              <a:t>Federal trafficking charges in New York; death in custody.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2011680"/>
            <a:ext cx="2606040" cy="7772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2157984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Times New Roman"/>
              </a:rPr>
              <a:t>2021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6932" y="2788920"/>
            <a:ext cx="54864" cy="32004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1344" y="324612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4455"/>
                </a:solidFill>
                <a:latin typeface="Times New Roman"/>
              </a:rPr>
              <a:t>Ghislaine Maxwell convicted of sex-trafficking conspiracy.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1976" y="2011680"/>
            <a:ext cx="2606040" cy="7772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1976" y="2157984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Times New Roman"/>
              </a:rPr>
              <a:t>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27564" y="2788920"/>
            <a:ext cx="54864" cy="32004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3246120"/>
            <a:ext cx="2606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334455"/>
                </a:solidFill>
                <a:latin typeface="Times New Roman"/>
              </a:rPr>
              <a:t>Document-release wave renews scrutiny and debate.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0F2A43"/>
                </a:solidFill>
                <a:latin typeface="Times New Roman"/>
              </a:rPr>
              <a:t>Across two decades the case moved from a local plea bargain to a global question about justice, wealth, and cross-border accountability.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A2B"/>
                </a:solidFill>
                <a:latin typeface="Times New Roman"/>
              </a:rPr>
              <a:t>PART 1  • 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Why This Is an International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800" b="1">
                <a:solidFill>
                  <a:srgbClr val="0F2A43"/>
                </a:solidFill>
                <a:latin typeface="Times New Roman"/>
              </a:rPr>
              <a:t>•  Recruitment: </a:t>
            </a:r>
            <a:r>
              <a:rPr sz="1800">
                <a:solidFill>
                  <a:srgbClr val="334455"/>
                </a:solidFill>
                <a:latin typeface="Times New Roman"/>
              </a:rPr>
              <a:t>victims, including minors and foreign nationals, moved across borders.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800" b="1">
                <a:solidFill>
                  <a:srgbClr val="0F2A43"/>
                </a:solidFill>
                <a:latin typeface="Times New Roman"/>
              </a:rPr>
              <a:t>•  Finance: </a:t>
            </a:r>
            <a:r>
              <a:rPr sz="1800">
                <a:solidFill>
                  <a:srgbClr val="334455"/>
                </a:solidFill>
                <a:latin typeface="Times New Roman"/>
              </a:rPr>
              <a:t>wealth held through offshore structures, obscuring ownership.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800" b="1">
                <a:solidFill>
                  <a:srgbClr val="0F2A43"/>
                </a:solidFill>
                <a:latin typeface="Times New Roman"/>
              </a:rPr>
              <a:t>•  Property: </a:t>
            </a:r>
            <a:r>
              <a:rPr sz="1800">
                <a:solidFill>
                  <a:srgbClr val="334455"/>
                </a:solidFill>
                <a:latin typeface="Times New Roman"/>
              </a:rPr>
              <a:t>residences across the US, the US Virgin Islands and Paris.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800" b="1">
                <a:solidFill>
                  <a:srgbClr val="0F2A43"/>
                </a:solidFill>
                <a:latin typeface="Times New Roman"/>
              </a:rPr>
              <a:t>•  Identity: </a:t>
            </a:r>
            <a:r>
              <a:rPr sz="1800">
                <a:solidFill>
                  <a:srgbClr val="334455"/>
                </a:solidFill>
                <a:latin typeface="Times New Roman"/>
              </a:rPr>
              <a:t>an expired passport bore his photo, a false name, and listed Saudi Arabia as residence.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800" b="1">
                <a:solidFill>
                  <a:srgbClr val="0F2A43"/>
                </a:solidFill>
                <a:latin typeface="Times New Roman"/>
              </a:rPr>
              <a:t>•  Network: </a:t>
            </a:r>
            <a:r>
              <a:rPr sz="1800">
                <a:solidFill>
                  <a:srgbClr val="334455"/>
                </a:solidFill>
                <a:latin typeface="Times New Roman"/>
              </a:rPr>
              <a:t>associates spanning several countries and high office.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554480"/>
            <a:ext cx="3931920" cy="4480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783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08A2B"/>
                </a:solidFill>
                <a:latin typeface="Times New Roman"/>
              </a:rPr>
              <a:t>THE CORE 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286000"/>
            <a:ext cx="3474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1">
                <a:solidFill>
                  <a:srgbClr val="334455"/>
                </a:solidFill>
                <a:latin typeface="Times New Roman"/>
              </a:rPr>
              <a:t>The network was global, but criminal enforcement is national. That gap is the heart of our presentation.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246120"/>
            <a:ext cx="2926080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08A2B"/>
                </a:solidFill>
                <a:latin typeface="Times New Roman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The International Legal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F2F4F7"/>
                </a:solidFill>
                <a:latin typeface="Times New Roman"/>
              </a:rPr>
              <a:t>How international law addresses crime that crosses borders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A2B"/>
                </a:solidFill>
                <a:latin typeface="Times New Roman"/>
              </a:rPr>
              <a:t>PART 2  • 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What Makes a Crime "Transnational"?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Committed in more than one state — or in one state but planned, directed or with effects in another.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Trafficking in persons is a paradigm case: it inherently moves people, money and evidence across borders.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Prosecuting it therefore requires more than one country's police, courts and laws to act together.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This is exactly where domestic systems, built for domestic crime, come under strain.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1">
                <a:solidFill>
                  <a:srgbClr val="0F2A43"/>
                </a:solidFill>
                <a:latin typeface="Times New Roman"/>
              </a:rPr>
              <a:t>So the question is institutional, not just moral: can sovereign systems coordinate fast enough?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A2B"/>
                </a:solidFill>
                <a:latin typeface="Times New Roman"/>
              </a:rPr>
              <a:t>PART 2  • 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The Palermo Protocol (2000)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>
                <a:solidFill>
                  <a:srgbClr val="0F2A43"/>
                </a:solidFill>
                <a:latin typeface="Times New Roman"/>
              </a:rPr>
              <a:t>•  Full name: </a:t>
            </a:r>
            <a:r>
              <a:rPr sz="1900">
                <a:solidFill>
                  <a:srgbClr val="334455"/>
                </a:solidFill>
                <a:latin typeface="Times New Roman"/>
              </a:rPr>
              <a:t>UN Protocol to Prevent, Suppress and Punish Trafficking in Persons.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First globally agreed definition of human trafficking.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>
                <a:solidFill>
                  <a:srgbClr val="0F2A43"/>
                </a:solidFill>
                <a:latin typeface="Times New Roman"/>
              </a:rPr>
              <a:t>•  Three elements: </a:t>
            </a:r>
            <a:r>
              <a:rPr sz="1900">
                <a:solidFill>
                  <a:srgbClr val="334455"/>
                </a:solidFill>
                <a:latin typeface="Times New Roman"/>
              </a:rPr>
              <a:t>the act, the means, and the purpose of exploitation.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For children, the "means" element is not required — any recruitment for exploitation qualifies.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Obliges states parties to criminalise trafficking in their domestic law.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0F2A43"/>
                </a:solidFill>
                <a:latin typeface="Times New Roman"/>
              </a:rPr>
              <a:t>It gives 190+ states a shared vocabulary — a precondition for cooperation.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A2B"/>
                </a:solidFill>
                <a:latin typeface="Times New Roman"/>
              </a:rPr>
              <a:t>PART 2  • 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UNTOC &amp; Cross-Border Cooperation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>
                <a:solidFill>
                  <a:srgbClr val="0F2A43"/>
                </a:solidFill>
                <a:latin typeface="Times New Roman"/>
              </a:rPr>
              <a:t>•  Parent treaty: </a:t>
            </a:r>
            <a:r>
              <a:rPr sz="1900">
                <a:solidFill>
                  <a:srgbClr val="334455"/>
                </a:solidFill>
                <a:latin typeface="Times New Roman"/>
              </a:rPr>
              <a:t>the UN Convention against Transnational Organized Crime.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The Palermo Protocol supplements it; the two operate together.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Provides a framework for extradition, mutual legal assistance and joint investigations.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Can serve as a legal basis for cooperation even where no bilateral treaty exists.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Encourages asset confiscation and protection of victims and witnesses.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0F2A43"/>
                </a:solidFill>
                <a:latin typeface="Times New Roman"/>
              </a:rPr>
              <a:t>In short: the machinery for international cooperation already exists on paper.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A2B"/>
                </a:solidFill>
                <a:latin typeface="Times New Roman"/>
              </a:rPr>
              <a:t>PART 2  •  ENFORCEMENT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Jurisdiction, Extradition &amp; MLATs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>
                <a:solidFill>
                  <a:srgbClr val="0F2A43"/>
                </a:solidFill>
                <a:latin typeface="Times New Roman"/>
              </a:rPr>
              <a:t>•  Jurisdiction: </a:t>
            </a:r>
            <a:r>
              <a:rPr sz="1900">
                <a:solidFill>
                  <a:srgbClr val="334455"/>
                </a:solidFill>
                <a:latin typeface="Times New Roman"/>
              </a:rPr>
              <a:t>states may claim it by territory or by nationality of offender/victim.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>
                <a:solidFill>
                  <a:srgbClr val="0F2A43"/>
                </a:solidFill>
                <a:latin typeface="Times New Roman"/>
              </a:rPr>
              <a:t>•  Concurrent claims: </a:t>
            </a:r>
            <a:r>
              <a:rPr sz="1900">
                <a:solidFill>
                  <a:srgbClr val="334455"/>
                </a:solidFill>
                <a:latin typeface="Times New Roman"/>
              </a:rPr>
              <a:t>several states may have a right to prosecute the same conduct.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>
                <a:solidFill>
                  <a:srgbClr val="0F2A43"/>
                </a:solidFill>
                <a:latin typeface="Times New Roman"/>
              </a:rPr>
              <a:t>•  Extradition: </a:t>
            </a:r>
            <a:r>
              <a:rPr sz="1900">
                <a:solidFill>
                  <a:srgbClr val="334455"/>
                </a:solidFill>
                <a:latin typeface="Times New Roman"/>
              </a:rPr>
              <a:t>typically needs a treaty plus "dual criminality" (an offence in both states).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>
                <a:solidFill>
                  <a:srgbClr val="0F2A43"/>
                </a:solidFill>
                <a:latin typeface="Times New Roman"/>
              </a:rPr>
              <a:t>•  MLATs: </a:t>
            </a:r>
            <a:r>
              <a:rPr sz="1900">
                <a:solidFill>
                  <a:srgbClr val="334455"/>
                </a:solidFill>
                <a:latin typeface="Times New Roman"/>
              </a:rPr>
              <a:t>Mutual Legal Assistance Treaties move evidence, testimony and records across borders.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 b="1">
                <a:solidFill>
                  <a:srgbClr val="0F2A43"/>
                </a:solidFill>
                <a:latin typeface="Times New Roman"/>
              </a:rPr>
              <a:t>•  The friction: </a:t>
            </a:r>
            <a:r>
              <a:rPr sz="1900">
                <a:solidFill>
                  <a:srgbClr val="334455"/>
                </a:solidFill>
                <a:latin typeface="Times New Roman"/>
              </a:rPr>
              <a:t>requests are slow, can be refused, and stall when suspects are wealthy or well-connected.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0F2A43"/>
                </a:solidFill>
                <a:latin typeface="Times New Roman"/>
              </a:rPr>
              <a:t>The tools exist — but speed and political will decide whether they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A2B"/>
                </a:solidFill>
                <a:latin typeface="Times New Roman"/>
              </a:rPr>
              <a:t>PART 2  •  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Foreign Nationals &amp; Quasi-Diplomatic Figures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1900" b="1">
                <a:solidFill>
                  <a:srgbClr val="0F2A43"/>
                </a:solidFill>
                <a:latin typeface="Times New Roman"/>
              </a:rPr>
              <a:t>•  Ghislaine Maxwell (UK): </a:t>
            </a:r>
            <a:r>
              <a:rPr sz="1900">
                <a:solidFill>
                  <a:srgbClr val="334455"/>
                </a:solidFill>
                <a:latin typeface="Times New Roman"/>
              </a:rPr>
              <a:t>convicted in 2021 of sex-trafficking conspiracy in a US court.</a:t>
            </a:r>
          </a:p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1900" b="1">
                <a:solidFill>
                  <a:srgbClr val="0F2A43"/>
                </a:solidFill>
                <a:latin typeface="Times New Roman"/>
              </a:rPr>
              <a:t>•  Prince Andrew: </a:t>
            </a:r>
            <a:r>
              <a:rPr sz="1900">
                <a:solidFill>
                  <a:srgbClr val="334455"/>
                </a:solidFill>
                <a:latin typeface="Times New Roman"/>
              </a:rPr>
              <a:t>settled a US civil claim in 2022 and later stepped back from royal titles.</a:t>
            </a:r>
          </a:p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High status confers no criminal immunity — but it can create practical and diplomatic hurdles.</a:t>
            </a:r>
          </a:p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Foreign nationality complicates arrest, extradition and the gathering of evidence abroad.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0F2A43"/>
                </a:solidFill>
                <a:latin typeface="Times New Roman"/>
              </a:rPr>
              <a:t>Stick to what is adjudicated: charges, a conviction, a settled civil case — not speculation.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246120"/>
            <a:ext cx="2926080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08A2B"/>
                </a:solidFill>
                <a:latin typeface="Times New Roman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Wealth, Mobility &amp; Impunity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F2F4F7"/>
                </a:solidFill>
                <a:latin typeface="Times New Roman"/>
              </a:rPr>
              <a:t>How resources can delay — though not always defeat — accountability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A2B"/>
                </a:solidFill>
                <a:latin typeface="Times New Roman"/>
              </a:rPr>
              <a:t>PART 3  • 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Offshore Wealth &amp; Global Mobility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Offshore structures and trusts can obscure who really owns assets.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Property in several jurisdictions provides places to live, store value and move between.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Private travel reduces the friction and scrutiny of ordinary border crossings.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Multiple identity documents — including the false-name passport — illustrate evasion capacity.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Together these convert wealth into mobility, and mobility into delay.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0F2A43"/>
                </a:solidFill>
                <a:latin typeface="Times New Roman"/>
              </a:rPr>
              <a:t>None of this is unique to one man — it is how illicit elite wealth tends to behave.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A2B"/>
                </a:solidFill>
                <a:latin typeface="Times New Roman"/>
              </a:rPr>
              <a:t>PART 3  • 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"Elite Impunity": 2008 vs 2019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4297680"/>
          </a:xfrm>
          <a:prstGeom prst="rect">
            <a:avLst/>
          </a:prstGeom>
          <a:solidFill>
            <a:srgbClr val="E8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08A2B"/>
                </a:solidFill>
                <a:latin typeface="Times New Roman"/>
              </a:rPr>
              <a:t>2008 — FLORIDA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334455"/>
                </a:solidFill>
                <a:latin typeface="Times New Roman"/>
              </a:rPr>
              <a:t>•  State-level plea deal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334455"/>
                </a:solidFill>
                <a:latin typeface="Times New Roman"/>
              </a:rPr>
              <a:t>•  Served ~13 months, with work release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334455"/>
                </a:solidFill>
                <a:latin typeface="Times New Roman"/>
              </a:rPr>
              <a:t>•  Non-prosecution agreement shielded others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334455"/>
                </a:solidFill>
                <a:latin typeface="Times New Roman"/>
              </a:rPr>
              <a:t>•  Victims said they were not consulted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349240" cy="429768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08A2B"/>
                </a:solidFill>
                <a:latin typeface="Times New Roman"/>
              </a:rPr>
              <a:t>2019 — FEDERAL (NY)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F2F4F7"/>
                </a:solidFill>
                <a:latin typeface="Times New Roman"/>
              </a:rPr>
              <a:t>•  Federal sex-trafficking charges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F2F4F7"/>
                </a:solidFill>
                <a:latin typeface="Times New Roman"/>
              </a:rPr>
              <a:t>•  Held without bail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F2F4F7"/>
                </a:solidFill>
                <a:latin typeface="Times New Roman"/>
              </a:rPr>
              <a:t>•  Treated as serious organised wrongdoing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>
                <a:solidFill>
                  <a:srgbClr val="F2F4F7"/>
                </a:solidFill>
                <a:latin typeface="Times New Roman"/>
              </a:rPr>
              <a:t>•  Case ended only with his death in custody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0F2A43"/>
                </a:solidFill>
                <a:latin typeface="Times New Roman"/>
              </a:rPr>
              <a:t>The same conduct, two very different responses — a decade apart.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A2B"/>
                </a:solidFill>
                <a:latin typeface="Times New Roman"/>
              </a:rPr>
              <a:t>PART 3  •  COMPARATIVE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Would Other Systems Have Acted Differently?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>
                <a:solidFill>
                  <a:srgbClr val="0F2A43"/>
                </a:solidFill>
                <a:latin typeface="Times New Roman"/>
              </a:rPr>
              <a:t>•  Adversarial vs inquisitorial: </a:t>
            </a:r>
            <a:r>
              <a:rPr sz="1900">
                <a:solidFill>
                  <a:srgbClr val="334455"/>
                </a:solidFill>
                <a:latin typeface="Times New Roman"/>
              </a:rPr>
              <a:t>France's investigating magistrates can drive cases differently from US prosecutors.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>
                <a:solidFill>
                  <a:srgbClr val="0F2A43"/>
                </a:solidFill>
                <a:latin typeface="Times New Roman"/>
              </a:rPr>
              <a:t>•  Victim participation: </a:t>
            </a:r>
            <a:r>
              <a:rPr sz="1900">
                <a:solidFill>
                  <a:srgbClr val="334455"/>
                </a:solidFill>
                <a:latin typeface="Times New Roman"/>
              </a:rPr>
              <a:t>some systems give victims a formal role earlier in proceedings.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>
                <a:solidFill>
                  <a:srgbClr val="0F2A43"/>
                </a:solidFill>
                <a:latin typeface="Times New Roman"/>
              </a:rPr>
              <a:t>•  Limitation periods: </a:t>
            </a:r>
            <a:r>
              <a:rPr sz="1900">
                <a:solidFill>
                  <a:srgbClr val="334455"/>
                </a:solidFill>
                <a:latin typeface="Times New Roman"/>
              </a:rPr>
              <a:t>how long after the abuse can charges still be brought?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>
                <a:solidFill>
                  <a:srgbClr val="0F2A43"/>
                </a:solidFill>
                <a:latin typeface="Times New Roman"/>
              </a:rPr>
              <a:t>•  Plea bargaining: </a:t>
            </a:r>
            <a:r>
              <a:rPr sz="1900">
                <a:solidFill>
                  <a:srgbClr val="334455"/>
                </a:solidFill>
                <a:latin typeface="Times New Roman"/>
              </a:rPr>
              <a:t>less central in many civil-law systems, changing the incentive to settle quietly.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1">
                <a:solidFill>
                  <a:srgbClr val="0F2A43"/>
                </a:solidFill>
                <a:latin typeface="Times New Roman"/>
              </a:rPr>
              <a:t>Central question: would the UK, France or Japan have acted faster — or slower?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3246120"/>
            <a:ext cx="2926080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C08A2B"/>
                </a:solidFill>
                <a:latin typeface="Times New Roman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Accountability, Transparency &amp;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>
                <a:solidFill>
                  <a:srgbClr val="F2F4F7"/>
                </a:solidFill>
                <a:latin typeface="Times New Roman"/>
              </a:rPr>
              <a:t>Designing cross-border justice that actually protects victims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A2B"/>
                </a:solidFill>
                <a:latin typeface="Times New Roman"/>
              </a:rPr>
              <a:t>PART 4  • 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The 2025 Document-Release 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US transparency legislation drove a large release of case-related documents.</a:t>
            </a:r>
          </a:p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Intended to answer public demand for accountability and openness.</a:t>
            </a:r>
          </a:p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1900" b="1">
                <a:solidFill>
                  <a:srgbClr val="0F2A43"/>
                </a:solidFill>
                <a:latin typeface="Times New Roman"/>
              </a:rPr>
              <a:t>•  Survivors' concern: </a:t>
            </a:r>
            <a:r>
              <a:rPr sz="1900">
                <a:solidFill>
                  <a:srgbClr val="334455"/>
                </a:solidFill>
                <a:latin typeface="Times New Roman"/>
              </a:rPr>
              <a:t>the disclosures made it easy to identify those abused — but not those who may have been involved.</a:t>
            </a:r>
          </a:p>
          <a:p>
            <a:pPr>
              <a:lnSpc>
                <a:spcPct val="105000"/>
              </a:lnSpc>
              <a:spcAft>
                <a:spcPts val="1700"/>
              </a:spcAft>
            </a:pPr>
            <a:r>
              <a:rPr sz="1900">
                <a:solidFill>
                  <a:srgbClr val="334455"/>
                </a:solidFill>
                <a:latin typeface="Times New Roman"/>
              </a:rPr>
              <a:t>•  A real tension emerges between public transparency and the privacy and safety of victims.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0F2A43"/>
                </a:solidFill>
                <a:latin typeface="Times New Roman"/>
              </a:rPr>
              <a:t>Transparency is not automatically just — its design determines who it protects.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A2B"/>
                </a:solidFill>
                <a:latin typeface="Times New Roman"/>
              </a:rPr>
              <a:t>PART 4  • 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Reform Proposals &amp; a Japan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800">
                <a:solidFill>
                  <a:srgbClr val="334455"/>
                </a:solidFill>
                <a:latin typeface="Times New Roman"/>
              </a:rPr>
              <a:t>•  Faster, better-resourced MLAT and extradition channels.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800">
                <a:solidFill>
                  <a:srgbClr val="334455"/>
                </a:solidFill>
                <a:latin typeface="Times New Roman"/>
              </a:rPr>
              <a:t>•  Victim-centred disclosure rules that shield identities by default.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800">
                <a:solidFill>
                  <a:srgbClr val="334455"/>
                </a:solidFill>
                <a:latin typeface="Times New Roman"/>
              </a:rPr>
              <a:t>•  Stronger cross-border asset tracing and recovery.</a:t>
            </a:r>
          </a:p>
          <a:p>
            <a:pPr>
              <a:lnSpc>
                <a:spcPct val="105000"/>
              </a:lnSpc>
              <a:spcAft>
                <a:spcPts val="1500"/>
              </a:spcAft>
            </a:pPr>
            <a:r>
              <a:rPr sz="1800">
                <a:solidFill>
                  <a:srgbClr val="334455"/>
                </a:solidFill>
                <a:latin typeface="Times New Roman"/>
              </a:rPr>
              <a:t>•  Harmonised definitions so cooperation isn't blocked by mismatched laws.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554480"/>
            <a:ext cx="3931920" cy="4480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783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08A2B"/>
                </a:solidFill>
                <a:latin typeface="Times New Roman"/>
              </a:rPr>
              <a:t>JAPAN 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2860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334455"/>
                </a:solidFill>
                <a:latin typeface="Times New Roman"/>
              </a:rPr>
              <a:t>Japan has an anti-trafficking action framework and is assessed annually in the US State Department's TIP Report — a useful benchmark for how a non-Western system measures up on cross-border cooperation.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08A2B"/>
                </a:solidFill>
                <a:latin typeface="Times New Roman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5488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Times New Roman"/>
              </a:rPr>
              <a:t>Four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0" cy="86868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53896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A43"/>
                </a:solidFill>
                <a:latin typeface="Times New Roman"/>
              </a:rPr>
              <a:t>Crime crosses borders — justice often doesn't.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37944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334455"/>
                </a:solidFill>
                <a:latin typeface="Times New Roman"/>
              </a:rPr>
              <a:t>Networks are global; enforcement is national.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04872"/>
            <a:ext cx="731520" cy="86868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877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41448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A43"/>
                </a:solidFill>
                <a:latin typeface="Times New Roman"/>
              </a:rPr>
              <a:t>The legal tools already exist.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25496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334455"/>
                </a:solidFill>
                <a:latin typeface="Times New Roman"/>
              </a:rPr>
              <a:t>Palermo &amp; UNTOC provide the framework; coordination is the gap.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92424"/>
            <a:ext cx="731520" cy="86868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75304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4290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A43"/>
                </a:solidFill>
                <a:latin typeface="Times New Roman"/>
              </a:rPr>
              <a:t>Wealth buys time, not immunity.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813048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334455"/>
                </a:solidFill>
                <a:latin typeface="Times New Roman"/>
              </a:rPr>
              <a:t>Mobility delayed — but did not finally prevent — accountability.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379976"/>
            <a:ext cx="731520" cy="868680"/>
          </a:xfrm>
          <a:prstGeom prst="rect">
            <a:avLst/>
          </a:prstGeom>
          <a:solidFill>
            <a:srgbClr val="C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62856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Times New Roman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416552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2A43"/>
                </a:solidFill>
                <a:latin typeface="Times New Roman"/>
              </a:rPr>
              <a:t>Transparency must protect victims.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8006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334455"/>
                </a:solidFill>
                <a:latin typeface="Times New Roman"/>
              </a:rPr>
              <a:t>Disclosure should expose enablers, not endanger survivors.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32120"/>
            <a:ext cx="11064240" cy="1051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509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08A2B"/>
                </a:solidFill>
                <a:latin typeface="Times New Roman"/>
              </a:rPr>
              <a:t>SELECTED SOURCES &amp; INSTRUMENTS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94360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455"/>
                </a:solidFill>
                <a:latin typeface="Times New Roman"/>
              </a:rPr>
              <a:t>Palermo Protocol (2000) · UN Convention against Transnational Organized Crime · US DOJ filings (US v. Epstein 2019; US v. Maxwell 2021) · US State Dept. Trafficking in Persons Reports · contemporary reporting on 2025 disclosures.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