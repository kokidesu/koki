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3.svg" ContentType="image/svg+xml"/>
  <Override PartName="/ppt/media/image15.svg" ContentType="image/svg+xml"/>
  <Override PartName="/ppt/media/image16.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61" r:id="rId7"/>
    <p:sldId id="262" r:id="rId8"/>
    <p:sldId id="263" r:id="rId9"/>
    <p:sldId id="264" r:id="rId10"/>
    <p:sldId id="265" r:id="rId11"/>
    <p:sldId id="266" r:id="rId12"/>
    <p:sldId id="267" r:id="rId13"/>
    <p:sldId id="275" r:id="rId14"/>
    <p:sldId id="274" r:id="rId15"/>
    <p:sldId id="269" r:id="rId16"/>
    <p:sldId id="270" r:id="rId17"/>
    <p:sldId id="271" r:id="rId18"/>
    <p:sldId id="272" r:id="rId19"/>
    <p:sldId id="273" r:id="rId20"/>
  </p:sldIdLst>
  <p:sldSz cx="9144000" cy="5143500" type="screen16x9"/>
  <p:notesSz cx="5143500" cy="9144000"/>
  <p:embeddedFontLst>
    <p:embeddedFont>
      <p:font typeface="Marcellus" panose="020E0602050203020307"/>
      <p:regular r:id="rId22"/>
    </p:embeddedFont>
    <p:embeddedFont>
      <p:font typeface="Montserrat" pitchFamily="2" charset="0"/>
      <p:regular r:id="rId23"/>
      <p:bold r:id="rId24"/>
      <p:italic r:id="rId25"/>
      <p:boldItalic r:id="rId2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0"/>
    <p:restoredTop sz="94610"/>
  </p:normalViewPr>
  <p:slideViewPr>
    <p:cSldViewPr snapToGrid="0" snapToObjects="1">
      <p:cViewPr varScale="1">
        <p:scale>
          <a:sx n="163" d="100"/>
          <a:sy n="163" d="100"/>
        </p:scale>
        <p:origin x="2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04827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C8AB"/>
          </a:solidFill>
          <a:ln/>
        </p:spPr>
        <p:txBody>
          <a:bodyPr/>
          <a:lstStyle/>
          <a:p>
            <a:endParaRPr lang="ko-KR" altLang="en-US"/>
          </a:p>
        </p:txBody>
      </p:sp>
      <p:sp>
        <p:nvSpPr>
          <p:cNvPr id="3" name="Shape 1"/>
          <p:cNvSpPr/>
          <p:nvPr/>
        </p:nvSpPr>
        <p:spPr>
          <a:xfrm>
            <a:off x="0" y="0"/>
            <a:ext cx="9144000" cy="5143500"/>
          </a:xfrm>
          <a:prstGeom prst="rect">
            <a:avLst/>
          </a:prstGeom>
          <a:solidFill>
            <a:srgbClr val="FFFFF4">
              <a:alpha val="95000"/>
            </a:srgbClr>
          </a:solidFill>
          <a:ln/>
        </p:spPr>
        <p:txBody>
          <a:bodyPr/>
          <a:lstStyle/>
          <a:p>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sv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1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hyperlink" Target="https://www.adb.org/publications/saemaul-undong-movement-republic-korea" TargetMode="External"/><Relationship Id="rId4" Type="http://schemas.openxmlformats.org/officeDocument/2006/relationships/hyperlink" Target="https://www.koica.go.kr" TargetMode="External"/><Relationship Id="rId5" Type="http://schemas.openxmlformats.org/officeDocument/2006/relationships/hyperlink" Target="https://www.laterite.com/wp-content/uploads/2020/06/Youth_Employment_RWANDA__PORT_WEB-FINAL.pdf" TargetMode="External"/><Relationship Id="rId6" Type="http://schemas.openxmlformats.org/officeDocument/2006/relationships/hyperlink" Target="https://www.oecd.org/dac/development-cooperation-report/" TargetMode="External"/><Relationship Id="rId7" Type="http://schemas.openxmlformats.org/officeDocument/2006/relationships/hyperlink" Target="https://www.oecd.org/dac/effectiveness/" TargetMode="External"/><Relationship Id="rId8" Type="http://schemas.openxmlformats.org/officeDocument/2006/relationships/hyperlink" Target="https://www.rtb.gov.rw/" TargetMode="External"/><Relationship Id="rId9" Type="http://schemas.openxmlformats.org/officeDocument/2006/relationships/hyperlink" Target="https://www.sciencedirect.com/science/article/abs/pii/S0738059324000403" TargetMode="External"/><Relationship Id="rId10" Type="http://schemas.openxmlformats.org/officeDocument/2006/relationships/hyperlink" Target="https://www.undp.org/rwanda" TargetMode="External"/><Relationship Id="rId11" Type="http://schemas.openxmlformats.org/officeDocument/2006/relationships/hyperlink" Target="https://www.worldbank.org/en/country/rwanda" TargetMode="External"/></Relationships>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825624"/>
            <a:ext cx="567630" cy="232395"/>
          </a:xfrm>
          <a:prstGeom prst="roundRect">
            <a:avLst>
              <a:gd name="adj" fmla="val 20497"/>
            </a:avLst>
          </a:prstGeom>
          <a:solidFill>
            <a:srgbClr val="FFE0CC"/>
          </a:solidFill>
          <a:ln/>
        </p:spPr>
        <p:txBody>
          <a:bodyPr/>
          <a:lstStyle/>
          <a:p>
            <a:endParaRPr lang="ko-KR" altLang="en-US"/>
          </a:p>
        </p:txBody>
      </p:sp>
      <p:sp>
        <p:nvSpPr>
          <p:cNvPr id="3" name="Text 1"/>
          <p:cNvSpPr/>
          <p:nvPr/>
        </p:nvSpPr>
        <p:spPr>
          <a:xfrm>
            <a:off x="581174" y="868114"/>
            <a:ext cx="397520" cy="147414"/>
          </a:xfrm>
          <a:prstGeom prst="rect">
            <a:avLst/>
          </a:prstGeom>
          <a:noFill/>
          <a:ln/>
        </p:spPr>
        <p:txBody>
          <a:bodyPr wrap="none" lIns="0" tIns="0" rIns="0" bIns="0" rtlCol="0" anchor="t"/>
          <a:lstStyle/>
          <a:p>
            <a:pPr marL="0" indent="0" algn="l">
              <a:lnSpc>
                <a:spcPts val="1150"/>
              </a:lnSpc>
              <a:buNone/>
            </a:pPr>
            <a:r>
              <a:rPr lang="en-US" sz="850" dirty="0">
                <a:solidFill>
                  <a:srgbClr val="67534F"/>
                </a:solidFill>
                <a:latin typeface="Montserrat" pitchFamily="34" charset="0"/>
                <a:ea typeface="Montserrat" pitchFamily="34" charset="-122"/>
                <a:cs typeface="Montserrat" pitchFamily="34" charset="-120"/>
              </a:rPr>
              <a:t>PART 2</a:t>
            </a:r>
            <a:endParaRPr lang="en-US" sz="850" dirty="0"/>
          </a:p>
        </p:txBody>
      </p:sp>
      <p:sp>
        <p:nvSpPr>
          <p:cNvPr id="4" name="Text 2"/>
          <p:cNvSpPr/>
          <p:nvPr/>
        </p:nvSpPr>
        <p:spPr>
          <a:xfrm>
            <a:off x="496119" y="1114723"/>
            <a:ext cx="7740402" cy="529828"/>
          </a:xfrm>
          <a:prstGeom prst="rect">
            <a:avLst/>
          </a:prstGeom>
          <a:noFill/>
          <a:ln/>
        </p:spPr>
        <p:txBody>
          <a:bodyPr wrap="none" lIns="0" tIns="0" rIns="0" bIns="0" rtlCol="0" anchor="t"/>
          <a:lstStyle/>
          <a:p>
            <a:pPr marL="0" indent="0" algn="l">
              <a:lnSpc>
                <a:spcPts val="4150"/>
              </a:lnSpc>
              <a:buNone/>
            </a:pPr>
            <a:r>
              <a:rPr lang="en-US" sz="3200" dirty="0">
                <a:solidFill>
                  <a:srgbClr val="532418"/>
                </a:solidFill>
                <a:latin typeface="Marcellus" pitchFamily="34" charset="0"/>
                <a:ea typeface="Marcellus" pitchFamily="34" charset="-122"/>
                <a:cs typeface="Marcellus" pitchFamily="34" charset="-120"/>
              </a:rPr>
              <a:t>The Role Model: Korea's Saemaul Undong</a:t>
            </a:r>
            <a:endParaRPr lang="en-US" sz="3200" dirty="0"/>
          </a:p>
        </p:txBody>
      </p:sp>
      <p:pic>
        <p:nvPicPr>
          <p:cNvPr id="5"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6119" y="1857152"/>
            <a:ext cx="1507480" cy="931664"/>
          </a:xfrm>
          <a:prstGeom prst="rect">
            <a:avLst/>
          </a:prstGeom>
        </p:spPr>
      </p:pic>
      <p:sp>
        <p:nvSpPr>
          <p:cNvPr id="6" name="Text 3"/>
          <p:cNvSpPr/>
          <p:nvPr/>
        </p:nvSpPr>
        <p:spPr>
          <a:xfrm>
            <a:off x="496119" y="2965996"/>
            <a:ext cx="2599134" cy="529828"/>
          </a:xfrm>
          <a:prstGeom prst="rect">
            <a:avLst/>
          </a:prstGeom>
          <a:noFill/>
          <a:ln/>
        </p:spPr>
        <p:txBody>
          <a:bodyPr wrap="square" lIns="0" tIns="0" rIns="0" bIns="0" rtlCol="0" anchor="t"/>
          <a:lstStyle/>
          <a:p>
            <a:pPr marL="0" indent="0" algn="l">
              <a:lnSpc>
                <a:spcPts val="2050"/>
              </a:lnSpc>
              <a:buNone/>
            </a:pPr>
            <a:r>
              <a:rPr lang="en-US" sz="1400" dirty="0">
                <a:solidFill>
                  <a:srgbClr val="67534F"/>
                </a:solidFill>
                <a:latin typeface="Marcellus" pitchFamily="34" charset="0"/>
                <a:ea typeface="Marcellus" pitchFamily="34" charset="-122"/>
                <a:cs typeface="Marcellus" pitchFamily="34" charset="-120"/>
              </a:rPr>
              <a:t>The Miracle of the Han River</a:t>
            </a:r>
            <a:endParaRPr lang="en-US" sz="1400" dirty="0"/>
          </a:p>
        </p:txBody>
      </p:sp>
      <p:sp>
        <p:nvSpPr>
          <p:cNvPr id="7" name="Text 4"/>
          <p:cNvSpPr/>
          <p:nvPr/>
        </p:nvSpPr>
        <p:spPr>
          <a:xfrm>
            <a:off x="496119" y="3315965"/>
            <a:ext cx="2599134" cy="736997"/>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From rubble to prosperity, South Korea's post-war transformation is one of the most studied development stories in history.</a:t>
            </a:r>
            <a:endParaRPr lang="en-US" sz="1100" dirty="0"/>
          </a:p>
        </p:txBody>
      </p:sp>
      <p:pic>
        <p:nvPicPr>
          <p:cNvPr id="8"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72433" y="1857152"/>
            <a:ext cx="1507480" cy="931664"/>
          </a:xfrm>
          <a:prstGeom prst="rect">
            <a:avLst/>
          </a:prstGeom>
        </p:spPr>
      </p:pic>
      <p:sp>
        <p:nvSpPr>
          <p:cNvPr id="9" name="Text 5"/>
          <p:cNvSpPr/>
          <p:nvPr/>
        </p:nvSpPr>
        <p:spPr>
          <a:xfrm>
            <a:off x="3272433" y="2965996"/>
            <a:ext cx="2037904" cy="264914"/>
          </a:xfrm>
          <a:prstGeom prst="rect">
            <a:avLst/>
          </a:prstGeom>
          <a:noFill/>
          <a:ln/>
        </p:spPr>
        <p:txBody>
          <a:bodyPr wrap="non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Saemaul Undong</a:t>
            </a:r>
            <a:endParaRPr lang="en-US" sz="1600" dirty="0"/>
          </a:p>
        </p:txBody>
      </p:sp>
      <p:sp>
        <p:nvSpPr>
          <p:cNvPr id="10" name="Text 6"/>
          <p:cNvSpPr/>
          <p:nvPr/>
        </p:nvSpPr>
        <p:spPr>
          <a:xfrm>
            <a:off x="3272433" y="3315965"/>
            <a:ext cx="2599134" cy="921246"/>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A grassroots rural modernization movement built on the values of diligence, self-help, and cooperation reshaping Korean society from the village up.</a:t>
            </a:r>
            <a:endParaRPr lang="en-US" sz="1100" dirty="0"/>
          </a:p>
        </p:txBody>
      </p:sp>
      <p:pic>
        <p:nvPicPr>
          <p:cNvPr id="11"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48747" y="1857152"/>
            <a:ext cx="1507480" cy="931664"/>
          </a:xfrm>
          <a:prstGeom prst="rect">
            <a:avLst/>
          </a:prstGeom>
        </p:spPr>
      </p:pic>
      <p:sp>
        <p:nvSpPr>
          <p:cNvPr id="12" name="Text 7"/>
          <p:cNvSpPr/>
          <p:nvPr/>
        </p:nvSpPr>
        <p:spPr>
          <a:xfrm>
            <a:off x="6048747" y="2965996"/>
            <a:ext cx="2037904" cy="264914"/>
          </a:xfrm>
          <a:prstGeom prst="rect">
            <a:avLst/>
          </a:prstGeom>
          <a:noFill/>
          <a:ln/>
        </p:spPr>
        <p:txBody>
          <a:bodyPr wrap="non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Donor from Recipient</a:t>
            </a:r>
            <a:endParaRPr lang="en-US" sz="1600" dirty="0"/>
          </a:p>
        </p:txBody>
      </p:sp>
      <p:sp>
        <p:nvSpPr>
          <p:cNvPr id="13" name="Text 8"/>
          <p:cNvSpPr/>
          <p:nvPr/>
        </p:nvSpPr>
        <p:spPr>
          <a:xfrm>
            <a:off x="6048747" y="3315965"/>
            <a:ext cx="2599134" cy="921246"/>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The only nation in modern history to transition from a major aid recipient to a leading aid donor, a transformation Rwanda studies closely.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907628"/>
            <a:ext cx="5581948" cy="529828"/>
          </a:xfrm>
          <a:prstGeom prst="rect">
            <a:avLst/>
          </a:prstGeom>
          <a:noFill/>
          <a:ln/>
        </p:spPr>
        <p:txBody>
          <a:bodyPr wrap="none" lIns="0" tIns="0" rIns="0" bIns="0" rtlCol="0" anchor="t"/>
          <a:lstStyle/>
          <a:p>
            <a:pPr marL="0" indent="0" algn="l">
              <a:lnSpc>
                <a:spcPts val="4150"/>
              </a:lnSpc>
              <a:buNone/>
            </a:pPr>
            <a:r>
              <a:rPr lang="en-US" sz="3200" dirty="0">
                <a:solidFill>
                  <a:srgbClr val="532418"/>
                </a:solidFill>
                <a:latin typeface="Marcellus" pitchFamily="34" charset="0"/>
                <a:ea typeface="Marcellus" pitchFamily="34" charset="-122"/>
                <a:cs typeface="Marcellus" pitchFamily="34" charset="-120"/>
              </a:rPr>
              <a:t>The 'Miracle of the Han River'</a:t>
            </a:r>
            <a:endParaRPr lang="en-US" sz="3200" dirty="0"/>
          </a:p>
        </p:txBody>
      </p:sp>
      <p:sp>
        <p:nvSpPr>
          <p:cNvPr id="3" name="Text 1"/>
          <p:cNvSpPr/>
          <p:nvPr/>
        </p:nvSpPr>
        <p:spPr>
          <a:xfrm>
            <a:off x="496119" y="1791816"/>
            <a:ext cx="2599134" cy="467767"/>
          </a:xfrm>
          <a:prstGeom prst="rect">
            <a:avLst/>
          </a:prstGeom>
          <a:noFill/>
          <a:ln/>
        </p:spPr>
        <p:txBody>
          <a:bodyPr wrap="none" lIns="0" tIns="0" rIns="0" bIns="0" rtlCol="0" anchor="t"/>
          <a:lstStyle/>
          <a:p>
            <a:pPr marL="0" indent="0" algn="ctr">
              <a:lnSpc>
                <a:spcPts val="3650"/>
              </a:lnSpc>
              <a:buNone/>
            </a:pPr>
            <a:r>
              <a:rPr lang="en-US" sz="3650" dirty="0">
                <a:solidFill>
                  <a:srgbClr val="67534F"/>
                </a:solidFill>
                <a:latin typeface="Marcellus" pitchFamily="34" charset="0"/>
                <a:ea typeface="Marcellus" pitchFamily="34" charset="-122"/>
                <a:cs typeface="Marcellus" pitchFamily="34" charset="-120"/>
              </a:rPr>
              <a:t>$60</a:t>
            </a:r>
            <a:endParaRPr lang="en-US" sz="3650" dirty="0"/>
          </a:p>
        </p:txBody>
      </p:sp>
      <p:sp>
        <p:nvSpPr>
          <p:cNvPr id="4" name="Text 2"/>
          <p:cNvSpPr/>
          <p:nvPr/>
        </p:nvSpPr>
        <p:spPr>
          <a:xfrm>
            <a:off x="776734" y="2436688"/>
            <a:ext cx="2037904" cy="264914"/>
          </a:xfrm>
          <a:prstGeom prst="rect">
            <a:avLst/>
          </a:prstGeom>
          <a:noFill/>
          <a:ln/>
        </p:spPr>
        <p:txBody>
          <a:bodyPr wrap="none" lIns="0" tIns="0" rIns="0" bIns="0" rtlCol="0" anchor="t"/>
          <a:lstStyle/>
          <a:p>
            <a:pPr marL="0" indent="0" algn="ctr">
              <a:lnSpc>
                <a:spcPts val="2050"/>
              </a:lnSpc>
              <a:buNone/>
            </a:pPr>
            <a:r>
              <a:rPr lang="en-US" sz="1600" dirty="0">
                <a:solidFill>
                  <a:srgbClr val="67534F"/>
                </a:solidFill>
                <a:latin typeface="Marcellus" pitchFamily="34" charset="0"/>
                <a:ea typeface="Marcellus" pitchFamily="34" charset="-122"/>
                <a:cs typeface="Marcellus" pitchFamily="34" charset="-120"/>
              </a:rPr>
              <a:t>GDP Per Capita</a:t>
            </a:r>
            <a:endParaRPr lang="en-US" sz="1600" dirty="0"/>
          </a:p>
        </p:txBody>
      </p:sp>
      <p:sp>
        <p:nvSpPr>
          <p:cNvPr id="5" name="Text 3"/>
          <p:cNvSpPr/>
          <p:nvPr/>
        </p:nvSpPr>
        <p:spPr>
          <a:xfrm>
            <a:off x="496119" y="2786658"/>
            <a:ext cx="2599134" cy="552748"/>
          </a:xfrm>
          <a:prstGeom prst="rect">
            <a:avLst/>
          </a:prstGeom>
          <a:noFill/>
          <a:ln/>
        </p:spPr>
        <p:txBody>
          <a:bodyPr wrap="square" lIns="0" tIns="0" rIns="0" bIns="0" rtlCol="0" anchor="t"/>
          <a:lstStyle/>
          <a:p>
            <a:pPr marL="0" indent="0" algn="ctr">
              <a:lnSpc>
                <a:spcPts val="1450"/>
              </a:lnSpc>
              <a:buNone/>
            </a:pPr>
            <a:r>
              <a:rPr lang="en-US" sz="1100" dirty="0">
                <a:solidFill>
                  <a:srgbClr val="67534F"/>
                </a:solidFill>
                <a:latin typeface="Montserrat" pitchFamily="34" charset="0"/>
                <a:ea typeface="Montserrat" pitchFamily="34" charset="-122"/>
                <a:cs typeface="Montserrat" pitchFamily="34" charset="-120"/>
              </a:rPr>
              <a:t>South Korea's GDP per capita in the early 1950s, among the lowest in the world following the Korean War</a:t>
            </a:r>
            <a:endParaRPr lang="en-US" sz="1100" dirty="0"/>
          </a:p>
        </p:txBody>
      </p:sp>
      <p:sp>
        <p:nvSpPr>
          <p:cNvPr id="6" name="Text 4"/>
          <p:cNvSpPr/>
          <p:nvPr/>
        </p:nvSpPr>
        <p:spPr>
          <a:xfrm>
            <a:off x="3272433" y="1791816"/>
            <a:ext cx="2599134" cy="467767"/>
          </a:xfrm>
          <a:prstGeom prst="rect">
            <a:avLst/>
          </a:prstGeom>
          <a:noFill/>
          <a:ln/>
        </p:spPr>
        <p:txBody>
          <a:bodyPr wrap="none" lIns="0" tIns="0" rIns="0" bIns="0" rtlCol="0" anchor="t"/>
          <a:lstStyle/>
          <a:p>
            <a:pPr marL="0" indent="0" algn="ctr">
              <a:lnSpc>
                <a:spcPts val="3650"/>
              </a:lnSpc>
              <a:buNone/>
            </a:pPr>
            <a:r>
              <a:rPr lang="en-US" sz="3650" dirty="0">
                <a:solidFill>
                  <a:srgbClr val="67534F"/>
                </a:solidFill>
                <a:latin typeface="Marcellus" pitchFamily="34" charset="0"/>
                <a:ea typeface="Marcellus" pitchFamily="34" charset="-122"/>
                <a:cs typeface="Marcellus" pitchFamily="34" charset="-120"/>
              </a:rPr>
              <a:t>1st</a:t>
            </a:r>
            <a:endParaRPr lang="en-US" sz="3650" dirty="0"/>
          </a:p>
        </p:txBody>
      </p:sp>
      <p:sp>
        <p:nvSpPr>
          <p:cNvPr id="7" name="Text 5"/>
          <p:cNvSpPr/>
          <p:nvPr/>
        </p:nvSpPr>
        <p:spPr>
          <a:xfrm>
            <a:off x="3553048" y="2436688"/>
            <a:ext cx="2037904" cy="264914"/>
          </a:xfrm>
          <a:prstGeom prst="rect">
            <a:avLst/>
          </a:prstGeom>
          <a:noFill/>
          <a:ln/>
        </p:spPr>
        <p:txBody>
          <a:bodyPr wrap="none" lIns="0" tIns="0" rIns="0" bIns="0" rtlCol="0" anchor="t"/>
          <a:lstStyle/>
          <a:p>
            <a:pPr marL="0" indent="0" algn="ctr">
              <a:lnSpc>
                <a:spcPts val="2050"/>
              </a:lnSpc>
              <a:buNone/>
            </a:pPr>
            <a:r>
              <a:rPr lang="en-US" sz="1600" dirty="0">
                <a:solidFill>
                  <a:srgbClr val="67534F"/>
                </a:solidFill>
                <a:latin typeface="Marcellus" pitchFamily="34" charset="0"/>
                <a:ea typeface="Marcellus" pitchFamily="34" charset="-122"/>
                <a:cs typeface="Marcellus" pitchFamily="34" charset="-120"/>
              </a:rPr>
              <a:t>Unique Transition</a:t>
            </a:r>
            <a:endParaRPr lang="en-US" sz="1600" dirty="0"/>
          </a:p>
        </p:txBody>
      </p:sp>
      <p:sp>
        <p:nvSpPr>
          <p:cNvPr id="8" name="Text 6"/>
          <p:cNvSpPr/>
          <p:nvPr/>
        </p:nvSpPr>
        <p:spPr>
          <a:xfrm>
            <a:off x="3272433" y="2786658"/>
            <a:ext cx="2599134" cy="736997"/>
          </a:xfrm>
          <a:prstGeom prst="rect">
            <a:avLst/>
          </a:prstGeom>
          <a:noFill/>
          <a:ln/>
        </p:spPr>
        <p:txBody>
          <a:bodyPr wrap="square" lIns="0" tIns="0" rIns="0" bIns="0" rtlCol="0" anchor="t"/>
          <a:lstStyle/>
          <a:p>
            <a:pPr marL="0" indent="0" algn="ctr">
              <a:lnSpc>
                <a:spcPts val="1450"/>
              </a:lnSpc>
              <a:buNone/>
            </a:pPr>
            <a:r>
              <a:rPr lang="en-US" sz="1100" dirty="0">
                <a:solidFill>
                  <a:srgbClr val="67534F"/>
                </a:solidFill>
                <a:latin typeface="Montserrat" pitchFamily="34" charset="0"/>
                <a:ea typeface="Montserrat" pitchFamily="34" charset="-122"/>
                <a:cs typeface="Montserrat" pitchFamily="34" charset="-120"/>
              </a:rPr>
              <a:t>The only nation ever to transition formally from an ODA recipient to a member of the OECD Development Assistance Committee (DAC)</a:t>
            </a:r>
            <a:endParaRPr lang="en-US" sz="1100" dirty="0"/>
          </a:p>
        </p:txBody>
      </p:sp>
      <p:sp>
        <p:nvSpPr>
          <p:cNvPr id="9" name="Text 7"/>
          <p:cNvSpPr/>
          <p:nvPr/>
        </p:nvSpPr>
        <p:spPr>
          <a:xfrm>
            <a:off x="6048747" y="1791816"/>
            <a:ext cx="2599134" cy="467767"/>
          </a:xfrm>
          <a:prstGeom prst="rect">
            <a:avLst/>
          </a:prstGeom>
          <a:noFill/>
          <a:ln/>
        </p:spPr>
        <p:txBody>
          <a:bodyPr wrap="none" lIns="0" tIns="0" rIns="0" bIns="0" rtlCol="0" anchor="t"/>
          <a:lstStyle/>
          <a:p>
            <a:pPr marL="0" indent="0" algn="ctr">
              <a:lnSpc>
                <a:spcPts val="3650"/>
              </a:lnSpc>
              <a:buNone/>
            </a:pPr>
            <a:r>
              <a:rPr lang="en-US" sz="3650" dirty="0">
                <a:solidFill>
                  <a:srgbClr val="67534F"/>
                </a:solidFill>
                <a:latin typeface="Marcellus" pitchFamily="34" charset="0"/>
                <a:ea typeface="Marcellus" pitchFamily="34" charset="-122"/>
                <a:cs typeface="Marcellus" pitchFamily="34" charset="-120"/>
              </a:rPr>
              <a:t>30+</a:t>
            </a:r>
            <a:endParaRPr lang="en-US" sz="3650" dirty="0"/>
          </a:p>
        </p:txBody>
      </p:sp>
      <p:sp>
        <p:nvSpPr>
          <p:cNvPr id="10" name="Text 8"/>
          <p:cNvSpPr/>
          <p:nvPr/>
        </p:nvSpPr>
        <p:spPr>
          <a:xfrm>
            <a:off x="6329363" y="2436688"/>
            <a:ext cx="2037904" cy="264914"/>
          </a:xfrm>
          <a:prstGeom prst="rect">
            <a:avLst/>
          </a:prstGeom>
          <a:noFill/>
          <a:ln/>
        </p:spPr>
        <p:txBody>
          <a:bodyPr wrap="none" lIns="0" tIns="0" rIns="0" bIns="0" rtlCol="0" anchor="t"/>
          <a:lstStyle/>
          <a:p>
            <a:pPr marL="0" indent="0" algn="ctr">
              <a:lnSpc>
                <a:spcPts val="2050"/>
              </a:lnSpc>
              <a:buNone/>
            </a:pPr>
            <a:r>
              <a:rPr lang="en-US" sz="1600" dirty="0">
                <a:solidFill>
                  <a:srgbClr val="67534F"/>
                </a:solidFill>
                <a:latin typeface="Marcellus" pitchFamily="34" charset="0"/>
                <a:ea typeface="Marcellus" pitchFamily="34" charset="-122"/>
                <a:cs typeface="Marcellus" pitchFamily="34" charset="-120"/>
              </a:rPr>
              <a:t>Years to Transform</a:t>
            </a:r>
            <a:endParaRPr lang="en-US" sz="1600" dirty="0"/>
          </a:p>
        </p:txBody>
      </p:sp>
      <p:sp>
        <p:nvSpPr>
          <p:cNvPr id="11" name="Text 9"/>
          <p:cNvSpPr/>
          <p:nvPr/>
        </p:nvSpPr>
        <p:spPr>
          <a:xfrm>
            <a:off x="6048747" y="2786658"/>
            <a:ext cx="2599134" cy="736997"/>
          </a:xfrm>
          <a:prstGeom prst="rect">
            <a:avLst/>
          </a:prstGeom>
          <a:noFill/>
          <a:ln/>
        </p:spPr>
        <p:txBody>
          <a:bodyPr wrap="square" lIns="0" tIns="0" rIns="0" bIns="0" rtlCol="0" anchor="t"/>
          <a:lstStyle/>
          <a:p>
            <a:pPr marL="0" indent="0" algn="ctr">
              <a:lnSpc>
                <a:spcPts val="1450"/>
              </a:lnSpc>
              <a:buNone/>
            </a:pPr>
            <a:r>
              <a:rPr lang="en-US" sz="1100" dirty="0">
                <a:solidFill>
                  <a:srgbClr val="67534F"/>
                </a:solidFill>
                <a:latin typeface="Montserrat" pitchFamily="34" charset="0"/>
                <a:ea typeface="Montserrat" pitchFamily="34" charset="-122"/>
                <a:cs typeface="Montserrat" pitchFamily="34" charset="-120"/>
              </a:rPr>
              <a:t>Within three decades, Korea moved from war-devastated poverty to an industrialized, globally competitive economy</a:t>
            </a:r>
            <a:endParaRPr lang="en-US" sz="1100" dirty="0"/>
          </a:p>
        </p:txBody>
      </p:sp>
      <p:sp>
        <p:nvSpPr>
          <p:cNvPr id="12" name="Text 10"/>
          <p:cNvSpPr/>
          <p:nvPr/>
        </p:nvSpPr>
        <p:spPr>
          <a:xfrm>
            <a:off x="496119" y="3683124"/>
            <a:ext cx="8151763" cy="552748"/>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For a post-genocide Rwanda seeking a credible and relatable benchmark, South Korea's trajectory offered an especially powerful proof of concept, </a:t>
            </a:r>
            <a:r>
              <a:rPr lang="en-US" sz="1100" b="1" dirty="0">
                <a:solidFill>
                  <a:srgbClr val="67534F"/>
                </a:solidFill>
                <a:latin typeface="Montserrat" pitchFamily="34" charset="0"/>
                <a:ea typeface="Montserrat" pitchFamily="34" charset="-122"/>
                <a:cs typeface="Montserrat" pitchFamily="34" charset="-120"/>
              </a:rPr>
              <a:t>transformation is possible without natural resource wealth</a:t>
            </a:r>
            <a:r>
              <a:rPr lang="en-US" sz="1100" dirty="0">
                <a:solidFill>
                  <a:srgbClr val="67534F"/>
                </a:solidFill>
                <a:latin typeface="Montserrat" pitchFamily="34" charset="0"/>
                <a:ea typeface="Montserrat" pitchFamily="34" charset="-122"/>
                <a:cs typeface="Montserrat" pitchFamily="34" charset="-120"/>
              </a:rPr>
              <a:t> when paired with strong governance and a committed citizenry.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921618"/>
            <a:ext cx="5835923" cy="529828"/>
          </a:xfrm>
          <a:prstGeom prst="rect">
            <a:avLst/>
          </a:prstGeom>
          <a:noFill/>
          <a:ln/>
        </p:spPr>
        <p:txBody>
          <a:bodyPr wrap="none" lIns="0" tIns="0" rIns="0" bIns="0" rtlCol="0" anchor="t"/>
          <a:lstStyle/>
          <a:p>
            <a:pPr marL="0" indent="0" algn="l">
              <a:lnSpc>
                <a:spcPts val="4150"/>
              </a:lnSpc>
              <a:buNone/>
            </a:pPr>
            <a:r>
              <a:rPr lang="en-US" sz="3200" dirty="0">
                <a:solidFill>
                  <a:srgbClr val="532418"/>
                </a:solidFill>
                <a:latin typeface="Marcellus" pitchFamily="34" charset="0"/>
                <a:ea typeface="Marcellus" pitchFamily="34" charset="-122"/>
                <a:cs typeface="Marcellus" pitchFamily="34" charset="-120"/>
              </a:rPr>
              <a:t>Parallels in State-Led Leadership</a:t>
            </a:r>
            <a:endParaRPr lang="en-US" sz="3200" dirty="0"/>
          </a:p>
        </p:txBody>
      </p:sp>
      <p:sp>
        <p:nvSpPr>
          <p:cNvPr id="3" name="Shape 1"/>
          <p:cNvSpPr/>
          <p:nvPr/>
        </p:nvSpPr>
        <p:spPr>
          <a:xfrm>
            <a:off x="496119" y="1734964"/>
            <a:ext cx="8151763" cy="1583308"/>
          </a:xfrm>
          <a:prstGeom prst="roundRect">
            <a:avLst>
              <a:gd name="adj" fmla="val 3761"/>
            </a:avLst>
          </a:prstGeom>
          <a:solidFill>
            <a:srgbClr val="FFFFF4"/>
          </a:solidFill>
          <a:ln w="14288">
            <a:solidFill>
              <a:srgbClr val="FFE0CC"/>
            </a:solidFill>
            <a:prstDash val="solid"/>
          </a:ln>
        </p:spPr>
        <p:txBody>
          <a:bodyPr/>
          <a:lstStyle/>
          <a:p>
            <a:endParaRPr lang="ko-KR" altLang="en-US"/>
          </a:p>
        </p:txBody>
      </p:sp>
      <p:sp>
        <p:nvSpPr>
          <p:cNvPr id="4" name="Shape 2"/>
          <p:cNvSpPr/>
          <p:nvPr/>
        </p:nvSpPr>
        <p:spPr>
          <a:xfrm>
            <a:off x="510406" y="1749251"/>
            <a:ext cx="4061594" cy="1554733"/>
          </a:xfrm>
          <a:prstGeom prst="roundRect">
            <a:avLst>
              <a:gd name="adj" fmla="val 3830"/>
            </a:avLst>
          </a:prstGeom>
          <a:solidFill>
            <a:srgbClr val="FFFFF4"/>
          </a:solidFill>
          <a:ln/>
        </p:spPr>
        <p:txBody>
          <a:bodyPr/>
          <a:lstStyle/>
          <a:p>
            <a:endParaRPr lang="ko-KR" altLang="en-US"/>
          </a:p>
        </p:txBody>
      </p:sp>
      <p:sp>
        <p:nvSpPr>
          <p:cNvPr id="5" name="Text 3"/>
          <p:cNvSpPr/>
          <p:nvPr/>
        </p:nvSpPr>
        <p:spPr>
          <a:xfrm>
            <a:off x="652165" y="1891010"/>
            <a:ext cx="2743944" cy="264914"/>
          </a:xfrm>
          <a:prstGeom prst="rect">
            <a:avLst/>
          </a:prstGeom>
          <a:noFill/>
          <a:ln/>
        </p:spPr>
        <p:txBody>
          <a:bodyPr wrap="non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South Korea: Park Chung-hee</a:t>
            </a:r>
            <a:endParaRPr lang="en-US" sz="1600" dirty="0"/>
          </a:p>
        </p:txBody>
      </p:sp>
      <p:sp>
        <p:nvSpPr>
          <p:cNvPr id="6" name="Text 4"/>
          <p:cNvSpPr/>
          <p:nvPr/>
        </p:nvSpPr>
        <p:spPr>
          <a:xfrm>
            <a:off x="652165" y="2240979"/>
            <a:ext cx="3778076" cy="921246"/>
          </a:xfrm>
          <a:prstGeom prst="rect">
            <a:avLst/>
          </a:prstGeom>
          <a:noFill/>
          <a:ln/>
        </p:spPr>
        <p:txBody>
          <a:bodyPr wrap="square" lIns="0" tIns="0" rIns="0" bIns="0" rtlCol="0" anchor="t"/>
          <a:lstStyle/>
          <a:p>
            <a:pPr marL="0" indent="0" algn="l">
              <a:lnSpc>
                <a:spcPts val="1450"/>
              </a:lnSpc>
              <a:buNone/>
            </a:pPr>
            <a:r>
              <a:rPr lang="en-US" sz="1100" b="1" dirty="0">
                <a:solidFill>
                  <a:srgbClr val="67534F"/>
                </a:solidFill>
                <a:latin typeface="Montserrat" pitchFamily="34" charset="0"/>
                <a:ea typeface="Montserrat" pitchFamily="34" charset="-122"/>
                <a:cs typeface="Montserrat" pitchFamily="34" charset="-120"/>
              </a:rPr>
              <a:t>5-Year Economic Development Plans</a:t>
            </a:r>
            <a:r>
              <a:rPr lang="en-US" sz="1100" dirty="0">
                <a:solidFill>
                  <a:srgbClr val="67534F"/>
                </a:solidFill>
                <a:latin typeface="Montserrat" pitchFamily="34" charset="0"/>
                <a:ea typeface="Montserrat" pitchFamily="34" charset="-122"/>
                <a:cs typeface="Montserrat" pitchFamily="34" charset="-120"/>
              </a:rPr>
              <a:t> guided industrial policy, rural modernization, and export-led growth. Strong central authority coordinated investment across sectors with measurable national targets.</a:t>
            </a:r>
            <a:endParaRPr lang="en-US" sz="1100" dirty="0"/>
          </a:p>
        </p:txBody>
      </p:sp>
      <p:sp>
        <p:nvSpPr>
          <p:cNvPr id="7" name="Shape 5"/>
          <p:cNvSpPr/>
          <p:nvPr/>
        </p:nvSpPr>
        <p:spPr>
          <a:xfrm>
            <a:off x="4572000" y="1749251"/>
            <a:ext cx="4061594" cy="1554733"/>
          </a:xfrm>
          <a:prstGeom prst="rect">
            <a:avLst/>
          </a:prstGeom>
          <a:solidFill>
            <a:srgbClr val="FFFFF4"/>
          </a:solidFill>
          <a:ln/>
        </p:spPr>
        <p:txBody>
          <a:bodyPr/>
          <a:lstStyle/>
          <a:p>
            <a:endParaRPr lang="ko-KR" altLang="en-US"/>
          </a:p>
        </p:txBody>
      </p:sp>
      <p:sp>
        <p:nvSpPr>
          <p:cNvPr id="8" name="Shape 6"/>
          <p:cNvSpPr/>
          <p:nvPr/>
        </p:nvSpPr>
        <p:spPr>
          <a:xfrm>
            <a:off x="4572000" y="1749251"/>
            <a:ext cx="19050" cy="1554733"/>
          </a:xfrm>
          <a:prstGeom prst="roundRect">
            <a:avLst>
              <a:gd name="adj" fmla="val 312558"/>
            </a:avLst>
          </a:prstGeom>
          <a:solidFill>
            <a:srgbClr val="FFE0CC"/>
          </a:solidFill>
          <a:ln/>
        </p:spPr>
        <p:txBody>
          <a:bodyPr/>
          <a:lstStyle/>
          <a:p>
            <a:endParaRPr lang="ko-KR" altLang="en-US"/>
          </a:p>
        </p:txBody>
      </p:sp>
      <p:sp>
        <p:nvSpPr>
          <p:cNvPr id="9" name="Text 7"/>
          <p:cNvSpPr/>
          <p:nvPr/>
        </p:nvSpPr>
        <p:spPr>
          <a:xfrm>
            <a:off x="4713759" y="1891010"/>
            <a:ext cx="2048917" cy="264914"/>
          </a:xfrm>
          <a:prstGeom prst="rect">
            <a:avLst/>
          </a:prstGeom>
          <a:noFill/>
          <a:ln/>
        </p:spPr>
        <p:txBody>
          <a:bodyPr wrap="non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Rwanda: Paul Kagame</a:t>
            </a:r>
            <a:endParaRPr lang="en-US" sz="1600" dirty="0"/>
          </a:p>
        </p:txBody>
      </p:sp>
      <p:sp>
        <p:nvSpPr>
          <p:cNvPr id="10" name="Text 8"/>
          <p:cNvSpPr/>
          <p:nvPr/>
        </p:nvSpPr>
        <p:spPr>
          <a:xfrm>
            <a:off x="4713759" y="2240979"/>
            <a:ext cx="3778076" cy="921246"/>
          </a:xfrm>
          <a:prstGeom prst="rect">
            <a:avLst/>
          </a:prstGeom>
          <a:noFill/>
          <a:ln/>
        </p:spPr>
        <p:txBody>
          <a:bodyPr wrap="square" lIns="0" tIns="0" rIns="0" bIns="0" rtlCol="0" anchor="t"/>
          <a:lstStyle/>
          <a:p>
            <a:pPr marL="0" indent="0" algn="l">
              <a:lnSpc>
                <a:spcPts val="1450"/>
              </a:lnSpc>
              <a:buNone/>
            </a:pPr>
            <a:r>
              <a:rPr lang="en-US" sz="1100" b="1" dirty="0">
                <a:solidFill>
                  <a:srgbClr val="67534F"/>
                </a:solidFill>
                <a:latin typeface="Montserrat" pitchFamily="34" charset="0"/>
                <a:ea typeface="Montserrat" pitchFamily="34" charset="-122"/>
                <a:cs typeface="Montserrat" pitchFamily="34" charset="-120"/>
              </a:rPr>
              <a:t>Vision 2020 → Vision 2050</a:t>
            </a:r>
            <a:r>
              <a:rPr lang="en-US" sz="1100" dirty="0">
                <a:solidFill>
                  <a:srgbClr val="67534F"/>
                </a:solidFill>
                <a:latin typeface="Montserrat" pitchFamily="34" charset="0"/>
                <a:ea typeface="Montserrat" pitchFamily="34" charset="-122"/>
                <a:cs typeface="Montserrat" pitchFamily="34" charset="-120"/>
              </a:rPr>
              <a:t> replicates this model of state-directed long-term planning. Kagame's administration has channeled aid, investment, and reform into coherent national priorities with disciplined accountability.</a:t>
            </a:r>
            <a:endParaRPr lang="en-US" sz="1100" dirty="0"/>
          </a:p>
        </p:txBody>
      </p:sp>
      <p:sp>
        <p:nvSpPr>
          <p:cNvPr id="11" name="Shape 9"/>
          <p:cNvSpPr/>
          <p:nvPr/>
        </p:nvSpPr>
        <p:spPr>
          <a:xfrm>
            <a:off x="496119" y="3477741"/>
            <a:ext cx="8151763" cy="744066"/>
          </a:xfrm>
          <a:prstGeom prst="roundRect">
            <a:avLst>
              <a:gd name="adj" fmla="val 8002"/>
            </a:avLst>
          </a:prstGeom>
          <a:solidFill>
            <a:srgbClr val="B6D6FC"/>
          </a:solidFill>
          <a:ln/>
        </p:spPr>
        <p:txBody>
          <a:bodyPr/>
          <a:lstStyle/>
          <a:p>
            <a:endParaRPr lang="ko-KR" altLang="en-US"/>
          </a:p>
        </p:txBody>
      </p:sp>
      <p:pic>
        <p:nvPicPr>
          <p:cNvPr id="1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7877" y="3673748"/>
            <a:ext cx="177180" cy="141759"/>
          </a:xfrm>
          <a:prstGeom prst="rect">
            <a:avLst/>
          </a:prstGeom>
        </p:spPr>
      </p:pic>
      <p:sp>
        <p:nvSpPr>
          <p:cNvPr id="13" name="Text 10"/>
          <p:cNvSpPr/>
          <p:nvPr/>
        </p:nvSpPr>
        <p:spPr>
          <a:xfrm>
            <a:off x="956816" y="3654921"/>
            <a:ext cx="7549307" cy="368498"/>
          </a:xfrm>
          <a:prstGeom prst="rect">
            <a:avLst/>
          </a:prstGeom>
          <a:noFill/>
          <a:ln/>
        </p:spPr>
        <p:txBody>
          <a:bodyPr wrap="square" lIns="0" tIns="0" rIns="0" bIns="0" rtlCol="0" anchor="t"/>
          <a:lstStyle/>
          <a:p>
            <a:pPr marL="0" indent="0" algn="l">
              <a:lnSpc>
                <a:spcPts val="1450"/>
              </a:lnSpc>
              <a:buNone/>
            </a:pPr>
            <a:r>
              <a:rPr lang="en-US" sz="1100" dirty="0">
                <a:solidFill>
                  <a:srgbClr val="000000"/>
                </a:solidFill>
                <a:latin typeface="Montserrat" pitchFamily="34" charset="0"/>
                <a:ea typeface="Montserrat" pitchFamily="34" charset="-122"/>
                <a:cs typeface="Montserrat" pitchFamily="34" charset="-120"/>
              </a:rPr>
              <a:t>Both nations demonstrate that strong governance frameworks and visionary leadership, not resource abundance are the primary drivers of development success in post-crisis environments.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3600450" cy="5143500"/>
          </a:xfrm>
          <a:prstGeom prst="rect">
            <a:avLst/>
          </a:prstGeom>
        </p:spPr>
      </p:pic>
      <p:sp>
        <p:nvSpPr>
          <p:cNvPr id="3" name="Text 0"/>
          <p:cNvSpPr/>
          <p:nvPr/>
        </p:nvSpPr>
        <p:spPr>
          <a:xfrm>
            <a:off x="3901901" y="398636"/>
            <a:ext cx="4769197" cy="1009948"/>
          </a:xfrm>
          <a:prstGeom prst="rect">
            <a:avLst/>
          </a:prstGeom>
          <a:noFill/>
          <a:ln/>
        </p:spPr>
        <p:txBody>
          <a:bodyPr wrap="square" lIns="0" tIns="0" rIns="0" bIns="0" rtlCol="0" anchor="t"/>
          <a:lstStyle/>
          <a:p>
            <a:pPr marL="0" indent="0" algn="l">
              <a:lnSpc>
                <a:spcPts val="3950"/>
              </a:lnSpc>
              <a:buNone/>
            </a:pPr>
            <a:r>
              <a:rPr lang="en-US" sz="3050" dirty="0">
                <a:solidFill>
                  <a:srgbClr val="532418"/>
                </a:solidFill>
                <a:latin typeface="Marcellus" pitchFamily="34" charset="0"/>
                <a:ea typeface="Marcellus" pitchFamily="34" charset="-122"/>
                <a:cs typeface="Marcellus" pitchFamily="34" charset="-120"/>
              </a:rPr>
              <a:t>Philosophical Integration: Saemaul and Umuganda</a:t>
            </a:r>
            <a:endParaRPr lang="en-US" sz="3050" dirty="0"/>
          </a:p>
        </p:txBody>
      </p:sp>
      <p:sp>
        <p:nvSpPr>
          <p:cNvPr id="4" name="Shape 1"/>
          <p:cNvSpPr/>
          <p:nvPr/>
        </p:nvSpPr>
        <p:spPr>
          <a:xfrm>
            <a:off x="3804568" y="1601763"/>
            <a:ext cx="2414439" cy="3143027"/>
          </a:xfrm>
          <a:prstGeom prst="roundRect">
            <a:avLst>
              <a:gd name="adj" fmla="val 4029"/>
            </a:avLst>
          </a:prstGeom>
          <a:solidFill>
            <a:srgbClr val="7D3E2C">
              <a:alpha val="95000"/>
            </a:srgbClr>
          </a:solidFill>
          <a:ln/>
        </p:spPr>
        <p:txBody>
          <a:bodyPr/>
          <a:lstStyle/>
          <a:p>
            <a:endParaRPr lang="ko-KR" altLang="en-US"/>
          </a:p>
        </p:txBody>
      </p:sp>
      <p:sp>
        <p:nvSpPr>
          <p:cNvPr id="5" name="Text 2"/>
          <p:cNvSpPr/>
          <p:nvPr/>
        </p:nvSpPr>
        <p:spPr>
          <a:xfrm>
            <a:off x="3939629" y="1730499"/>
            <a:ext cx="2144316" cy="504974"/>
          </a:xfrm>
          <a:prstGeom prst="rect">
            <a:avLst/>
          </a:prstGeom>
          <a:noFill/>
          <a:ln/>
        </p:spPr>
        <p:txBody>
          <a:bodyPr wrap="square" lIns="0" tIns="0" rIns="0" bIns="0" rtlCol="0" anchor="t"/>
          <a:lstStyle/>
          <a:p>
            <a:pPr marL="0" indent="0" algn="l">
              <a:lnSpc>
                <a:spcPts val="1950"/>
              </a:lnSpc>
              <a:buNone/>
            </a:pPr>
            <a:r>
              <a:rPr lang="en-US" sz="1500" dirty="0">
                <a:solidFill>
                  <a:srgbClr val="FFFFFF"/>
                </a:solidFill>
                <a:latin typeface="Marcellus" pitchFamily="34" charset="0"/>
                <a:ea typeface="Marcellus" pitchFamily="34" charset="-122"/>
                <a:cs typeface="Marcellus" pitchFamily="34" charset="-120"/>
              </a:rPr>
              <a:t>Saemaul Undong (Korea)</a:t>
            </a:r>
            <a:endParaRPr lang="en-US" sz="1500" dirty="0"/>
          </a:p>
        </p:txBody>
      </p:sp>
      <p:sp>
        <p:nvSpPr>
          <p:cNvPr id="6" name="Text 3"/>
          <p:cNvSpPr/>
          <p:nvPr/>
        </p:nvSpPr>
        <p:spPr>
          <a:xfrm>
            <a:off x="3901901" y="2111722"/>
            <a:ext cx="2144316" cy="1886769"/>
          </a:xfrm>
          <a:prstGeom prst="rect">
            <a:avLst/>
          </a:prstGeom>
          <a:noFill/>
          <a:ln/>
        </p:spPr>
        <p:txBody>
          <a:bodyPr wrap="square" lIns="0" tIns="0" rIns="0" bIns="0" rtlCol="0" anchor="t"/>
          <a:lstStyle/>
          <a:p>
            <a:pPr marL="0" indent="0" algn="l">
              <a:lnSpc>
                <a:spcPts val="1350"/>
              </a:lnSpc>
              <a:buNone/>
            </a:pPr>
            <a:r>
              <a:rPr lang="en-US" sz="1050" dirty="0">
                <a:solidFill>
                  <a:srgbClr val="FFFFFF"/>
                </a:solidFill>
                <a:latin typeface="Montserrat" pitchFamily="34" charset="0"/>
                <a:ea typeface="Montserrat" pitchFamily="34" charset="-122"/>
                <a:cs typeface="Montserrat" pitchFamily="34" charset="-120"/>
              </a:rPr>
              <a:t>Launched in 1970, the New Village Movement mobilized rural communities through three core values: </a:t>
            </a:r>
            <a:r>
              <a:rPr lang="en-US" sz="1050" b="1" dirty="0">
                <a:solidFill>
                  <a:srgbClr val="FFFFFF"/>
                </a:solidFill>
                <a:latin typeface="Montserrat" pitchFamily="34" charset="0"/>
                <a:ea typeface="Montserrat" pitchFamily="34" charset="-122"/>
                <a:cs typeface="Montserrat" pitchFamily="34" charset="-120"/>
              </a:rPr>
              <a:t>Diligence, Self-Help, and Cooperation</a:t>
            </a:r>
            <a:r>
              <a:rPr lang="en-US" sz="1050" dirty="0">
                <a:solidFill>
                  <a:srgbClr val="FFFFFF"/>
                </a:solidFill>
                <a:latin typeface="Montserrat" pitchFamily="34" charset="0"/>
                <a:ea typeface="Montserrat" pitchFamily="34" charset="-122"/>
                <a:cs typeface="Montserrat" pitchFamily="34" charset="-120"/>
              </a:rPr>
              <a:t>.</a:t>
            </a:r>
          </a:p>
          <a:p>
            <a:pPr marL="0" indent="0" algn="l">
              <a:lnSpc>
                <a:spcPts val="1350"/>
              </a:lnSpc>
              <a:buNone/>
            </a:pPr>
            <a:endParaRPr lang="en-US" sz="1050" dirty="0">
              <a:solidFill>
                <a:srgbClr val="FFFFFF"/>
              </a:solidFill>
              <a:latin typeface="Montserrat" pitchFamily="34" charset="0"/>
              <a:ea typeface="Montserrat" pitchFamily="34" charset="-122"/>
              <a:cs typeface="Montserrat" pitchFamily="34" charset="-120"/>
            </a:endParaRPr>
          </a:p>
          <a:p>
            <a:pPr marL="0" indent="0" algn="l">
              <a:lnSpc>
                <a:spcPts val="1350"/>
              </a:lnSpc>
              <a:buNone/>
            </a:pPr>
            <a:r>
              <a:rPr lang="en-US" sz="1050" dirty="0">
                <a:solidFill>
                  <a:srgbClr val="FFFFFF"/>
                </a:solidFill>
                <a:latin typeface="Montserrat" pitchFamily="34" charset="0"/>
                <a:ea typeface="Montserrat" pitchFamily="34" charset="-122"/>
                <a:cs typeface="Montserrat" pitchFamily="34" charset="-120"/>
              </a:rPr>
              <a:t>Communities competed for government resources by demonstrating collective effort and local ownership of development projects.</a:t>
            </a:r>
            <a:endParaRPr lang="en-US" sz="1050" dirty="0"/>
          </a:p>
        </p:txBody>
      </p:sp>
      <p:sp>
        <p:nvSpPr>
          <p:cNvPr id="7" name="Text 4"/>
          <p:cNvSpPr/>
          <p:nvPr/>
        </p:nvSpPr>
        <p:spPr>
          <a:xfrm>
            <a:off x="6456090" y="1730499"/>
            <a:ext cx="1942356" cy="252487"/>
          </a:xfrm>
          <a:prstGeom prst="rect">
            <a:avLst/>
          </a:prstGeom>
          <a:noFill/>
          <a:ln/>
        </p:spPr>
        <p:txBody>
          <a:bodyPr wrap="none" lIns="0" tIns="0" rIns="0" bIns="0" rtlCol="0" anchor="t"/>
          <a:lstStyle/>
          <a:p>
            <a:pPr marL="0" indent="0" algn="l">
              <a:lnSpc>
                <a:spcPts val="1950"/>
              </a:lnSpc>
              <a:buNone/>
            </a:pPr>
            <a:r>
              <a:rPr lang="en-US" sz="1500" dirty="0">
                <a:solidFill>
                  <a:srgbClr val="532418"/>
                </a:solidFill>
                <a:latin typeface="Marcellus" pitchFamily="34" charset="0"/>
                <a:ea typeface="Marcellus" pitchFamily="34" charset="-122"/>
                <a:cs typeface="Marcellus" pitchFamily="34" charset="-120"/>
              </a:rPr>
              <a:t>Umuganda (Rwanda)</a:t>
            </a:r>
            <a:endParaRPr lang="en-US" sz="1500" dirty="0"/>
          </a:p>
        </p:txBody>
      </p:sp>
      <p:sp>
        <p:nvSpPr>
          <p:cNvPr id="8" name="Text 5"/>
          <p:cNvSpPr/>
          <p:nvPr/>
        </p:nvSpPr>
        <p:spPr>
          <a:xfrm>
            <a:off x="6456090" y="2111722"/>
            <a:ext cx="2219771" cy="1372195"/>
          </a:xfrm>
          <a:prstGeom prst="rect">
            <a:avLst/>
          </a:prstGeom>
          <a:noFill/>
          <a:ln/>
        </p:spPr>
        <p:txBody>
          <a:bodyPr wrap="square" lIns="0" tIns="0" rIns="0" bIns="0" rtlCol="0" anchor="t"/>
          <a:lstStyle/>
          <a:p>
            <a:pPr marL="0" indent="0" algn="l">
              <a:lnSpc>
                <a:spcPts val="1350"/>
              </a:lnSpc>
              <a:buNone/>
            </a:pPr>
            <a:r>
              <a:rPr lang="en-US" sz="1050" dirty="0">
                <a:solidFill>
                  <a:srgbClr val="67534F"/>
                </a:solidFill>
                <a:latin typeface="Montserrat" pitchFamily="34" charset="0"/>
                <a:ea typeface="Montserrat" pitchFamily="34" charset="-122"/>
                <a:cs typeface="Montserrat" pitchFamily="34" charset="-120"/>
              </a:rPr>
              <a:t>Rwanda's pre-existing tradition of mandatory community labor, </a:t>
            </a:r>
            <a:r>
              <a:rPr lang="en-US" sz="1050" b="1" dirty="0">
                <a:solidFill>
                  <a:srgbClr val="67534F"/>
                </a:solidFill>
                <a:latin typeface="Montserrat" pitchFamily="34" charset="0"/>
                <a:ea typeface="Montserrat" pitchFamily="34" charset="-122"/>
                <a:cs typeface="Montserrat" pitchFamily="34" charset="-120"/>
              </a:rPr>
              <a:t>Umuganda</a:t>
            </a:r>
            <a:r>
              <a:rPr lang="en-US" sz="1050" dirty="0">
                <a:solidFill>
                  <a:srgbClr val="67534F"/>
                </a:solidFill>
                <a:latin typeface="Montserrat" pitchFamily="34" charset="0"/>
                <a:ea typeface="Montserrat" pitchFamily="34" charset="-122"/>
                <a:cs typeface="Montserrat" pitchFamily="34" charset="-120"/>
              </a:rPr>
              <a:t> held deep cultural resonance. Practiced on the last Saturday of each month, citizens collectively build infrastructure, clean public spaces, and address community needs. </a:t>
            </a:r>
            <a:endParaRPr lang="en-US" sz="1050" dirty="0"/>
          </a:p>
        </p:txBody>
      </p:sp>
      <p:sp>
        <p:nvSpPr>
          <p:cNvPr id="9" name="Text 6"/>
          <p:cNvSpPr/>
          <p:nvPr/>
        </p:nvSpPr>
        <p:spPr>
          <a:xfrm>
            <a:off x="6456090" y="3599780"/>
            <a:ext cx="2219771" cy="1029146"/>
          </a:xfrm>
          <a:prstGeom prst="rect">
            <a:avLst/>
          </a:prstGeom>
          <a:noFill/>
          <a:ln/>
        </p:spPr>
        <p:txBody>
          <a:bodyPr wrap="square" lIns="0" tIns="0" rIns="0" bIns="0" rtlCol="0" anchor="t"/>
          <a:lstStyle/>
          <a:p>
            <a:pPr marL="0" indent="0" algn="l">
              <a:lnSpc>
                <a:spcPts val="1350"/>
              </a:lnSpc>
              <a:buNone/>
            </a:pPr>
            <a:r>
              <a:rPr lang="en-US" sz="1050" dirty="0">
                <a:solidFill>
                  <a:srgbClr val="67534F"/>
                </a:solidFill>
                <a:latin typeface="Montserrat" pitchFamily="34" charset="0"/>
                <a:ea typeface="Montserrat" pitchFamily="34" charset="-122"/>
                <a:cs typeface="Montserrat" pitchFamily="34" charset="-120"/>
              </a:rPr>
              <a:t>The philosophical overlap with Saemaul Undong made Korea's model immediately legible to Rwandan communities reducing adoption barriers significantly.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49610" y="371326"/>
            <a:ext cx="514052" cy="204267"/>
          </a:xfrm>
          <a:prstGeom prst="roundRect">
            <a:avLst>
              <a:gd name="adj" fmla="val 21133"/>
            </a:avLst>
          </a:prstGeom>
          <a:solidFill>
            <a:srgbClr val="FFE0CC"/>
          </a:solidFill>
          <a:ln/>
        </p:spPr>
        <p:txBody>
          <a:bodyPr/>
          <a:lstStyle/>
          <a:p>
            <a:endParaRPr lang="ko-KR" altLang="en-US"/>
          </a:p>
        </p:txBody>
      </p:sp>
      <p:sp>
        <p:nvSpPr>
          <p:cNvPr id="3" name="Text 1"/>
          <p:cNvSpPr/>
          <p:nvPr/>
        </p:nvSpPr>
        <p:spPr>
          <a:xfrm>
            <a:off x="526628" y="409798"/>
            <a:ext cx="360015" cy="127322"/>
          </a:xfrm>
          <a:prstGeom prst="rect">
            <a:avLst/>
          </a:prstGeom>
          <a:noFill/>
          <a:ln/>
        </p:spPr>
        <p:txBody>
          <a:bodyPr wrap="none" lIns="0" tIns="0" rIns="0" bIns="0" rtlCol="0" anchor="t"/>
          <a:lstStyle/>
          <a:p>
            <a:pPr marL="0" indent="0" algn="l">
              <a:lnSpc>
                <a:spcPts val="1000"/>
              </a:lnSpc>
              <a:buNone/>
            </a:pPr>
            <a:r>
              <a:rPr lang="en-US" sz="800" dirty="0">
                <a:solidFill>
                  <a:srgbClr val="67534F"/>
                </a:solidFill>
                <a:latin typeface="Montserrat" pitchFamily="34" charset="0"/>
                <a:ea typeface="Montserrat" pitchFamily="34" charset="-122"/>
                <a:cs typeface="Montserrat" pitchFamily="34" charset="-120"/>
              </a:rPr>
              <a:t>PART 3</a:t>
            </a:r>
            <a:endParaRPr lang="en-US" sz="800" dirty="0"/>
          </a:p>
        </p:txBody>
      </p:sp>
      <p:sp>
        <p:nvSpPr>
          <p:cNvPr id="4" name="Text 2"/>
          <p:cNvSpPr/>
          <p:nvPr/>
        </p:nvSpPr>
        <p:spPr>
          <a:xfrm>
            <a:off x="449610" y="622102"/>
            <a:ext cx="7013079" cy="480194"/>
          </a:xfrm>
          <a:prstGeom prst="rect">
            <a:avLst/>
          </a:prstGeom>
          <a:noFill/>
          <a:ln/>
        </p:spPr>
        <p:txBody>
          <a:bodyPr wrap="none" lIns="0" tIns="0" rIns="0" bIns="0" rtlCol="0" anchor="t"/>
          <a:lstStyle/>
          <a:p>
            <a:pPr marL="0" indent="0" algn="l">
              <a:lnSpc>
                <a:spcPts val="3750"/>
              </a:lnSpc>
              <a:buNone/>
            </a:pPr>
            <a:r>
              <a:rPr lang="en-US" sz="2900" dirty="0">
                <a:solidFill>
                  <a:srgbClr val="532418"/>
                </a:solidFill>
                <a:latin typeface="Marcellus" pitchFamily="34" charset="0"/>
                <a:ea typeface="Marcellus" pitchFamily="34" charset="-122"/>
                <a:cs typeface="Marcellus" pitchFamily="34" charset="-120"/>
              </a:rPr>
              <a:t>KOICA's Strategic ODA Projects in Rwanda</a:t>
            </a:r>
            <a:endParaRPr lang="en-US" sz="2900" dirty="0"/>
          </a:p>
        </p:txBody>
      </p:sp>
      <p:sp>
        <p:nvSpPr>
          <p:cNvPr id="5" name="Text 3"/>
          <p:cNvSpPr/>
          <p:nvPr/>
        </p:nvSpPr>
        <p:spPr>
          <a:xfrm>
            <a:off x="2023318" y="1276871"/>
            <a:ext cx="5097289" cy="1325314"/>
          </a:xfrm>
          <a:prstGeom prst="rect">
            <a:avLst/>
          </a:prstGeom>
          <a:noFill/>
          <a:ln/>
        </p:spPr>
        <p:txBody>
          <a:bodyPr wrap="square" lIns="0" tIns="0" rIns="0" bIns="0" rtlCol="0" anchor="t"/>
          <a:lstStyle/>
          <a:p>
            <a:pPr marL="0" indent="0" algn="ctr">
              <a:lnSpc>
                <a:spcPts val="5200"/>
              </a:lnSpc>
              <a:buNone/>
            </a:pPr>
            <a:r>
              <a:rPr lang="en-US" sz="4000" dirty="0">
                <a:solidFill>
                  <a:srgbClr val="532418"/>
                </a:solidFill>
                <a:latin typeface="Marcellus" pitchFamily="34" charset="0"/>
                <a:ea typeface="Marcellus" pitchFamily="34" charset="-122"/>
                <a:cs typeface="Marcellus" pitchFamily="34" charset="-120"/>
              </a:rPr>
              <a:t>Not Charity.</a:t>
            </a:r>
            <a:endParaRPr lang="en-US" sz="4000" dirty="0"/>
          </a:p>
          <a:p>
            <a:pPr marL="0" indent="0" algn="ctr">
              <a:lnSpc>
                <a:spcPts val="5200"/>
              </a:lnSpc>
              <a:buNone/>
            </a:pPr>
            <a:r>
              <a:rPr lang="en-US" sz="4000" dirty="0">
                <a:solidFill>
                  <a:srgbClr val="532418"/>
                </a:solidFill>
                <a:latin typeface="Marcellus" pitchFamily="34" charset="0"/>
                <a:ea typeface="Marcellus" pitchFamily="34" charset="-122"/>
                <a:cs typeface="Marcellus" pitchFamily="34" charset="-120"/>
              </a:rPr>
              <a:t>Strategic Partnership.</a:t>
            </a:r>
            <a:endParaRPr lang="en-US" sz="4000" dirty="0"/>
          </a:p>
        </p:txBody>
      </p:sp>
      <p:sp>
        <p:nvSpPr>
          <p:cNvPr id="6" name="Text 4"/>
          <p:cNvSpPr/>
          <p:nvPr/>
        </p:nvSpPr>
        <p:spPr>
          <a:xfrm>
            <a:off x="449610" y="2776761"/>
            <a:ext cx="8244780" cy="477515"/>
          </a:xfrm>
          <a:prstGeom prst="rect">
            <a:avLst/>
          </a:prstGeom>
          <a:noFill/>
          <a:ln/>
        </p:spPr>
        <p:txBody>
          <a:bodyPr wrap="square" lIns="0" tIns="0" rIns="0" bIns="0" rtlCol="0" anchor="t"/>
          <a:lstStyle/>
          <a:p>
            <a:pPr marL="0" indent="0" algn="ctr">
              <a:lnSpc>
                <a:spcPts val="1250"/>
              </a:lnSpc>
              <a:buNone/>
            </a:pPr>
            <a:r>
              <a:rPr lang="en-US" sz="1000" dirty="0">
                <a:solidFill>
                  <a:srgbClr val="67534F"/>
                </a:solidFill>
                <a:latin typeface="Montserrat" pitchFamily="34" charset="0"/>
                <a:ea typeface="Montserrat" pitchFamily="34" charset="-122"/>
                <a:cs typeface="Montserrat" pitchFamily="34" charset="-120"/>
              </a:rPr>
              <a:t>KOICA's Country Partnership Strategy (CPS) in Rwanda operates as a </a:t>
            </a:r>
            <a:r>
              <a:rPr lang="en-US" sz="1000" b="1" dirty="0">
                <a:solidFill>
                  <a:srgbClr val="67534F"/>
                </a:solidFill>
                <a:latin typeface="Montserrat" pitchFamily="34" charset="0"/>
                <a:ea typeface="Montserrat" pitchFamily="34" charset="-122"/>
                <a:cs typeface="Montserrat" pitchFamily="34" charset="-120"/>
              </a:rPr>
              <a:t>direct fulfillment of Vision 2050</a:t>
            </a:r>
            <a:r>
              <a:rPr lang="en-US" sz="1000" dirty="0">
                <a:solidFill>
                  <a:srgbClr val="67534F"/>
                </a:solidFill>
                <a:latin typeface="Montserrat" pitchFamily="34" charset="0"/>
                <a:ea typeface="Montserrat" pitchFamily="34" charset="-122"/>
                <a:cs typeface="Montserrat" pitchFamily="34" charset="-120"/>
              </a:rPr>
              <a:t>, matching Rwanda's stated development priorities with Korea's proven expertise. Every project is designed to build capacity that outlasts the assistance itself.</a:t>
            </a:r>
            <a:endParaRPr lang="en-US" sz="1000" dirty="0"/>
          </a:p>
        </p:txBody>
      </p:sp>
      <p:pic>
        <p:nvPicPr>
          <p:cNvPr id="7"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9610" y="3385245"/>
            <a:ext cx="2748260" cy="513904"/>
          </a:xfrm>
          <a:prstGeom prst="rect">
            <a:avLst/>
          </a:prstGeom>
        </p:spPr>
      </p:pic>
      <p:sp>
        <p:nvSpPr>
          <p:cNvPr id="8" name="Text 5"/>
          <p:cNvSpPr/>
          <p:nvPr/>
        </p:nvSpPr>
        <p:spPr>
          <a:xfrm>
            <a:off x="578048" y="4015532"/>
            <a:ext cx="1846808" cy="240060"/>
          </a:xfrm>
          <a:prstGeom prst="rect">
            <a:avLst/>
          </a:prstGeom>
          <a:noFill/>
          <a:ln/>
        </p:spPr>
        <p:txBody>
          <a:bodyPr wrap="none" lIns="0" tIns="0" rIns="0" bIns="0" rtlCol="0" anchor="t"/>
          <a:lstStyle/>
          <a:p>
            <a:pPr marL="0" indent="0" algn="l">
              <a:lnSpc>
                <a:spcPts val="1850"/>
              </a:lnSpc>
              <a:buNone/>
            </a:pPr>
            <a:r>
              <a:rPr lang="en-US" sz="1450" dirty="0">
                <a:solidFill>
                  <a:srgbClr val="67534F"/>
                </a:solidFill>
                <a:latin typeface="Marcellus" pitchFamily="34" charset="0"/>
                <a:ea typeface="Marcellus" pitchFamily="34" charset="-122"/>
                <a:cs typeface="Marcellus" pitchFamily="34" charset="-120"/>
              </a:rPr>
              <a:t>Alignment</a:t>
            </a:r>
            <a:endParaRPr lang="en-US" sz="1450" dirty="0"/>
          </a:p>
        </p:txBody>
      </p:sp>
      <p:sp>
        <p:nvSpPr>
          <p:cNvPr id="9" name="Text 6"/>
          <p:cNvSpPr/>
          <p:nvPr/>
        </p:nvSpPr>
        <p:spPr>
          <a:xfrm>
            <a:off x="578048" y="4325392"/>
            <a:ext cx="2491383" cy="318343"/>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KOICA priorities mapped directly to Rwanda's national roadmap</a:t>
            </a:r>
            <a:endParaRPr lang="en-US" sz="1000" dirty="0"/>
          </a:p>
        </p:txBody>
      </p:sp>
      <p:pic>
        <p:nvPicPr>
          <p:cNvPr id="10"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97870" y="3385245"/>
            <a:ext cx="2748260" cy="513904"/>
          </a:xfrm>
          <a:prstGeom prst="rect">
            <a:avLst/>
          </a:prstGeom>
        </p:spPr>
      </p:pic>
      <p:sp>
        <p:nvSpPr>
          <p:cNvPr id="11" name="Text 7"/>
          <p:cNvSpPr/>
          <p:nvPr/>
        </p:nvSpPr>
        <p:spPr>
          <a:xfrm>
            <a:off x="3326309" y="4015532"/>
            <a:ext cx="1846808" cy="240060"/>
          </a:xfrm>
          <a:prstGeom prst="rect">
            <a:avLst/>
          </a:prstGeom>
          <a:noFill/>
          <a:ln/>
        </p:spPr>
        <p:txBody>
          <a:bodyPr wrap="none" lIns="0" tIns="0" rIns="0" bIns="0" rtlCol="0" anchor="t"/>
          <a:lstStyle/>
          <a:p>
            <a:pPr marL="0" indent="0" algn="l">
              <a:lnSpc>
                <a:spcPts val="1850"/>
              </a:lnSpc>
              <a:buNone/>
            </a:pPr>
            <a:r>
              <a:rPr lang="en-US" sz="1450" dirty="0">
                <a:solidFill>
                  <a:srgbClr val="67534F"/>
                </a:solidFill>
                <a:latin typeface="Marcellus" pitchFamily="34" charset="0"/>
                <a:ea typeface="Marcellus" pitchFamily="34" charset="-122"/>
                <a:cs typeface="Marcellus" pitchFamily="34" charset="-120"/>
              </a:rPr>
              <a:t>Implementation</a:t>
            </a:r>
            <a:endParaRPr lang="en-US" sz="1450" dirty="0"/>
          </a:p>
        </p:txBody>
      </p:sp>
      <p:sp>
        <p:nvSpPr>
          <p:cNvPr id="12" name="Text 8"/>
          <p:cNvSpPr/>
          <p:nvPr/>
        </p:nvSpPr>
        <p:spPr>
          <a:xfrm>
            <a:off x="3326309" y="4325392"/>
            <a:ext cx="2491383" cy="318343"/>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Joint teams, local ownership, and government co-investment</a:t>
            </a:r>
            <a:endParaRPr lang="en-US" sz="1000" dirty="0"/>
          </a:p>
        </p:txBody>
      </p:sp>
      <p:pic>
        <p:nvPicPr>
          <p:cNvPr id="13"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46130" y="3385245"/>
            <a:ext cx="2748260" cy="513904"/>
          </a:xfrm>
          <a:prstGeom prst="rect">
            <a:avLst/>
          </a:prstGeom>
        </p:spPr>
      </p:pic>
      <p:sp>
        <p:nvSpPr>
          <p:cNvPr id="14" name="Text 9"/>
          <p:cNvSpPr/>
          <p:nvPr/>
        </p:nvSpPr>
        <p:spPr>
          <a:xfrm>
            <a:off x="6074569" y="4015532"/>
            <a:ext cx="1846808" cy="240060"/>
          </a:xfrm>
          <a:prstGeom prst="rect">
            <a:avLst/>
          </a:prstGeom>
          <a:noFill/>
          <a:ln/>
        </p:spPr>
        <p:txBody>
          <a:bodyPr wrap="none" lIns="0" tIns="0" rIns="0" bIns="0" rtlCol="0" anchor="t"/>
          <a:lstStyle/>
          <a:p>
            <a:pPr marL="0" indent="0" algn="l">
              <a:lnSpc>
                <a:spcPts val="1850"/>
              </a:lnSpc>
              <a:buNone/>
            </a:pPr>
            <a:r>
              <a:rPr lang="en-US" sz="1450" dirty="0">
                <a:solidFill>
                  <a:srgbClr val="67534F"/>
                </a:solidFill>
                <a:latin typeface="Marcellus" pitchFamily="34" charset="0"/>
                <a:ea typeface="Marcellus" pitchFamily="34" charset="-122"/>
                <a:cs typeface="Marcellus" pitchFamily="34" charset="-120"/>
              </a:rPr>
              <a:t>Sustainability</a:t>
            </a:r>
            <a:endParaRPr lang="en-US" sz="1450" dirty="0"/>
          </a:p>
        </p:txBody>
      </p:sp>
      <p:sp>
        <p:nvSpPr>
          <p:cNvPr id="15" name="Text 10"/>
          <p:cNvSpPr/>
          <p:nvPr/>
        </p:nvSpPr>
        <p:spPr>
          <a:xfrm>
            <a:off x="6074569" y="4325392"/>
            <a:ext cx="2491383" cy="318343"/>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Institution-building and human capital over one-time transfers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436587"/>
            <a:ext cx="8000926" cy="529828"/>
          </a:xfrm>
          <a:prstGeom prst="rect">
            <a:avLst/>
          </a:prstGeom>
          <a:noFill/>
          <a:ln/>
        </p:spPr>
        <p:txBody>
          <a:bodyPr wrap="none" lIns="0" tIns="0" rIns="0" bIns="0" rtlCol="0" anchor="t"/>
          <a:lstStyle/>
          <a:p>
            <a:pPr marL="0" indent="0" algn="l">
              <a:lnSpc>
                <a:spcPts val="4150"/>
              </a:lnSpc>
              <a:buNone/>
            </a:pPr>
            <a:r>
              <a:rPr lang="en-US" sz="3200" dirty="0">
                <a:solidFill>
                  <a:srgbClr val="532418"/>
                </a:solidFill>
                <a:latin typeface="Marcellus" pitchFamily="34" charset="0"/>
                <a:ea typeface="Marcellus" pitchFamily="34" charset="-122"/>
                <a:cs typeface="Marcellus" pitchFamily="34" charset="-120"/>
              </a:rPr>
              <a:t>Why Rwanda? Breaking the 'Paradox of Aid'</a:t>
            </a:r>
            <a:endParaRPr lang="en-US" sz="3200" dirty="0"/>
          </a:p>
        </p:txBody>
      </p:sp>
      <p:sp>
        <p:nvSpPr>
          <p:cNvPr id="3" name="Text 1"/>
          <p:cNvSpPr/>
          <p:nvPr/>
        </p:nvSpPr>
        <p:spPr>
          <a:xfrm>
            <a:off x="496119" y="1320775"/>
            <a:ext cx="2085156" cy="264914"/>
          </a:xfrm>
          <a:prstGeom prst="rect">
            <a:avLst/>
          </a:prstGeom>
          <a:noFill/>
          <a:ln/>
        </p:spPr>
        <p:txBody>
          <a:bodyPr wrap="none" lIns="0" tIns="0" rIns="0" bIns="0" rtlCol="0" anchor="t"/>
          <a:lstStyle/>
          <a:p>
            <a:pPr marL="0" indent="0" algn="l">
              <a:lnSpc>
                <a:spcPts val="2050"/>
              </a:lnSpc>
              <a:buNone/>
            </a:pPr>
            <a:r>
              <a:rPr lang="en-US" sz="1600" dirty="0">
                <a:solidFill>
                  <a:srgbClr val="532418"/>
                </a:solidFill>
                <a:latin typeface="Marcellus" pitchFamily="34" charset="0"/>
                <a:ea typeface="Marcellus" pitchFamily="34" charset="-122"/>
                <a:cs typeface="Marcellus" pitchFamily="34" charset="-120"/>
              </a:rPr>
              <a:t>The Paradox Explained</a:t>
            </a:r>
            <a:endParaRPr lang="en-US" sz="1600" dirty="0"/>
          </a:p>
        </p:txBody>
      </p:sp>
      <p:sp>
        <p:nvSpPr>
          <p:cNvPr id="4" name="Text 2"/>
          <p:cNvSpPr/>
          <p:nvPr/>
        </p:nvSpPr>
        <p:spPr>
          <a:xfrm>
            <a:off x="496119" y="1727448"/>
            <a:ext cx="3902943" cy="921246"/>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In many developing nations, ODA is undermined by corruption, weak institutions, and political instability, causing funds to leak before reaching intended beneficiaries. This creates a self-defeating cycle where aid dependency grows while development stagnates.</a:t>
            </a:r>
            <a:endParaRPr lang="en-US" sz="1100" dirty="0"/>
          </a:p>
        </p:txBody>
      </p:sp>
      <p:sp>
        <p:nvSpPr>
          <p:cNvPr id="5" name="Text 3"/>
          <p:cNvSpPr/>
          <p:nvPr/>
        </p:nvSpPr>
        <p:spPr>
          <a:xfrm>
            <a:off x="496119" y="2790453"/>
            <a:ext cx="3126432" cy="264914"/>
          </a:xfrm>
          <a:prstGeom prst="rect">
            <a:avLst/>
          </a:prstGeom>
          <a:noFill/>
          <a:ln/>
        </p:spPr>
        <p:txBody>
          <a:bodyPr wrap="none" lIns="0" tIns="0" rIns="0" bIns="0" rtlCol="0" anchor="t"/>
          <a:lstStyle/>
          <a:p>
            <a:pPr marL="0" indent="0" algn="l">
              <a:lnSpc>
                <a:spcPts val="2050"/>
              </a:lnSpc>
              <a:buNone/>
            </a:pPr>
            <a:r>
              <a:rPr lang="en-US" sz="1600" dirty="0">
                <a:solidFill>
                  <a:srgbClr val="532418"/>
                </a:solidFill>
                <a:latin typeface="Marcellus" pitchFamily="34" charset="0"/>
                <a:ea typeface="Marcellus" pitchFamily="34" charset="-122"/>
                <a:cs typeface="Marcellus" pitchFamily="34" charset="-120"/>
              </a:rPr>
              <a:t>Rwanda's Comparative Advantage</a:t>
            </a:r>
            <a:endParaRPr lang="en-US" sz="1600" dirty="0"/>
          </a:p>
        </p:txBody>
      </p:sp>
      <p:sp>
        <p:nvSpPr>
          <p:cNvPr id="6" name="Text 4"/>
          <p:cNvSpPr/>
          <p:nvPr/>
        </p:nvSpPr>
        <p:spPr>
          <a:xfrm>
            <a:off x="496119" y="3197126"/>
            <a:ext cx="3902943" cy="736997"/>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Rwanda has systematically built the institutional conditions that </a:t>
            </a:r>
            <a:r>
              <a:rPr lang="en-US" sz="1100" b="1" dirty="0">
                <a:solidFill>
                  <a:srgbClr val="67534F"/>
                </a:solidFill>
                <a:latin typeface="Montserrat" pitchFamily="34" charset="0"/>
                <a:ea typeface="Montserrat" pitchFamily="34" charset="-122"/>
                <a:cs typeface="Montserrat" pitchFamily="34" charset="-120"/>
              </a:rPr>
              <a:t>maximize aid effectiveness</a:t>
            </a:r>
            <a:r>
              <a:rPr lang="en-US" sz="1100" dirty="0">
                <a:solidFill>
                  <a:srgbClr val="67534F"/>
                </a:solidFill>
                <a:latin typeface="Montserrat" pitchFamily="34" charset="0"/>
                <a:ea typeface="Montserrat" pitchFamily="34" charset="-122"/>
                <a:cs typeface="Montserrat" pitchFamily="34" charset="-120"/>
              </a:rPr>
              <a:t> making it an outlier on the African continent and a flagship case for KOICA's portfolio.</a:t>
            </a:r>
            <a:endParaRPr lang="en-US" sz="1100" dirty="0"/>
          </a:p>
        </p:txBody>
      </p:sp>
      <p:sp>
        <p:nvSpPr>
          <p:cNvPr id="7" name="Shape 5"/>
          <p:cNvSpPr/>
          <p:nvPr/>
        </p:nvSpPr>
        <p:spPr>
          <a:xfrm>
            <a:off x="4749701" y="1338486"/>
            <a:ext cx="1880592" cy="3208958"/>
          </a:xfrm>
          <a:prstGeom prst="roundRect">
            <a:avLst>
              <a:gd name="adj" fmla="val 3166"/>
            </a:avLst>
          </a:prstGeom>
          <a:solidFill>
            <a:srgbClr val="FFFFF4"/>
          </a:solidFill>
          <a:ln w="14288">
            <a:solidFill>
              <a:srgbClr val="FFE0CC"/>
            </a:solidFill>
            <a:prstDash val="solid"/>
          </a:ln>
        </p:spPr>
        <p:txBody>
          <a:bodyPr/>
          <a:lstStyle/>
          <a:p>
            <a:endParaRPr lang="ko-KR" altLang="en-US"/>
          </a:p>
        </p:txBody>
      </p:sp>
      <p:sp>
        <p:nvSpPr>
          <p:cNvPr id="8" name="Shape 6"/>
          <p:cNvSpPr/>
          <p:nvPr/>
        </p:nvSpPr>
        <p:spPr>
          <a:xfrm>
            <a:off x="4905747" y="1494532"/>
            <a:ext cx="425276" cy="425276"/>
          </a:xfrm>
          <a:prstGeom prst="roundRect">
            <a:avLst>
              <a:gd name="adj" fmla="val 13436988"/>
            </a:avLst>
          </a:prstGeom>
          <a:solidFill>
            <a:srgbClr val="FF954F"/>
          </a:solidFill>
          <a:ln/>
        </p:spPr>
        <p:txBody>
          <a:bodyPr/>
          <a:lstStyle/>
          <a:p>
            <a:endParaRPr lang="ko-KR" alt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2726" y="1611511"/>
            <a:ext cx="191319" cy="191319"/>
          </a:xfrm>
          <a:prstGeom prst="rect">
            <a:avLst/>
          </a:prstGeom>
        </p:spPr>
      </p:pic>
      <p:sp>
        <p:nvSpPr>
          <p:cNvPr id="10" name="Text 7"/>
          <p:cNvSpPr/>
          <p:nvPr/>
        </p:nvSpPr>
        <p:spPr>
          <a:xfrm>
            <a:off x="4905747" y="2061567"/>
            <a:ext cx="1568500" cy="794742"/>
          </a:xfrm>
          <a:prstGeom prst="rect">
            <a:avLst/>
          </a:prstGeom>
          <a:noFill/>
          <a:ln/>
        </p:spPr>
        <p:txBody>
          <a:bodyPr wrap="squar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Lowest Corruption in East Africa</a:t>
            </a:r>
            <a:endParaRPr lang="en-US" sz="1600" dirty="0"/>
          </a:p>
        </p:txBody>
      </p:sp>
      <p:sp>
        <p:nvSpPr>
          <p:cNvPr id="11" name="Text 8"/>
          <p:cNvSpPr/>
          <p:nvPr/>
        </p:nvSpPr>
        <p:spPr>
          <a:xfrm>
            <a:off x="4905747" y="2998068"/>
            <a:ext cx="1568500" cy="1289745"/>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Consistently ranked #1 in East Africa by Transparency International ensuring every aid dollar reaches its intended use</a:t>
            </a:r>
            <a:endParaRPr lang="en-US" sz="1100" dirty="0"/>
          </a:p>
        </p:txBody>
      </p:sp>
      <p:sp>
        <p:nvSpPr>
          <p:cNvPr id="12" name="Shape 9"/>
          <p:cNvSpPr/>
          <p:nvPr/>
        </p:nvSpPr>
        <p:spPr>
          <a:xfrm>
            <a:off x="6772052" y="1338486"/>
            <a:ext cx="1880592" cy="3208958"/>
          </a:xfrm>
          <a:prstGeom prst="roundRect">
            <a:avLst>
              <a:gd name="adj" fmla="val 3166"/>
            </a:avLst>
          </a:prstGeom>
          <a:solidFill>
            <a:srgbClr val="FFFFF4"/>
          </a:solidFill>
          <a:ln w="14288">
            <a:solidFill>
              <a:srgbClr val="FFE0CC"/>
            </a:solidFill>
            <a:prstDash val="solid"/>
          </a:ln>
        </p:spPr>
        <p:txBody>
          <a:bodyPr/>
          <a:lstStyle/>
          <a:p>
            <a:endParaRPr lang="ko-KR" altLang="en-US"/>
          </a:p>
        </p:txBody>
      </p:sp>
      <p:sp>
        <p:nvSpPr>
          <p:cNvPr id="13" name="Shape 10"/>
          <p:cNvSpPr/>
          <p:nvPr/>
        </p:nvSpPr>
        <p:spPr>
          <a:xfrm>
            <a:off x="6928098" y="1494532"/>
            <a:ext cx="425276" cy="425276"/>
          </a:xfrm>
          <a:prstGeom prst="roundRect">
            <a:avLst>
              <a:gd name="adj" fmla="val 13436988"/>
            </a:avLst>
          </a:prstGeom>
          <a:solidFill>
            <a:srgbClr val="FF954F"/>
          </a:solidFill>
          <a:ln/>
        </p:spPr>
        <p:txBody>
          <a:bodyPr/>
          <a:lstStyle/>
          <a:p>
            <a:endParaRPr lang="ko-KR" alt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5077" y="1611511"/>
            <a:ext cx="191319" cy="191319"/>
          </a:xfrm>
          <a:prstGeom prst="rect">
            <a:avLst/>
          </a:prstGeom>
        </p:spPr>
      </p:pic>
      <p:sp>
        <p:nvSpPr>
          <p:cNvPr id="15" name="Text 11"/>
          <p:cNvSpPr/>
          <p:nvPr/>
        </p:nvSpPr>
        <p:spPr>
          <a:xfrm>
            <a:off x="6928098" y="2061567"/>
            <a:ext cx="1568500" cy="529828"/>
          </a:xfrm>
          <a:prstGeom prst="rect">
            <a:avLst/>
          </a:prstGeom>
          <a:noFill/>
          <a:ln/>
        </p:spPr>
        <p:txBody>
          <a:bodyPr wrap="squar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Long-Term Political Stability</a:t>
            </a:r>
            <a:endParaRPr lang="en-US" sz="1600" dirty="0"/>
          </a:p>
        </p:txBody>
      </p:sp>
      <p:sp>
        <p:nvSpPr>
          <p:cNvPr id="16" name="Text 12"/>
          <p:cNvSpPr/>
          <p:nvPr/>
        </p:nvSpPr>
        <p:spPr>
          <a:xfrm>
            <a:off x="6928098" y="2733154"/>
            <a:ext cx="1568500" cy="1658243"/>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A secure and predictable governance environment that enables sustained infrastructure investment and multi-year partnerships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3600450" cy="5143500"/>
          </a:xfrm>
          <a:prstGeom prst="rect">
            <a:avLst/>
          </a:prstGeom>
        </p:spPr>
      </p:pic>
      <p:sp>
        <p:nvSpPr>
          <p:cNvPr id="3" name="Text 0"/>
          <p:cNvSpPr/>
          <p:nvPr/>
        </p:nvSpPr>
        <p:spPr>
          <a:xfrm>
            <a:off x="3901901" y="407789"/>
            <a:ext cx="4267870" cy="504974"/>
          </a:xfrm>
          <a:prstGeom prst="rect">
            <a:avLst/>
          </a:prstGeom>
          <a:noFill/>
          <a:ln/>
        </p:spPr>
        <p:txBody>
          <a:bodyPr wrap="none" lIns="0" tIns="0" rIns="0" bIns="0" rtlCol="0" anchor="t"/>
          <a:lstStyle/>
          <a:p>
            <a:pPr marL="0" indent="0" algn="l">
              <a:lnSpc>
                <a:spcPts val="3950"/>
              </a:lnSpc>
              <a:buNone/>
            </a:pPr>
            <a:r>
              <a:rPr lang="en-US" sz="3050" dirty="0">
                <a:solidFill>
                  <a:srgbClr val="532418"/>
                </a:solidFill>
                <a:latin typeface="Marcellus" pitchFamily="34" charset="0"/>
                <a:ea typeface="Marcellus" pitchFamily="34" charset="-122"/>
                <a:cs typeface="Marcellus" pitchFamily="34" charset="-120"/>
              </a:rPr>
              <a:t>The Synergies of Success</a:t>
            </a:r>
            <a:endParaRPr lang="en-US" sz="30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1901" y="1105942"/>
            <a:ext cx="337765" cy="337765"/>
          </a:xfrm>
          <a:prstGeom prst="rect">
            <a:avLst/>
          </a:prstGeom>
        </p:spPr>
      </p:pic>
      <p:sp>
        <p:nvSpPr>
          <p:cNvPr id="5" name="Text 1"/>
          <p:cNvSpPr/>
          <p:nvPr/>
        </p:nvSpPr>
        <p:spPr>
          <a:xfrm>
            <a:off x="3901901" y="1604665"/>
            <a:ext cx="2612454" cy="252487"/>
          </a:xfrm>
          <a:prstGeom prst="rect">
            <a:avLst/>
          </a:prstGeom>
          <a:noFill/>
          <a:ln/>
        </p:spPr>
        <p:txBody>
          <a:bodyPr wrap="none" lIns="0" tIns="0" rIns="0" bIns="0" rtlCol="0" anchor="t"/>
          <a:lstStyle/>
          <a:p>
            <a:pPr marL="0" indent="0" algn="l">
              <a:lnSpc>
                <a:spcPts val="1950"/>
              </a:lnSpc>
              <a:buNone/>
            </a:pPr>
            <a:r>
              <a:rPr lang="en-US" sz="1500" dirty="0">
                <a:solidFill>
                  <a:srgbClr val="67534F"/>
                </a:solidFill>
                <a:latin typeface="Marcellus" pitchFamily="34" charset="0"/>
                <a:ea typeface="Marcellus" pitchFamily="34" charset="-122"/>
                <a:cs typeface="Marcellus" pitchFamily="34" charset="-120"/>
              </a:rPr>
              <a:t>High Aid Absorption Capacity</a:t>
            </a:r>
            <a:endParaRPr lang="en-US" sz="1500" dirty="0"/>
          </a:p>
        </p:txBody>
      </p:sp>
      <p:sp>
        <p:nvSpPr>
          <p:cNvPr id="6" name="Text 2"/>
          <p:cNvSpPr/>
          <p:nvPr/>
        </p:nvSpPr>
        <p:spPr>
          <a:xfrm>
            <a:off x="3901901" y="1934394"/>
            <a:ext cx="4769197" cy="857622"/>
          </a:xfrm>
          <a:prstGeom prst="rect">
            <a:avLst/>
          </a:prstGeom>
          <a:noFill/>
          <a:ln/>
        </p:spPr>
        <p:txBody>
          <a:bodyPr wrap="square" lIns="0" tIns="0" rIns="0" bIns="0" rtlCol="0" anchor="t"/>
          <a:lstStyle/>
          <a:p>
            <a:pPr marL="0" indent="0" algn="l">
              <a:lnSpc>
                <a:spcPts val="1350"/>
              </a:lnSpc>
              <a:buNone/>
            </a:pPr>
            <a:r>
              <a:rPr lang="en-US" sz="1050" dirty="0">
                <a:solidFill>
                  <a:srgbClr val="67534F"/>
                </a:solidFill>
                <a:latin typeface="Montserrat" pitchFamily="34" charset="0"/>
                <a:ea typeface="Montserrat" pitchFamily="34" charset="-122"/>
                <a:cs typeface="Montserrat" pitchFamily="34" charset="-120"/>
              </a:rPr>
              <a:t>Unlike passive recipients, the Rwandan government exercises </a:t>
            </a:r>
            <a:r>
              <a:rPr lang="en-US" sz="1050" b="1" dirty="0">
                <a:solidFill>
                  <a:srgbClr val="67534F"/>
                </a:solidFill>
                <a:latin typeface="Montserrat" pitchFamily="34" charset="0"/>
                <a:ea typeface="Montserrat" pitchFamily="34" charset="-122"/>
                <a:cs typeface="Montserrat" pitchFamily="34" charset="-120"/>
              </a:rPr>
              <a:t>proactive ownership</a:t>
            </a:r>
            <a:r>
              <a:rPr lang="en-US" sz="1050" dirty="0">
                <a:solidFill>
                  <a:srgbClr val="67534F"/>
                </a:solidFill>
                <a:latin typeface="Montserrat" pitchFamily="34" charset="0"/>
                <a:ea typeface="Montserrat" pitchFamily="34" charset="-122"/>
                <a:cs typeface="Montserrat" pitchFamily="34" charset="-120"/>
              </a:rPr>
              <a:t> of every KOICA project, co-designing programs, contributing matching resources, and holding implementing agencies to measurable outcomes. This ownership mindset is central to the partnership's effectiveness.</a:t>
            </a:r>
            <a:endParaRPr lang="en-US" sz="10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01901" y="3049563"/>
            <a:ext cx="337765" cy="337765"/>
          </a:xfrm>
          <a:prstGeom prst="rect">
            <a:avLst/>
          </a:prstGeom>
        </p:spPr>
      </p:pic>
      <p:sp>
        <p:nvSpPr>
          <p:cNvPr id="8" name="Text 3"/>
          <p:cNvSpPr/>
          <p:nvPr/>
        </p:nvSpPr>
        <p:spPr>
          <a:xfrm>
            <a:off x="3901901" y="3548286"/>
            <a:ext cx="1944514" cy="252487"/>
          </a:xfrm>
          <a:prstGeom prst="rect">
            <a:avLst/>
          </a:prstGeom>
          <a:noFill/>
          <a:ln/>
        </p:spPr>
        <p:txBody>
          <a:bodyPr wrap="none" lIns="0" tIns="0" rIns="0" bIns="0" rtlCol="0" anchor="t"/>
          <a:lstStyle/>
          <a:p>
            <a:pPr marL="0" indent="0" algn="l">
              <a:lnSpc>
                <a:spcPts val="1950"/>
              </a:lnSpc>
              <a:buNone/>
            </a:pPr>
            <a:r>
              <a:rPr lang="en-US" sz="1500" dirty="0">
                <a:solidFill>
                  <a:srgbClr val="67534F"/>
                </a:solidFill>
                <a:latin typeface="Marcellus" pitchFamily="34" charset="0"/>
                <a:ea typeface="Marcellus" pitchFamily="34" charset="-122"/>
                <a:cs typeface="Marcellus" pitchFamily="34" charset="-120"/>
              </a:rPr>
              <a:t>Leapfrogging Strategy</a:t>
            </a:r>
            <a:endParaRPr lang="en-US" sz="1500" dirty="0"/>
          </a:p>
        </p:txBody>
      </p:sp>
      <p:sp>
        <p:nvSpPr>
          <p:cNvPr id="9" name="Text 4"/>
          <p:cNvSpPr/>
          <p:nvPr/>
        </p:nvSpPr>
        <p:spPr>
          <a:xfrm>
            <a:off x="3901901" y="3878014"/>
            <a:ext cx="4769197" cy="857622"/>
          </a:xfrm>
          <a:prstGeom prst="rect">
            <a:avLst/>
          </a:prstGeom>
          <a:noFill/>
          <a:ln/>
        </p:spPr>
        <p:txBody>
          <a:bodyPr wrap="square" lIns="0" tIns="0" rIns="0" bIns="0" rtlCol="0" anchor="t"/>
          <a:lstStyle/>
          <a:p>
            <a:pPr marL="0" indent="0" algn="l">
              <a:lnSpc>
                <a:spcPts val="1350"/>
              </a:lnSpc>
              <a:buNone/>
            </a:pPr>
            <a:r>
              <a:rPr lang="en-US" sz="1050" dirty="0">
                <a:solidFill>
                  <a:srgbClr val="67534F"/>
                </a:solidFill>
                <a:latin typeface="Montserrat" pitchFamily="34" charset="0"/>
                <a:ea typeface="Montserrat" pitchFamily="34" charset="-122"/>
                <a:cs typeface="Montserrat" pitchFamily="34" charset="-120"/>
              </a:rPr>
              <a:t>Rwanda deliberately bypasses traditional industrial phases by adopting Korea's advanced </a:t>
            </a:r>
            <a:r>
              <a:rPr lang="en-US" sz="1050" b="1" dirty="0">
                <a:solidFill>
                  <a:srgbClr val="67534F"/>
                </a:solidFill>
                <a:latin typeface="Montserrat" pitchFamily="34" charset="0"/>
                <a:ea typeface="Montserrat" pitchFamily="34" charset="-122"/>
                <a:cs typeface="Montserrat" pitchFamily="34" charset="-120"/>
              </a:rPr>
              <a:t>ICT and digital infrastructure</a:t>
            </a:r>
            <a:r>
              <a:rPr lang="en-US" sz="1050" dirty="0">
                <a:solidFill>
                  <a:srgbClr val="67534F"/>
                </a:solidFill>
                <a:latin typeface="Montserrat" pitchFamily="34" charset="0"/>
                <a:ea typeface="Montserrat" pitchFamily="34" charset="-122"/>
                <a:cs typeface="Montserrat" pitchFamily="34" charset="-120"/>
              </a:rPr>
              <a:t> directly. Rather than replicating outdated development pathways, Rwanda uses Korean expertise to vault into the knowledge economy compressing decades of development into years.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3600450" cy="5143500"/>
          </a:xfrm>
          <a:prstGeom prst="rect">
            <a:avLst/>
          </a:prstGeom>
        </p:spPr>
      </p:pic>
      <p:sp>
        <p:nvSpPr>
          <p:cNvPr id="3" name="Text 0"/>
          <p:cNvSpPr/>
          <p:nvPr/>
        </p:nvSpPr>
        <p:spPr>
          <a:xfrm>
            <a:off x="3878610" y="508397"/>
            <a:ext cx="4815780" cy="960388"/>
          </a:xfrm>
          <a:prstGeom prst="rect">
            <a:avLst/>
          </a:prstGeom>
          <a:noFill/>
          <a:ln/>
        </p:spPr>
        <p:txBody>
          <a:bodyPr wrap="square" lIns="0" tIns="0" rIns="0" bIns="0" rtlCol="0" anchor="t"/>
          <a:lstStyle/>
          <a:p>
            <a:pPr marL="0" indent="0" algn="l">
              <a:lnSpc>
                <a:spcPts val="3750"/>
              </a:lnSpc>
              <a:buNone/>
            </a:pPr>
            <a:r>
              <a:rPr lang="en-US" sz="2900" dirty="0">
                <a:solidFill>
                  <a:srgbClr val="532418"/>
                </a:solidFill>
                <a:latin typeface="Marcellus" pitchFamily="34" charset="0"/>
                <a:ea typeface="Marcellus" pitchFamily="34" charset="-122"/>
                <a:cs typeface="Marcellus" pitchFamily="34" charset="-120"/>
              </a:rPr>
              <a:t>Sectoral Achievements: Agriculture &amp; ICT</a:t>
            </a:r>
            <a:endParaRPr lang="en-US" sz="2900" dirty="0"/>
          </a:p>
        </p:txBody>
      </p:sp>
      <p:sp>
        <p:nvSpPr>
          <p:cNvPr id="4" name="Shape 1"/>
          <p:cNvSpPr/>
          <p:nvPr/>
        </p:nvSpPr>
        <p:spPr>
          <a:xfrm>
            <a:off x="3786113" y="1643360"/>
            <a:ext cx="2436168" cy="2991669"/>
          </a:xfrm>
          <a:prstGeom prst="roundRect">
            <a:avLst>
              <a:gd name="adj" fmla="val 3797"/>
            </a:avLst>
          </a:prstGeom>
          <a:solidFill>
            <a:srgbClr val="532418">
              <a:alpha val="95000"/>
            </a:srgbClr>
          </a:solidFill>
          <a:ln/>
        </p:spPr>
        <p:txBody>
          <a:bodyPr/>
          <a:lstStyle/>
          <a:p>
            <a:endParaRPr lang="ko-KR" altLang="en-US"/>
          </a:p>
        </p:txBody>
      </p:sp>
      <p:sp>
        <p:nvSpPr>
          <p:cNvPr id="5" name="Text 2"/>
          <p:cNvSpPr/>
          <p:nvPr/>
        </p:nvSpPr>
        <p:spPr>
          <a:xfrm>
            <a:off x="3914552" y="1759744"/>
            <a:ext cx="2179290" cy="480120"/>
          </a:xfrm>
          <a:prstGeom prst="rect">
            <a:avLst/>
          </a:prstGeom>
          <a:noFill/>
          <a:ln/>
        </p:spPr>
        <p:txBody>
          <a:bodyPr wrap="square" lIns="0" tIns="0" rIns="0" bIns="0" rtlCol="0" anchor="t"/>
          <a:lstStyle/>
          <a:p>
            <a:pPr marL="0" indent="0" algn="l">
              <a:lnSpc>
                <a:spcPts val="1850"/>
              </a:lnSpc>
              <a:buNone/>
            </a:pPr>
            <a:r>
              <a:rPr lang="en-US" sz="1450" dirty="0">
                <a:solidFill>
                  <a:srgbClr val="FFFFFF"/>
                </a:solidFill>
                <a:latin typeface="Marcellus" pitchFamily="34" charset="0"/>
                <a:ea typeface="Marcellus" pitchFamily="34" charset="-122"/>
                <a:cs typeface="Marcellus" pitchFamily="34" charset="-120"/>
              </a:rPr>
              <a:t>Agriculture: Upgrading the Value Chain</a:t>
            </a:r>
            <a:endParaRPr lang="en-US" sz="1450" dirty="0"/>
          </a:p>
        </p:txBody>
      </p:sp>
      <p:sp>
        <p:nvSpPr>
          <p:cNvPr id="6" name="Text 3"/>
          <p:cNvSpPr/>
          <p:nvPr/>
        </p:nvSpPr>
        <p:spPr>
          <a:xfrm>
            <a:off x="3914552" y="2356247"/>
            <a:ext cx="2179290" cy="1114202"/>
          </a:xfrm>
          <a:prstGeom prst="rect">
            <a:avLst/>
          </a:prstGeom>
          <a:noFill/>
          <a:ln/>
        </p:spPr>
        <p:txBody>
          <a:bodyPr wrap="square" lIns="0" tIns="0" rIns="0" bIns="0" rtlCol="0" anchor="t"/>
          <a:lstStyle/>
          <a:p>
            <a:pPr marL="0" indent="0" algn="l">
              <a:lnSpc>
                <a:spcPts val="1250"/>
              </a:lnSpc>
              <a:buNone/>
            </a:pPr>
            <a:r>
              <a:rPr lang="en-US" sz="1000" dirty="0">
                <a:solidFill>
                  <a:srgbClr val="FFFFFF"/>
                </a:solidFill>
                <a:latin typeface="Montserrat" pitchFamily="34" charset="0"/>
                <a:ea typeface="Montserrat" pitchFamily="34" charset="-122"/>
                <a:cs typeface="Montserrat" pitchFamily="34" charset="-120"/>
              </a:rPr>
              <a:t>Applying Saemaul Undong principles to rural Rwanda, KOICA established agricultural cooperatives and post-harvest infrastructure that directly increased smallholder farmers' incomes.</a:t>
            </a:r>
            <a:endParaRPr lang="en-US" sz="1000" dirty="0"/>
          </a:p>
        </p:txBody>
      </p:sp>
      <p:sp>
        <p:nvSpPr>
          <p:cNvPr id="7" name="Text 4"/>
          <p:cNvSpPr/>
          <p:nvPr/>
        </p:nvSpPr>
        <p:spPr>
          <a:xfrm>
            <a:off x="3914552" y="3575224"/>
            <a:ext cx="2179290" cy="795858"/>
          </a:xfrm>
          <a:prstGeom prst="rect">
            <a:avLst/>
          </a:prstGeom>
          <a:noFill/>
          <a:ln/>
        </p:spPr>
        <p:txBody>
          <a:bodyPr wrap="square" lIns="0" tIns="0" rIns="0" bIns="0" rtlCol="0" anchor="t"/>
          <a:lstStyle/>
          <a:p>
            <a:pPr marL="0" indent="0" algn="l">
              <a:lnSpc>
                <a:spcPts val="1250"/>
              </a:lnSpc>
              <a:buNone/>
            </a:pPr>
            <a:r>
              <a:rPr lang="en-US" sz="1000" dirty="0">
                <a:solidFill>
                  <a:srgbClr val="FFFFFF"/>
                </a:solidFill>
                <a:latin typeface="Montserrat" pitchFamily="34" charset="0"/>
                <a:ea typeface="Montserrat" pitchFamily="34" charset="-122"/>
                <a:cs typeface="Montserrat" pitchFamily="34" charset="-120"/>
              </a:rPr>
              <a:t>Projects focused on value chain development connecting farmers to markets and reducing post-harvest losses through improved storage and processing facilities.</a:t>
            </a:r>
            <a:endParaRPr lang="en-US" sz="1000" dirty="0"/>
          </a:p>
        </p:txBody>
      </p:sp>
      <p:sp>
        <p:nvSpPr>
          <p:cNvPr id="8" name="Text 5"/>
          <p:cNvSpPr/>
          <p:nvPr/>
        </p:nvSpPr>
        <p:spPr>
          <a:xfrm>
            <a:off x="6447979" y="1759744"/>
            <a:ext cx="2251174" cy="480120"/>
          </a:xfrm>
          <a:prstGeom prst="rect">
            <a:avLst/>
          </a:prstGeom>
          <a:noFill/>
          <a:ln/>
        </p:spPr>
        <p:txBody>
          <a:bodyPr wrap="square" lIns="0" tIns="0" rIns="0" bIns="0" rtlCol="0" anchor="t"/>
          <a:lstStyle/>
          <a:p>
            <a:pPr marL="0" indent="0" algn="l">
              <a:lnSpc>
                <a:spcPts val="1850"/>
              </a:lnSpc>
              <a:buNone/>
            </a:pPr>
            <a:r>
              <a:rPr lang="en-US" sz="1450" dirty="0">
                <a:solidFill>
                  <a:srgbClr val="532418"/>
                </a:solidFill>
                <a:latin typeface="Marcellus" pitchFamily="34" charset="0"/>
                <a:ea typeface="Marcellus" pitchFamily="34" charset="-122"/>
                <a:cs typeface="Marcellus" pitchFamily="34" charset="-120"/>
              </a:rPr>
              <a:t>ICT: Digital Transformation of Governance</a:t>
            </a:r>
            <a:endParaRPr lang="en-US" sz="1450" dirty="0"/>
          </a:p>
        </p:txBody>
      </p:sp>
      <p:sp>
        <p:nvSpPr>
          <p:cNvPr id="9" name="Text 6"/>
          <p:cNvSpPr/>
          <p:nvPr/>
        </p:nvSpPr>
        <p:spPr>
          <a:xfrm>
            <a:off x="6447979" y="2356247"/>
            <a:ext cx="2251174" cy="795858"/>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Leveraging Korea's world-class e-government capabilities, KOICA played a decisive role in modernizing Rwanda's national tax and customs administration.</a:t>
            </a:r>
            <a:endParaRPr lang="en-US" sz="1000" dirty="0"/>
          </a:p>
        </p:txBody>
      </p:sp>
      <p:sp>
        <p:nvSpPr>
          <p:cNvPr id="10" name="Text 7"/>
          <p:cNvSpPr/>
          <p:nvPr/>
        </p:nvSpPr>
        <p:spPr>
          <a:xfrm>
            <a:off x="6447979" y="3256880"/>
            <a:ext cx="2251174" cy="1273373"/>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Digital systems reduced processing times, improved revenue collection efficiency, and minimized corruption opportunities directly strengthening the fiscal foundation for Rwanda's continued development.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41871" y="579462"/>
            <a:ext cx="8129960" cy="471860"/>
          </a:xfrm>
          <a:prstGeom prst="rect">
            <a:avLst/>
          </a:prstGeom>
          <a:noFill/>
          <a:ln/>
        </p:spPr>
        <p:txBody>
          <a:bodyPr wrap="none" lIns="0" tIns="0" rIns="0" bIns="0" rtlCol="0" anchor="t"/>
          <a:lstStyle/>
          <a:p>
            <a:pPr marL="0" indent="0" algn="l">
              <a:lnSpc>
                <a:spcPts val="3700"/>
              </a:lnSpc>
              <a:buNone/>
            </a:pPr>
            <a:r>
              <a:rPr lang="en-US" sz="2850" dirty="0">
                <a:solidFill>
                  <a:srgbClr val="532418"/>
                </a:solidFill>
                <a:latin typeface="Marcellus" pitchFamily="34" charset="0"/>
                <a:ea typeface="Marcellus" pitchFamily="34" charset="-122"/>
                <a:cs typeface="Marcellus" pitchFamily="34" charset="-120"/>
              </a:rPr>
              <a:t>Beyond KOICA: Private Sector Engagement in ICT</a:t>
            </a:r>
            <a:endParaRPr lang="en-US" sz="2850" dirty="0"/>
          </a:p>
        </p:txBody>
      </p:sp>
      <p:pic>
        <p:nvPicPr>
          <p:cNvPr id="3"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5519" y="1428974"/>
            <a:ext cx="1052140" cy="1052140"/>
          </a:xfrm>
          <a:prstGeom prst="rect">
            <a:avLst/>
          </a:prstGeom>
        </p:spPr>
      </p:pic>
      <p:sp>
        <p:nvSpPr>
          <p:cNvPr id="4" name="Text 1"/>
          <p:cNvSpPr/>
          <p:nvPr/>
        </p:nvSpPr>
        <p:spPr>
          <a:xfrm>
            <a:off x="441871" y="2525092"/>
            <a:ext cx="2519437" cy="155153"/>
          </a:xfrm>
          <a:prstGeom prst="rect">
            <a:avLst/>
          </a:prstGeom>
          <a:noFill/>
          <a:ln/>
        </p:spPr>
        <p:txBody>
          <a:bodyPr wrap="none" lIns="0" tIns="0" rIns="0" bIns="0" rtlCol="0" anchor="t"/>
          <a:lstStyle/>
          <a:p>
            <a:pPr marL="0" indent="0" algn="l">
              <a:lnSpc>
                <a:spcPts val="1200"/>
              </a:lnSpc>
              <a:buNone/>
            </a:pPr>
            <a:endParaRPr lang="en-US" sz="950" dirty="0"/>
          </a:p>
        </p:txBody>
      </p:sp>
      <p:sp>
        <p:nvSpPr>
          <p:cNvPr id="5" name="Text 2"/>
          <p:cNvSpPr/>
          <p:nvPr/>
        </p:nvSpPr>
        <p:spPr>
          <a:xfrm>
            <a:off x="441871" y="2792685"/>
            <a:ext cx="1814959" cy="235893"/>
          </a:xfrm>
          <a:prstGeom prst="rect">
            <a:avLst/>
          </a:prstGeom>
          <a:noFill/>
          <a:ln/>
        </p:spPr>
        <p:txBody>
          <a:bodyPr wrap="none" lIns="0" tIns="0" rIns="0" bIns="0" rtlCol="0" anchor="t"/>
          <a:lstStyle/>
          <a:p>
            <a:pPr marL="0" indent="0" algn="l">
              <a:lnSpc>
                <a:spcPts val="1850"/>
              </a:lnSpc>
              <a:buNone/>
            </a:pPr>
            <a:r>
              <a:rPr lang="en-US" sz="1400" dirty="0">
                <a:solidFill>
                  <a:srgbClr val="532418"/>
                </a:solidFill>
                <a:latin typeface="Marcellus" pitchFamily="34" charset="0"/>
                <a:ea typeface="Marcellus" pitchFamily="34" charset="-122"/>
                <a:cs typeface="Marcellus" pitchFamily="34" charset="-120"/>
              </a:rPr>
              <a:t>KT (Korea Telecom)</a:t>
            </a:r>
            <a:endParaRPr lang="en-US" sz="1400" dirty="0"/>
          </a:p>
        </p:txBody>
      </p:sp>
      <p:sp>
        <p:nvSpPr>
          <p:cNvPr id="6" name="Text 3"/>
          <p:cNvSpPr/>
          <p:nvPr/>
        </p:nvSpPr>
        <p:spPr>
          <a:xfrm>
            <a:off x="441871" y="3141018"/>
            <a:ext cx="2519437" cy="310307"/>
          </a:xfrm>
          <a:prstGeom prst="rect">
            <a:avLst/>
          </a:prstGeom>
          <a:noFill/>
          <a:ln/>
        </p:spPr>
        <p:txBody>
          <a:bodyPr wrap="square" lIns="0" tIns="0" rIns="0" bIns="0" rtlCol="0" anchor="t"/>
          <a:lstStyle/>
          <a:p>
            <a:pPr marL="0" indent="0" algn="l">
              <a:lnSpc>
                <a:spcPts val="1200"/>
              </a:lnSpc>
              <a:buNone/>
            </a:pPr>
            <a:r>
              <a:rPr lang="en-US" sz="950" dirty="0">
                <a:solidFill>
                  <a:srgbClr val="67534F"/>
                </a:solidFill>
                <a:latin typeface="Montserrat" pitchFamily="34" charset="0"/>
                <a:ea typeface="Montserrat" pitchFamily="34" charset="-122"/>
                <a:cs typeface="Montserrat" pitchFamily="34" charset="-120"/>
              </a:rPr>
              <a:t>Nationwide 4G LTE infrastructure &amp; 'Smart School' network deployment.</a:t>
            </a:r>
            <a:endParaRPr lang="en-US" sz="950" dirty="0"/>
          </a:p>
        </p:txBody>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41390" y="1616943"/>
            <a:ext cx="2261220" cy="751805"/>
          </a:xfrm>
          <a:prstGeom prst="rect">
            <a:avLst/>
          </a:prstGeom>
        </p:spPr>
      </p:pic>
      <p:sp>
        <p:nvSpPr>
          <p:cNvPr id="8" name="Text 4"/>
          <p:cNvSpPr/>
          <p:nvPr/>
        </p:nvSpPr>
        <p:spPr>
          <a:xfrm>
            <a:off x="3274144" y="2224757"/>
            <a:ext cx="2605088" cy="155153"/>
          </a:xfrm>
          <a:prstGeom prst="rect">
            <a:avLst/>
          </a:prstGeom>
          <a:noFill/>
          <a:ln/>
        </p:spPr>
        <p:txBody>
          <a:bodyPr wrap="none" lIns="0" tIns="0" rIns="0" bIns="0" rtlCol="0" anchor="t"/>
          <a:lstStyle/>
          <a:p>
            <a:pPr marL="0" indent="0" algn="l">
              <a:lnSpc>
                <a:spcPts val="1200"/>
              </a:lnSpc>
              <a:buNone/>
            </a:pPr>
            <a:endParaRPr lang="en-US" sz="950" dirty="0"/>
          </a:p>
        </p:txBody>
      </p:sp>
      <p:sp>
        <p:nvSpPr>
          <p:cNvPr id="9" name="Text 5"/>
          <p:cNvSpPr/>
          <p:nvPr/>
        </p:nvSpPr>
        <p:spPr>
          <a:xfrm>
            <a:off x="3274144" y="2481114"/>
            <a:ext cx="2605088" cy="155153"/>
          </a:xfrm>
          <a:prstGeom prst="rect">
            <a:avLst/>
          </a:prstGeom>
          <a:noFill/>
          <a:ln/>
        </p:spPr>
        <p:txBody>
          <a:bodyPr wrap="none" lIns="0" tIns="0" rIns="0" bIns="0" rtlCol="0" anchor="t"/>
          <a:lstStyle/>
          <a:p>
            <a:pPr marL="0" indent="0" algn="l">
              <a:lnSpc>
                <a:spcPts val="1200"/>
              </a:lnSpc>
              <a:buNone/>
            </a:pPr>
            <a:endParaRPr lang="en-US" sz="950" dirty="0"/>
          </a:p>
        </p:txBody>
      </p:sp>
      <p:sp>
        <p:nvSpPr>
          <p:cNvPr id="10" name="Text 6"/>
          <p:cNvSpPr/>
          <p:nvPr/>
        </p:nvSpPr>
        <p:spPr>
          <a:xfrm>
            <a:off x="3274144" y="2789150"/>
            <a:ext cx="1814959" cy="235893"/>
          </a:xfrm>
          <a:prstGeom prst="rect">
            <a:avLst/>
          </a:prstGeom>
          <a:noFill/>
          <a:ln/>
        </p:spPr>
        <p:txBody>
          <a:bodyPr wrap="none" lIns="0" tIns="0" rIns="0" bIns="0" rtlCol="0" anchor="t"/>
          <a:lstStyle/>
          <a:p>
            <a:pPr marL="0" indent="0" algn="l">
              <a:lnSpc>
                <a:spcPts val="1850"/>
              </a:lnSpc>
              <a:buNone/>
            </a:pPr>
            <a:r>
              <a:rPr lang="en-US" sz="1400" dirty="0">
                <a:solidFill>
                  <a:srgbClr val="532418"/>
                </a:solidFill>
                <a:latin typeface="Marcellus" pitchFamily="34" charset="0"/>
                <a:ea typeface="Marcellus" pitchFamily="34" charset="-122"/>
                <a:cs typeface="Marcellus" pitchFamily="34" charset="-120"/>
              </a:rPr>
              <a:t>Samsung Electronics</a:t>
            </a:r>
            <a:endParaRPr lang="en-US" sz="1400" dirty="0"/>
          </a:p>
        </p:txBody>
      </p:sp>
      <p:sp>
        <p:nvSpPr>
          <p:cNvPr id="11" name="Text 7"/>
          <p:cNvSpPr/>
          <p:nvPr/>
        </p:nvSpPr>
        <p:spPr>
          <a:xfrm>
            <a:off x="3269456" y="3127232"/>
            <a:ext cx="2605088" cy="362639"/>
          </a:xfrm>
          <a:prstGeom prst="rect">
            <a:avLst/>
          </a:prstGeom>
          <a:noFill/>
          <a:ln/>
        </p:spPr>
        <p:txBody>
          <a:bodyPr wrap="square" lIns="0" tIns="0" rIns="0" bIns="0" rtlCol="0" anchor="t"/>
          <a:lstStyle/>
          <a:p>
            <a:pPr marL="0" indent="0" algn="l">
              <a:lnSpc>
                <a:spcPts val="1200"/>
              </a:lnSpc>
              <a:buNone/>
            </a:pPr>
            <a:r>
              <a:rPr lang="en-US" sz="950" dirty="0">
                <a:solidFill>
                  <a:srgbClr val="67534F"/>
                </a:solidFill>
                <a:latin typeface="Montserrat" pitchFamily="34" charset="0"/>
                <a:ea typeface="Montserrat" pitchFamily="34" charset="-122"/>
                <a:cs typeface="Montserrat" pitchFamily="34" charset="-120"/>
              </a:rPr>
              <a:t>'Samsung Smart School' programs (Providing interactive displays and tablets).</a:t>
            </a:r>
            <a:endParaRPr lang="en-US" sz="950" dirty="0"/>
          </a:p>
        </p:txBody>
      </p:sp>
      <p:pic>
        <p:nvPicPr>
          <p:cNvPr id="12"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482692" y="1506587"/>
            <a:ext cx="1938189" cy="1018505"/>
          </a:xfrm>
          <a:prstGeom prst="rect">
            <a:avLst/>
          </a:prstGeom>
        </p:spPr>
      </p:pic>
      <p:sp>
        <p:nvSpPr>
          <p:cNvPr id="13" name="Text 8"/>
          <p:cNvSpPr/>
          <p:nvPr/>
        </p:nvSpPr>
        <p:spPr>
          <a:xfrm>
            <a:off x="6192069" y="2491457"/>
            <a:ext cx="2519437" cy="155153"/>
          </a:xfrm>
          <a:prstGeom prst="rect">
            <a:avLst/>
          </a:prstGeom>
          <a:noFill/>
          <a:ln/>
        </p:spPr>
        <p:txBody>
          <a:bodyPr wrap="none" lIns="0" tIns="0" rIns="0" bIns="0" rtlCol="0" anchor="t"/>
          <a:lstStyle/>
          <a:p>
            <a:pPr marL="0" indent="0" algn="l">
              <a:lnSpc>
                <a:spcPts val="1200"/>
              </a:lnSpc>
              <a:buNone/>
            </a:pPr>
            <a:endParaRPr lang="en-US" sz="950" dirty="0"/>
          </a:p>
        </p:txBody>
      </p:sp>
      <p:sp>
        <p:nvSpPr>
          <p:cNvPr id="14" name="Text 9"/>
          <p:cNvSpPr/>
          <p:nvPr/>
        </p:nvSpPr>
        <p:spPr>
          <a:xfrm>
            <a:off x="6192069" y="2797922"/>
            <a:ext cx="1814959" cy="235893"/>
          </a:xfrm>
          <a:prstGeom prst="rect">
            <a:avLst/>
          </a:prstGeom>
          <a:noFill/>
          <a:ln/>
        </p:spPr>
        <p:txBody>
          <a:bodyPr wrap="none" lIns="0" tIns="0" rIns="0" bIns="0" rtlCol="0" anchor="t"/>
          <a:lstStyle/>
          <a:p>
            <a:pPr marL="0" indent="0" algn="l">
              <a:lnSpc>
                <a:spcPts val="1850"/>
              </a:lnSpc>
              <a:buNone/>
            </a:pPr>
            <a:r>
              <a:rPr lang="en-US" sz="1400" dirty="0">
                <a:solidFill>
                  <a:srgbClr val="532418"/>
                </a:solidFill>
                <a:latin typeface="Marcellus" pitchFamily="34" charset="0"/>
                <a:ea typeface="Marcellus" pitchFamily="34" charset="-122"/>
                <a:cs typeface="Marcellus" pitchFamily="34" charset="-120"/>
              </a:rPr>
              <a:t>SK Hynix</a:t>
            </a:r>
            <a:endParaRPr lang="en-US" sz="1400" dirty="0"/>
          </a:p>
        </p:txBody>
      </p:sp>
      <p:sp>
        <p:nvSpPr>
          <p:cNvPr id="15" name="Text 10"/>
          <p:cNvSpPr/>
          <p:nvPr/>
        </p:nvSpPr>
        <p:spPr>
          <a:xfrm>
            <a:off x="6192069" y="3138908"/>
            <a:ext cx="2519437" cy="310307"/>
          </a:xfrm>
          <a:prstGeom prst="rect">
            <a:avLst/>
          </a:prstGeom>
          <a:noFill/>
          <a:ln/>
        </p:spPr>
        <p:txBody>
          <a:bodyPr wrap="square" lIns="0" tIns="0" rIns="0" bIns="0" rtlCol="0" anchor="t"/>
          <a:lstStyle/>
          <a:p>
            <a:pPr marL="0" indent="0" algn="l">
              <a:lnSpc>
                <a:spcPts val="1200"/>
              </a:lnSpc>
              <a:buNone/>
            </a:pPr>
            <a:r>
              <a:rPr lang="en-US" sz="950" dirty="0">
                <a:solidFill>
                  <a:srgbClr val="67534F"/>
                </a:solidFill>
                <a:latin typeface="Montserrat" pitchFamily="34" charset="0"/>
                <a:ea typeface="Montserrat" pitchFamily="34" charset="-122"/>
                <a:cs typeface="Montserrat" pitchFamily="34" charset="-120"/>
              </a:rPr>
              <a:t>Supporting advanced hardware literacy and sustainable IT ecosystems.</a:t>
            </a:r>
            <a:endParaRPr lang="en-US" sz="950" dirty="0"/>
          </a:p>
        </p:txBody>
      </p:sp>
      <p:sp>
        <p:nvSpPr>
          <p:cNvPr id="16" name="Shape 11"/>
          <p:cNvSpPr/>
          <p:nvPr/>
        </p:nvSpPr>
        <p:spPr>
          <a:xfrm>
            <a:off x="441871" y="3790206"/>
            <a:ext cx="8260259" cy="773757"/>
          </a:xfrm>
          <a:prstGeom prst="roundRect">
            <a:avLst>
              <a:gd name="adj" fmla="val 6854"/>
            </a:avLst>
          </a:prstGeom>
          <a:solidFill>
            <a:srgbClr val="B6FCB8"/>
          </a:solidFill>
          <a:ln/>
        </p:spPr>
        <p:txBody>
          <a:bodyPr/>
          <a:lstStyle/>
          <a:p>
            <a:endParaRPr lang="ko-KR" altLang="en-US"/>
          </a:p>
        </p:txBody>
      </p:sp>
      <p:pic>
        <p:nvPicPr>
          <p:cNvPr id="17"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17761" y="3934197"/>
            <a:ext cx="157758" cy="126206"/>
          </a:xfrm>
          <a:prstGeom prst="rect">
            <a:avLst/>
          </a:prstGeom>
        </p:spPr>
      </p:pic>
      <p:sp>
        <p:nvSpPr>
          <p:cNvPr id="18" name="Text 12"/>
          <p:cNvSpPr/>
          <p:nvPr/>
        </p:nvSpPr>
        <p:spPr>
          <a:xfrm>
            <a:off x="852041" y="3934197"/>
            <a:ext cx="7723882" cy="465460"/>
          </a:xfrm>
          <a:prstGeom prst="rect">
            <a:avLst/>
          </a:prstGeom>
          <a:noFill/>
          <a:ln/>
        </p:spPr>
        <p:txBody>
          <a:bodyPr wrap="square" lIns="0" tIns="0" rIns="0" bIns="0" rtlCol="0" anchor="t"/>
          <a:lstStyle/>
          <a:p>
            <a:pPr marL="0" indent="0" algn="ctr">
              <a:lnSpc>
                <a:spcPts val="1200"/>
              </a:lnSpc>
              <a:buNone/>
            </a:pPr>
            <a:r>
              <a:rPr lang="en-US" sz="950" b="1" dirty="0">
                <a:solidFill>
                  <a:srgbClr val="000000"/>
                </a:solidFill>
                <a:latin typeface="Montserrat" pitchFamily="34" charset="0"/>
                <a:ea typeface="Montserrat" pitchFamily="34" charset="-122"/>
                <a:cs typeface="Montserrat" pitchFamily="34" charset="-120"/>
              </a:rPr>
              <a:t>Semiconductor technology and ICT are not just industries, but the defining force behind a nation's future.</a:t>
            </a:r>
          </a:p>
          <a:p>
            <a:pPr marL="0" indent="0" algn="ctr">
              <a:lnSpc>
                <a:spcPts val="1200"/>
              </a:lnSpc>
              <a:buNone/>
            </a:pPr>
            <a:r>
              <a:rPr lang="en-US" sz="950" dirty="0">
                <a:solidFill>
                  <a:srgbClr val="000000"/>
                </a:solidFill>
                <a:latin typeface="Montserrat" pitchFamily="34" charset="0"/>
                <a:ea typeface="Montserrat" pitchFamily="34" charset="-122"/>
                <a:cs typeface="Montserrat" pitchFamily="34" charset="-120"/>
              </a:rPr>
              <a:t>Samsung Electronics' operating profit alone surpasses the combined total of Japan's top 100 listed companies.</a:t>
            </a:r>
            <a:endParaRPr lang="en-US" sz="950" b="1" dirty="0">
              <a:solidFill>
                <a:srgbClr val="000000"/>
              </a:solidFill>
              <a:latin typeface="Montserrat" pitchFamily="34" charset="0"/>
              <a:ea typeface="Montserrat" pitchFamily="34" charset="-122"/>
              <a:cs typeface="Montserrat" pitchFamily="34" charset="-120"/>
            </a:endParaRPr>
          </a:p>
          <a:p>
            <a:pPr marL="0" indent="0" algn="ctr">
              <a:lnSpc>
                <a:spcPts val="1200"/>
              </a:lnSpc>
              <a:buNone/>
            </a:pPr>
            <a:r>
              <a:rPr lang="en-US" sz="950" dirty="0">
                <a:solidFill>
                  <a:srgbClr val="000000"/>
                </a:solidFill>
                <a:latin typeface="Montserrat" pitchFamily="34" charset="0"/>
                <a:ea typeface="Montserrat" pitchFamily="34" charset="-122"/>
                <a:cs typeface="Montserrat" pitchFamily="34" charset="-120"/>
              </a:rPr>
              <a:t>Korea's investment in Rwanda's digital future is an investment in the next generation of global leadership.</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3600450" cy="5143500"/>
          </a:xfrm>
          <a:prstGeom prst="rect">
            <a:avLst/>
          </a:prstGeom>
        </p:spPr>
      </p:pic>
      <p:sp>
        <p:nvSpPr>
          <p:cNvPr id="3" name="Shape 0"/>
          <p:cNvSpPr/>
          <p:nvPr/>
        </p:nvSpPr>
        <p:spPr>
          <a:xfrm>
            <a:off x="3878610" y="364034"/>
            <a:ext cx="524024" cy="204267"/>
          </a:xfrm>
          <a:prstGeom prst="roundRect">
            <a:avLst>
              <a:gd name="adj" fmla="val 21133"/>
            </a:avLst>
          </a:prstGeom>
          <a:solidFill>
            <a:srgbClr val="FFE0CC"/>
          </a:solidFill>
          <a:ln/>
        </p:spPr>
        <p:txBody>
          <a:bodyPr/>
          <a:lstStyle/>
          <a:p>
            <a:endParaRPr lang="ko-KR" altLang="en-US"/>
          </a:p>
        </p:txBody>
      </p:sp>
      <p:sp>
        <p:nvSpPr>
          <p:cNvPr id="4" name="Text 1"/>
          <p:cNvSpPr/>
          <p:nvPr/>
        </p:nvSpPr>
        <p:spPr>
          <a:xfrm>
            <a:off x="3955628" y="402506"/>
            <a:ext cx="369987" cy="127322"/>
          </a:xfrm>
          <a:prstGeom prst="rect">
            <a:avLst/>
          </a:prstGeom>
          <a:noFill/>
          <a:ln/>
        </p:spPr>
        <p:txBody>
          <a:bodyPr wrap="none" lIns="0" tIns="0" rIns="0" bIns="0" rtlCol="0" anchor="t"/>
          <a:lstStyle/>
          <a:p>
            <a:pPr marL="0" indent="0" algn="l">
              <a:lnSpc>
                <a:spcPts val="1000"/>
              </a:lnSpc>
              <a:buNone/>
            </a:pPr>
            <a:r>
              <a:rPr lang="en-US" sz="800" dirty="0">
                <a:solidFill>
                  <a:srgbClr val="67534F"/>
                </a:solidFill>
                <a:latin typeface="Montserrat" pitchFamily="34" charset="0"/>
                <a:ea typeface="Montserrat" pitchFamily="34" charset="-122"/>
                <a:cs typeface="Montserrat" pitchFamily="34" charset="-120"/>
              </a:rPr>
              <a:t>PART 4</a:t>
            </a:r>
            <a:endParaRPr lang="en-US" sz="800" dirty="0"/>
          </a:p>
        </p:txBody>
      </p:sp>
      <p:sp>
        <p:nvSpPr>
          <p:cNvPr id="5" name="Text 2"/>
          <p:cNvSpPr/>
          <p:nvPr/>
        </p:nvSpPr>
        <p:spPr>
          <a:xfrm>
            <a:off x="3878610" y="614809"/>
            <a:ext cx="4815780" cy="960388"/>
          </a:xfrm>
          <a:prstGeom prst="rect">
            <a:avLst/>
          </a:prstGeom>
          <a:noFill/>
          <a:ln/>
        </p:spPr>
        <p:txBody>
          <a:bodyPr wrap="square" lIns="0" tIns="0" rIns="0" bIns="0" rtlCol="0" anchor="t"/>
          <a:lstStyle/>
          <a:p>
            <a:pPr marL="0" indent="0" algn="l">
              <a:lnSpc>
                <a:spcPts val="3750"/>
              </a:lnSpc>
              <a:buNone/>
            </a:pPr>
            <a:r>
              <a:rPr lang="en-US" sz="2900" dirty="0">
                <a:solidFill>
                  <a:srgbClr val="532418"/>
                </a:solidFill>
                <a:latin typeface="Marcellus" pitchFamily="34" charset="0"/>
                <a:ea typeface="Marcellus" pitchFamily="34" charset="-122"/>
                <a:cs typeface="Marcellus" pitchFamily="34" charset="-120"/>
              </a:rPr>
              <a:t>The Core of Sustainable Development: Education</a:t>
            </a:r>
            <a:endParaRPr lang="en-US" sz="2900" dirty="0"/>
          </a:p>
        </p:txBody>
      </p:sp>
      <p:sp>
        <p:nvSpPr>
          <p:cNvPr id="6" name="Text 3"/>
          <p:cNvSpPr/>
          <p:nvPr/>
        </p:nvSpPr>
        <p:spPr>
          <a:xfrm>
            <a:off x="3878610" y="1749772"/>
            <a:ext cx="4815780" cy="955030"/>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No infrastructure project is sustainable without the </a:t>
            </a:r>
            <a:r>
              <a:rPr lang="en-US" sz="1000" b="1" dirty="0">
                <a:solidFill>
                  <a:srgbClr val="67534F"/>
                </a:solidFill>
                <a:latin typeface="Montserrat" pitchFamily="34" charset="0"/>
                <a:ea typeface="Montserrat" pitchFamily="34" charset="-122"/>
                <a:cs typeface="Montserrat" pitchFamily="34" charset="-120"/>
              </a:rPr>
              <a:t>human capital to operate and innovate within it</a:t>
            </a:r>
            <a:r>
              <a:rPr lang="en-US" sz="1000" dirty="0">
                <a:solidFill>
                  <a:srgbClr val="67534F"/>
                </a:solidFill>
                <a:latin typeface="Montserrat" pitchFamily="34" charset="0"/>
                <a:ea typeface="Montserrat" pitchFamily="34" charset="-122"/>
                <a:cs typeface="Montserrat" pitchFamily="34" charset="-120"/>
              </a:rPr>
              <a:t>. KOICA recognized early that healing Rwanda's wounds and building its future required a deep investment in education and human resources development (HRD). This was especially critical in a post-genocide context where an entire generation had been deprived of stable schooling and social trust.</a:t>
            </a:r>
            <a:endParaRPr lang="en-US" sz="1000" dirty="0"/>
          </a:p>
        </p:txBody>
      </p:sp>
      <p:sp>
        <p:nvSpPr>
          <p:cNvPr id="7" name="Shape 4"/>
          <p:cNvSpPr/>
          <p:nvPr/>
        </p:nvSpPr>
        <p:spPr>
          <a:xfrm>
            <a:off x="3878610" y="2835771"/>
            <a:ext cx="4815780" cy="913656"/>
          </a:xfrm>
          <a:prstGeom prst="roundRect">
            <a:avLst>
              <a:gd name="adj" fmla="val 5906"/>
            </a:avLst>
          </a:prstGeom>
          <a:solidFill>
            <a:srgbClr val="FFFFF4">
              <a:alpha val="95000"/>
            </a:srgbClr>
          </a:solidFill>
          <a:ln w="14288">
            <a:solidFill>
              <a:srgbClr val="FFE0CC"/>
            </a:solidFill>
            <a:prstDash val="solid"/>
          </a:ln>
        </p:spPr>
        <p:txBody>
          <a:bodyPr/>
          <a:lstStyle/>
          <a:p>
            <a:endParaRPr lang="ko-KR" altLang="en-US"/>
          </a:p>
        </p:txBody>
      </p:sp>
      <p:sp>
        <p:nvSpPr>
          <p:cNvPr id="8" name="Text 5"/>
          <p:cNvSpPr/>
          <p:nvPr/>
        </p:nvSpPr>
        <p:spPr>
          <a:xfrm>
            <a:off x="4021336" y="2978497"/>
            <a:ext cx="2173039" cy="240060"/>
          </a:xfrm>
          <a:prstGeom prst="rect">
            <a:avLst/>
          </a:prstGeom>
          <a:noFill/>
          <a:ln/>
        </p:spPr>
        <p:txBody>
          <a:bodyPr wrap="none" lIns="0" tIns="0" rIns="0" bIns="0" rtlCol="0" anchor="t"/>
          <a:lstStyle/>
          <a:p>
            <a:pPr marL="0" indent="0" algn="l">
              <a:lnSpc>
                <a:spcPts val="1850"/>
              </a:lnSpc>
              <a:buNone/>
            </a:pPr>
            <a:r>
              <a:rPr lang="en-US" sz="1450" dirty="0">
                <a:solidFill>
                  <a:srgbClr val="67534F"/>
                </a:solidFill>
                <a:latin typeface="Marcellus" pitchFamily="34" charset="0"/>
                <a:ea typeface="Marcellus" pitchFamily="34" charset="-122"/>
                <a:cs typeface="Marcellus" pitchFamily="34" charset="-120"/>
              </a:rPr>
              <a:t>Healing Through Learning</a:t>
            </a:r>
            <a:endParaRPr lang="en-US" sz="1450" dirty="0"/>
          </a:p>
        </p:txBody>
      </p:sp>
      <p:sp>
        <p:nvSpPr>
          <p:cNvPr id="9" name="Text 6"/>
          <p:cNvSpPr/>
          <p:nvPr/>
        </p:nvSpPr>
        <p:spPr>
          <a:xfrm>
            <a:off x="4021336" y="3288357"/>
            <a:ext cx="4530328" cy="318343"/>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Education serves as a vehicle for reconciliation, shared national identity, and restoration of social cohesion across ethnic lines.</a:t>
            </a:r>
            <a:endParaRPr lang="en-US" sz="1000" dirty="0"/>
          </a:p>
        </p:txBody>
      </p:sp>
      <p:sp>
        <p:nvSpPr>
          <p:cNvPr id="10" name="Shape 7"/>
          <p:cNvSpPr/>
          <p:nvPr/>
        </p:nvSpPr>
        <p:spPr>
          <a:xfrm>
            <a:off x="3878610" y="3865811"/>
            <a:ext cx="4815780" cy="913656"/>
          </a:xfrm>
          <a:prstGeom prst="roundRect">
            <a:avLst>
              <a:gd name="adj" fmla="val 5906"/>
            </a:avLst>
          </a:prstGeom>
          <a:solidFill>
            <a:srgbClr val="FFFFF4">
              <a:alpha val="95000"/>
            </a:srgbClr>
          </a:solidFill>
          <a:ln w="14288">
            <a:solidFill>
              <a:srgbClr val="FFE0CC"/>
            </a:solidFill>
            <a:prstDash val="solid"/>
          </a:ln>
        </p:spPr>
        <p:txBody>
          <a:bodyPr/>
          <a:lstStyle/>
          <a:p>
            <a:endParaRPr lang="ko-KR" altLang="en-US"/>
          </a:p>
        </p:txBody>
      </p:sp>
      <p:sp>
        <p:nvSpPr>
          <p:cNvPr id="11" name="Text 8"/>
          <p:cNvSpPr/>
          <p:nvPr/>
        </p:nvSpPr>
        <p:spPr>
          <a:xfrm>
            <a:off x="4021336" y="4008537"/>
            <a:ext cx="2753916" cy="240060"/>
          </a:xfrm>
          <a:prstGeom prst="rect">
            <a:avLst/>
          </a:prstGeom>
          <a:noFill/>
          <a:ln/>
        </p:spPr>
        <p:txBody>
          <a:bodyPr wrap="none" lIns="0" tIns="0" rIns="0" bIns="0" rtlCol="0" anchor="t"/>
          <a:lstStyle/>
          <a:p>
            <a:pPr marL="0" indent="0" algn="l">
              <a:lnSpc>
                <a:spcPts val="1850"/>
              </a:lnSpc>
              <a:buNone/>
            </a:pPr>
            <a:r>
              <a:rPr lang="en-US" sz="1450" dirty="0">
                <a:solidFill>
                  <a:srgbClr val="67534F"/>
                </a:solidFill>
                <a:latin typeface="Marcellus" pitchFamily="34" charset="0"/>
                <a:ea typeface="Marcellus" pitchFamily="34" charset="-122"/>
                <a:cs typeface="Marcellus" pitchFamily="34" charset="-120"/>
              </a:rPr>
              <a:t>Knowledge Economy Foundation</a:t>
            </a:r>
            <a:endParaRPr lang="en-US" sz="1450" dirty="0"/>
          </a:p>
        </p:txBody>
      </p:sp>
      <p:sp>
        <p:nvSpPr>
          <p:cNvPr id="12" name="Text 9"/>
          <p:cNvSpPr/>
          <p:nvPr/>
        </p:nvSpPr>
        <p:spPr>
          <a:xfrm>
            <a:off x="4021336" y="4318397"/>
            <a:ext cx="4530328" cy="318343"/>
          </a:xfrm>
          <a:prstGeom prst="rect">
            <a:avLst/>
          </a:prstGeom>
          <a:noFill/>
          <a:ln/>
        </p:spPr>
        <p:txBody>
          <a:bodyPr wrap="square" lIns="0" tIns="0" rIns="0" bIns="0" rtlCol="0" anchor="t"/>
          <a:lstStyle/>
          <a:p>
            <a:pPr marL="0" indent="0" algn="l">
              <a:lnSpc>
                <a:spcPts val="1250"/>
              </a:lnSpc>
              <a:buNone/>
            </a:pPr>
            <a:r>
              <a:rPr lang="en-US" sz="1000" dirty="0">
                <a:solidFill>
                  <a:srgbClr val="67534F"/>
                </a:solidFill>
                <a:latin typeface="Montserrat" pitchFamily="34" charset="0"/>
                <a:ea typeface="Montserrat" pitchFamily="34" charset="-122"/>
                <a:cs typeface="Montserrat" pitchFamily="34" charset="-120"/>
              </a:rPr>
              <a:t>A skilled, digitally literate workforce is the prerequisite for sustaining Rwanda's ICT-led development and Vision 2050 ambitions.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1028477"/>
            <a:ext cx="5530007" cy="529828"/>
          </a:xfrm>
          <a:prstGeom prst="rect">
            <a:avLst/>
          </a:prstGeom>
          <a:noFill/>
          <a:ln/>
        </p:spPr>
        <p:txBody>
          <a:bodyPr wrap="none" lIns="0" tIns="0" rIns="0" bIns="0" rtlCol="0" anchor="t"/>
          <a:lstStyle/>
          <a:p>
            <a:pPr marL="0" indent="0" algn="l">
              <a:lnSpc>
                <a:spcPts val="4150"/>
              </a:lnSpc>
              <a:buNone/>
            </a:pPr>
            <a:r>
              <a:rPr lang="en-US" sz="3200" dirty="0">
                <a:solidFill>
                  <a:srgbClr val="532418"/>
                </a:solidFill>
                <a:latin typeface="Marcellus" pitchFamily="34" charset="0"/>
                <a:ea typeface="Marcellus" pitchFamily="34" charset="-122"/>
                <a:cs typeface="Marcellus" pitchFamily="34" charset="-120"/>
              </a:rPr>
              <a:t>KOICA's Tailored HRD Projects</a:t>
            </a:r>
            <a:endParaRPr lang="en-US" sz="3200" dirty="0"/>
          </a:p>
        </p:txBody>
      </p:sp>
      <p:pic>
        <p:nvPicPr>
          <p:cNvPr id="3"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6119" y="1841822"/>
            <a:ext cx="877193" cy="877193"/>
          </a:xfrm>
          <a:prstGeom prst="rect">
            <a:avLst/>
          </a:prstGeom>
        </p:spPr>
      </p:pic>
      <p:sp>
        <p:nvSpPr>
          <p:cNvPr id="4" name="Text 1"/>
          <p:cNvSpPr/>
          <p:nvPr/>
        </p:nvSpPr>
        <p:spPr>
          <a:xfrm>
            <a:off x="1550491" y="1841822"/>
            <a:ext cx="2932881" cy="529828"/>
          </a:xfrm>
          <a:prstGeom prst="rect">
            <a:avLst/>
          </a:prstGeom>
          <a:noFill/>
          <a:ln/>
        </p:spPr>
        <p:txBody>
          <a:bodyPr wrap="squar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TVET: Technical &amp; Vocational Education</a:t>
            </a:r>
            <a:endParaRPr lang="en-US" sz="1600" dirty="0"/>
          </a:p>
        </p:txBody>
      </p:sp>
      <p:sp>
        <p:nvSpPr>
          <p:cNvPr id="5" name="Text 2"/>
          <p:cNvSpPr/>
          <p:nvPr/>
        </p:nvSpPr>
        <p:spPr>
          <a:xfrm>
            <a:off x="1550491" y="2456706"/>
            <a:ext cx="2932881" cy="1658243"/>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KOICA supports polytechnic institutes and TVET programs that train a </a:t>
            </a:r>
            <a:r>
              <a:rPr lang="en-US" sz="1100" b="1" dirty="0">
                <a:solidFill>
                  <a:srgbClr val="67534F"/>
                </a:solidFill>
                <a:latin typeface="Montserrat" pitchFamily="34" charset="0"/>
                <a:ea typeface="Montserrat" pitchFamily="34" charset="-122"/>
                <a:cs typeface="Montserrat" pitchFamily="34" charset="-120"/>
              </a:rPr>
              <a:t>job-ready practical workforce</a:t>
            </a:r>
            <a:r>
              <a:rPr lang="en-US" sz="1100" dirty="0">
                <a:solidFill>
                  <a:srgbClr val="67534F"/>
                </a:solidFill>
                <a:latin typeface="Montserrat" pitchFamily="34" charset="0"/>
                <a:ea typeface="Montserrat" pitchFamily="34" charset="-122"/>
                <a:cs typeface="Montserrat" pitchFamily="34" charset="-120"/>
              </a:rPr>
              <a:t>. Curriculum is aligned with Rwanda's priority industries construction, manufacturing, and agri-processing ensuring graduates enter the labor market with immediately applicable skills rather than theoretical knowledge alone.</a:t>
            </a:r>
            <a:endParaRPr lang="en-US" sz="1100" dirty="0"/>
          </a:p>
        </p:txBody>
      </p:sp>
      <p:pic>
        <p:nvPicPr>
          <p:cNvPr id="6"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60553" y="1841822"/>
            <a:ext cx="877193" cy="877193"/>
          </a:xfrm>
          <a:prstGeom prst="rect">
            <a:avLst/>
          </a:prstGeom>
        </p:spPr>
      </p:pic>
      <p:sp>
        <p:nvSpPr>
          <p:cNvPr id="7" name="Text 3"/>
          <p:cNvSpPr/>
          <p:nvPr/>
        </p:nvSpPr>
        <p:spPr>
          <a:xfrm>
            <a:off x="5714926" y="1841822"/>
            <a:ext cx="2116187" cy="264914"/>
          </a:xfrm>
          <a:prstGeom prst="rect">
            <a:avLst/>
          </a:prstGeom>
          <a:noFill/>
          <a:ln/>
        </p:spPr>
        <p:txBody>
          <a:bodyPr wrap="none" lIns="0" tIns="0" rIns="0" bIns="0" rtlCol="0" anchor="t"/>
          <a:lstStyle/>
          <a:p>
            <a:pPr marL="0" indent="0" algn="l">
              <a:lnSpc>
                <a:spcPts val="2050"/>
              </a:lnSpc>
              <a:buNone/>
            </a:pPr>
            <a:r>
              <a:rPr lang="en-US" sz="1600" dirty="0">
                <a:solidFill>
                  <a:srgbClr val="67534F"/>
                </a:solidFill>
                <a:latin typeface="Marcellus" pitchFamily="34" charset="0"/>
                <a:ea typeface="Marcellus" pitchFamily="34" charset="-122"/>
                <a:cs typeface="Marcellus" pitchFamily="34" charset="-120"/>
              </a:rPr>
              <a:t>ICT Innovation Centers</a:t>
            </a:r>
            <a:endParaRPr lang="en-US" sz="1600" dirty="0"/>
          </a:p>
        </p:txBody>
      </p:sp>
      <p:sp>
        <p:nvSpPr>
          <p:cNvPr id="8" name="Text 4"/>
          <p:cNvSpPr/>
          <p:nvPr/>
        </p:nvSpPr>
        <p:spPr>
          <a:xfrm>
            <a:off x="5714926" y="2191792"/>
            <a:ext cx="2932956" cy="1842492"/>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At the university level, KOICA has established </a:t>
            </a:r>
            <a:r>
              <a:rPr lang="en-US" sz="1100" b="1" dirty="0">
                <a:solidFill>
                  <a:srgbClr val="67534F"/>
                </a:solidFill>
                <a:latin typeface="Montserrat" pitchFamily="34" charset="0"/>
                <a:ea typeface="Montserrat" pitchFamily="34" charset="-122"/>
                <a:cs typeface="Montserrat" pitchFamily="34" charset="-120"/>
              </a:rPr>
              <a:t>centers of digital excellence</a:t>
            </a:r>
            <a:r>
              <a:rPr lang="en-US" sz="1100" dirty="0">
                <a:solidFill>
                  <a:srgbClr val="67534F"/>
                </a:solidFill>
                <a:latin typeface="Montserrat" pitchFamily="34" charset="0"/>
                <a:ea typeface="Montserrat" pitchFamily="34" charset="-122"/>
                <a:cs typeface="Montserrat" pitchFamily="34" charset="-120"/>
              </a:rPr>
              <a:t> that cultivate Rwanda's future software engineers, data scientists, and technology entrepreneurs. These hubs connect Rwandan students directly with Korean academic institutions and tech companies, creating bridges for knowledge transfer and career pathways in the global digital economy.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483915"/>
            <a:ext cx="5030539" cy="529828"/>
          </a:xfrm>
          <a:prstGeom prst="rect">
            <a:avLst/>
          </a:prstGeom>
          <a:noFill/>
          <a:ln/>
        </p:spPr>
        <p:txBody>
          <a:bodyPr wrap="none" lIns="0" tIns="0" rIns="0" bIns="0" rtlCol="0" anchor="t"/>
          <a:lstStyle/>
          <a:p>
            <a:pPr marL="0" indent="0" algn="l">
              <a:lnSpc>
                <a:spcPts val="4150"/>
              </a:lnSpc>
              <a:buNone/>
            </a:pPr>
            <a:r>
              <a:rPr lang="en-US" sz="3200" dirty="0">
                <a:solidFill>
                  <a:srgbClr val="532418"/>
                </a:solidFill>
                <a:latin typeface="Marcellus" pitchFamily="34" charset="0"/>
                <a:ea typeface="Marcellus" pitchFamily="34" charset="-122"/>
                <a:cs typeface="Marcellus" pitchFamily="34" charset="-120"/>
              </a:rPr>
              <a:t>The Wave of Social Change</a:t>
            </a:r>
            <a:endParaRPr lang="en-US" sz="3200" dirty="0"/>
          </a:p>
        </p:txBody>
      </p:sp>
      <p:sp>
        <p:nvSpPr>
          <p:cNvPr id="3" name="Text 1"/>
          <p:cNvSpPr/>
          <p:nvPr/>
        </p:nvSpPr>
        <p:spPr>
          <a:xfrm>
            <a:off x="491356" y="1147019"/>
            <a:ext cx="2349103" cy="264914"/>
          </a:xfrm>
          <a:prstGeom prst="rect">
            <a:avLst/>
          </a:prstGeom>
          <a:noFill/>
          <a:ln/>
        </p:spPr>
        <p:txBody>
          <a:bodyPr wrap="none" lIns="0" tIns="0" rIns="0" bIns="0" rtlCol="0" anchor="t"/>
          <a:lstStyle/>
          <a:p>
            <a:pPr marL="0" indent="0" algn="l">
              <a:lnSpc>
                <a:spcPts val="2050"/>
              </a:lnSpc>
              <a:buNone/>
            </a:pPr>
            <a:r>
              <a:rPr lang="en-US" sz="1600" dirty="0">
                <a:solidFill>
                  <a:srgbClr val="532418"/>
                </a:solidFill>
                <a:latin typeface="Marcellus" pitchFamily="34" charset="0"/>
                <a:ea typeface="Marcellus" pitchFamily="34" charset="-122"/>
                <a:cs typeface="Marcellus" pitchFamily="34" charset="-120"/>
              </a:rPr>
              <a:t>Youth Employment Rising</a:t>
            </a:r>
            <a:endParaRPr lang="en-US" sz="1600" dirty="0"/>
          </a:p>
        </p:txBody>
      </p:sp>
      <p:sp>
        <p:nvSpPr>
          <p:cNvPr id="4" name="Text 2"/>
          <p:cNvSpPr/>
          <p:nvPr/>
        </p:nvSpPr>
        <p:spPr>
          <a:xfrm>
            <a:off x="491356" y="1545209"/>
            <a:ext cx="3902943" cy="921246"/>
          </a:xfrm>
          <a:prstGeom prst="rect">
            <a:avLst/>
          </a:prstGeom>
          <a:noFill/>
          <a:ln/>
        </p:spPr>
        <p:txBody>
          <a:bodyPr wrap="square" lIns="0" tIns="0" rIns="0" bIns="0" rtlCol="0" anchor="t"/>
          <a:lstStyle/>
          <a:p>
            <a:pPr marL="0" indent="0" algn="l">
              <a:lnSpc>
                <a:spcPts val="1450"/>
              </a:lnSpc>
              <a:buNone/>
            </a:pPr>
            <a:r>
              <a:rPr lang="en-US" sz="1100" dirty="0">
                <a:solidFill>
                  <a:srgbClr val="67534F"/>
                </a:solidFill>
                <a:latin typeface="Montserrat" pitchFamily="34" charset="0"/>
                <a:ea typeface="Montserrat" pitchFamily="34" charset="-122"/>
                <a:cs typeface="Montserrat" pitchFamily="34" charset="-120"/>
              </a:rPr>
              <a:t>TVET and ICT programs are producing measurable labor market gains. Youth employment in sectors aligned with KOICA's investment areas has risen sharply, reversing post-genocide trends of economic exclusion and urban youth unemployment.</a:t>
            </a:r>
            <a:endParaRPr lang="en-US" sz="1100" dirty="0"/>
          </a:p>
        </p:txBody>
      </p:sp>
      <p:sp>
        <p:nvSpPr>
          <p:cNvPr id="5" name="Text 3"/>
          <p:cNvSpPr/>
          <p:nvPr/>
        </p:nvSpPr>
        <p:spPr>
          <a:xfrm>
            <a:off x="491356" y="2661642"/>
            <a:ext cx="2749972" cy="264914"/>
          </a:xfrm>
          <a:prstGeom prst="rect">
            <a:avLst/>
          </a:prstGeom>
          <a:noFill/>
          <a:ln/>
        </p:spPr>
        <p:txBody>
          <a:bodyPr wrap="none" lIns="0" tIns="0" rIns="0" bIns="0" rtlCol="0" anchor="t"/>
          <a:lstStyle/>
          <a:p>
            <a:pPr marL="0" indent="0" algn="l">
              <a:lnSpc>
                <a:spcPts val="2050"/>
              </a:lnSpc>
              <a:buNone/>
            </a:pPr>
            <a:r>
              <a:rPr lang="en-US" sz="1600" dirty="0">
                <a:solidFill>
                  <a:srgbClr val="532418"/>
                </a:solidFill>
                <a:latin typeface="Marcellus" pitchFamily="34" charset="0"/>
                <a:ea typeface="Marcellus" pitchFamily="34" charset="-122"/>
                <a:cs typeface="Marcellus" pitchFamily="34" charset="-120"/>
              </a:rPr>
              <a:t>Social Participation Expanding</a:t>
            </a:r>
            <a:endParaRPr lang="en-US" sz="1600" dirty="0"/>
          </a:p>
        </p:txBody>
      </p:sp>
      <p:sp>
        <p:nvSpPr>
          <p:cNvPr id="6" name="Text 4"/>
          <p:cNvSpPr/>
          <p:nvPr/>
        </p:nvSpPr>
        <p:spPr>
          <a:xfrm>
            <a:off x="491355" y="3063525"/>
            <a:ext cx="3902943" cy="1922690"/>
          </a:xfrm>
          <a:prstGeom prst="rect">
            <a:avLst/>
          </a:prstGeom>
          <a:noFill/>
          <a:ln/>
        </p:spPr>
        <p:txBody>
          <a:bodyPr wrap="square" lIns="0" tIns="0" rIns="0" bIns="0" rtlCol="0" anchor="t"/>
          <a:lstStyle/>
          <a:p>
            <a:pPr>
              <a:lnSpc>
                <a:spcPts val="1450"/>
              </a:lnSpc>
            </a:pPr>
            <a:r>
              <a:rPr lang="en-US" sz="1100" dirty="0">
                <a:solidFill>
                  <a:srgbClr val="67534F"/>
                </a:solidFill>
                <a:latin typeface="Montserrat" pitchFamily="34" charset="0"/>
                <a:ea typeface="Montserrat" pitchFamily="34" charset="-122"/>
                <a:cs typeface="Montserrat" pitchFamily="34" charset="-120"/>
              </a:rPr>
              <a:t>Rwanda now ranks among Africa's </a:t>
            </a:r>
            <a:r>
              <a:rPr lang="en-US" sz="1100" b="1" dirty="0">
                <a:solidFill>
                  <a:srgbClr val="67534F"/>
                </a:solidFill>
                <a:latin typeface="Montserrat" pitchFamily="34" charset="0"/>
                <a:ea typeface="Montserrat" pitchFamily="34" charset="-122"/>
                <a:cs typeface="Montserrat" pitchFamily="34" charset="-120"/>
              </a:rPr>
              <a:t>highest nations for social and civic participation</a:t>
            </a:r>
            <a:r>
              <a:rPr lang="en-US" sz="1100" dirty="0">
                <a:solidFill>
                  <a:srgbClr val="67534F"/>
                </a:solidFill>
                <a:latin typeface="Montserrat" pitchFamily="34" charset="0"/>
                <a:ea typeface="Montserrat" pitchFamily="34" charset="-122"/>
                <a:cs typeface="Montserrat" pitchFamily="34" charset="-120"/>
              </a:rPr>
              <a:t>. Women hold over 60% of parliamentary seats a global record reflecting a broader transformation.</a:t>
            </a:r>
          </a:p>
          <a:p>
            <a:pPr>
              <a:lnSpc>
                <a:spcPts val="1450"/>
              </a:lnSpc>
            </a:pPr>
            <a:endParaRPr lang="en-US" altLang="ko-KR" sz="1100" dirty="0">
              <a:solidFill>
                <a:srgbClr val="67534F"/>
              </a:solidFill>
              <a:latin typeface="Montserrat" pitchFamily="34" charset="0"/>
              <a:ea typeface="Montserrat" pitchFamily="34" charset="-122"/>
              <a:cs typeface="Montserrat" pitchFamily="34" charset="-120"/>
            </a:endParaRPr>
          </a:p>
          <a:p>
            <a:pPr>
              <a:lnSpc>
                <a:spcPts val="1450"/>
              </a:lnSpc>
            </a:pPr>
            <a:r>
              <a:rPr lang="en-US" altLang="ko-KR" sz="1100" dirty="0">
                <a:solidFill>
                  <a:srgbClr val="67534F"/>
                </a:solidFill>
                <a:latin typeface="Montserrat" pitchFamily="34" charset="0"/>
                <a:ea typeface="Montserrat" pitchFamily="34" charset="-122"/>
                <a:cs typeface="Montserrat" pitchFamily="34" charset="-120"/>
              </a:rPr>
              <a:t>However, men are achievement-oriented animals, while women are relationship-oriented animals in anthropology. Therefore, </a:t>
            </a:r>
            <a:r>
              <a:rPr lang="en-US" altLang="ko-KR" sz="1100" b="1" dirty="0">
                <a:solidFill>
                  <a:srgbClr val="67534F"/>
                </a:solidFill>
                <a:latin typeface="Montserrat" pitchFamily="34" charset="0"/>
                <a:ea typeface="Montserrat" pitchFamily="34" charset="-122"/>
                <a:cs typeface="Montserrat" pitchFamily="34" charset="-120"/>
              </a:rPr>
              <a:t>it is questionable whether they are appropriate proportions for politics.</a:t>
            </a:r>
            <a:endParaRPr lang="en-US" sz="1100" b="1" dirty="0"/>
          </a:p>
        </p:txBody>
      </p:sp>
      <p:sp>
        <p:nvSpPr>
          <p:cNvPr id="7" name="Text 5"/>
          <p:cNvSpPr/>
          <p:nvPr/>
        </p:nvSpPr>
        <p:spPr>
          <a:xfrm>
            <a:off x="5829226" y="2307282"/>
            <a:ext cx="1743670" cy="354360"/>
          </a:xfrm>
          <a:prstGeom prst="rect">
            <a:avLst/>
          </a:prstGeom>
          <a:noFill/>
          <a:ln/>
        </p:spPr>
        <p:txBody>
          <a:bodyPr wrap="none" lIns="0" tIns="0" rIns="0" bIns="0" rtlCol="0" anchor="t"/>
          <a:lstStyle/>
          <a:p>
            <a:pPr marL="0" indent="0" algn="ctr">
              <a:lnSpc>
                <a:spcPts val="2750"/>
              </a:lnSpc>
              <a:buNone/>
            </a:pPr>
            <a:r>
              <a:rPr lang="en-US" sz="2750" dirty="0">
                <a:solidFill>
                  <a:srgbClr val="67534F"/>
                </a:solidFill>
                <a:latin typeface="Marcellus" pitchFamily="34" charset="0"/>
                <a:ea typeface="Marcellus" pitchFamily="34" charset="-122"/>
                <a:cs typeface="Marcellus" pitchFamily="34" charset="-120"/>
              </a:rPr>
              <a:t>80%</a:t>
            </a:r>
            <a:endParaRPr lang="en-US" sz="2750" dirty="0"/>
          </a:p>
        </p:txBody>
      </p:sp>
      <p:pic>
        <p:nvPicPr>
          <p:cNvPr id="8"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37907" y="1421234"/>
            <a:ext cx="2126456" cy="2126456"/>
          </a:xfrm>
          <a:prstGeom prst="rect">
            <a:avLst/>
          </a:prstGeom>
        </p:spPr>
      </p:pic>
      <p:sp>
        <p:nvSpPr>
          <p:cNvPr id="9" name="Text 6"/>
          <p:cNvSpPr/>
          <p:nvPr/>
        </p:nvSpPr>
        <p:spPr>
          <a:xfrm>
            <a:off x="5682183" y="3724870"/>
            <a:ext cx="2037904" cy="264914"/>
          </a:xfrm>
          <a:prstGeom prst="rect">
            <a:avLst/>
          </a:prstGeom>
          <a:noFill/>
          <a:ln/>
        </p:spPr>
        <p:txBody>
          <a:bodyPr wrap="none" lIns="0" tIns="0" rIns="0" bIns="0" rtlCol="0" anchor="t"/>
          <a:lstStyle/>
          <a:p>
            <a:pPr marL="0" indent="0" algn="ctr">
              <a:lnSpc>
                <a:spcPts val="2050"/>
              </a:lnSpc>
              <a:buNone/>
            </a:pPr>
            <a:r>
              <a:rPr lang="en-US" sz="1600" dirty="0">
                <a:solidFill>
                  <a:srgbClr val="67534F"/>
                </a:solidFill>
                <a:latin typeface="Marcellus" pitchFamily="34" charset="0"/>
                <a:ea typeface="Marcellus" pitchFamily="34" charset="-122"/>
                <a:cs typeface="Marcellus" pitchFamily="34" charset="-120"/>
              </a:rPr>
              <a:t>Aid Utilization Rate</a:t>
            </a:r>
            <a:endParaRPr lang="en-US" sz="1600" dirty="0"/>
          </a:p>
        </p:txBody>
      </p:sp>
      <p:sp>
        <p:nvSpPr>
          <p:cNvPr id="10" name="Text 7"/>
          <p:cNvSpPr/>
          <p:nvPr/>
        </p:nvSpPr>
        <p:spPr>
          <a:xfrm>
            <a:off x="4749701" y="4131543"/>
            <a:ext cx="3902943" cy="368498"/>
          </a:xfrm>
          <a:prstGeom prst="rect">
            <a:avLst/>
          </a:prstGeom>
          <a:noFill/>
          <a:ln/>
        </p:spPr>
        <p:txBody>
          <a:bodyPr wrap="square" lIns="0" tIns="0" rIns="0" bIns="0" rtlCol="0" anchor="t"/>
          <a:lstStyle/>
          <a:p>
            <a:pPr marL="0" indent="0" algn="ctr">
              <a:lnSpc>
                <a:spcPts val="1450"/>
              </a:lnSpc>
              <a:buNone/>
            </a:pPr>
            <a:r>
              <a:rPr lang="en-US" sz="1100" dirty="0">
                <a:solidFill>
                  <a:srgbClr val="67534F"/>
                </a:solidFill>
                <a:latin typeface="Montserrat" pitchFamily="34" charset="0"/>
                <a:ea typeface="Montserrat" pitchFamily="34" charset="-122"/>
                <a:cs typeface="Montserrat" pitchFamily="34" charset="-120"/>
              </a:rPr>
              <a:t>Among the highest efficiency rates for ODA absorption in Sub-Saharan Africa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3600450" cy="5143500"/>
          </a:xfrm>
          <a:prstGeom prst="rect">
            <a:avLst/>
          </a:prstGeom>
        </p:spPr>
      </p:pic>
      <p:sp>
        <p:nvSpPr>
          <p:cNvPr id="3" name="Text 0"/>
          <p:cNvSpPr/>
          <p:nvPr/>
        </p:nvSpPr>
        <p:spPr>
          <a:xfrm>
            <a:off x="3847654" y="336872"/>
            <a:ext cx="4877693" cy="1341016"/>
          </a:xfrm>
          <a:prstGeom prst="rect">
            <a:avLst/>
          </a:prstGeom>
          <a:noFill/>
          <a:ln/>
        </p:spPr>
        <p:txBody>
          <a:bodyPr wrap="square" lIns="0" tIns="0" rIns="0" bIns="0" rtlCol="0" anchor="t"/>
          <a:lstStyle/>
          <a:p>
            <a:pPr marL="0" indent="0" algn="l">
              <a:lnSpc>
                <a:spcPts val="3500"/>
              </a:lnSpc>
              <a:buNone/>
            </a:pPr>
            <a:r>
              <a:rPr lang="en-US" sz="2700" dirty="0">
                <a:solidFill>
                  <a:srgbClr val="532418"/>
                </a:solidFill>
                <a:latin typeface="Marcellus" pitchFamily="34" charset="0"/>
                <a:ea typeface="Marcellus" pitchFamily="34" charset="-122"/>
                <a:cs typeface="Marcellus" pitchFamily="34" charset="-120"/>
              </a:rPr>
              <a:t>Conclusion: Will + Philosophical Empathy = A Miracle</a:t>
            </a:r>
            <a:endParaRPr lang="en-US" sz="2700" dirty="0"/>
          </a:p>
        </p:txBody>
      </p:sp>
      <p:sp>
        <p:nvSpPr>
          <p:cNvPr id="4" name="Text 1"/>
          <p:cNvSpPr/>
          <p:nvPr/>
        </p:nvSpPr>
        <p:spPr>
          <a:xfrm>
            <a:off x="4027066" y="1942728"/>
            <a:ext cx="4698281" cy="572988"/>
          </a:xfrm>
          <a:prstGeom prst="rect">
            <a:avLst/>
          </a:prstGeom>
          <a:noFill/>
          <a:ln/>
        </p:spPr>
        <p:txBody>
          <a:bodyPr wrap="square" lIns="0" tIns="0" rIns="0" bIns="0" rtlCol="0" anchor="t"/>
          <a:lstStyle/>
          <a:p>
            <a:pPr marL="0" indent="0" algn="l">
              <a:lnSpc>
                <a:spcPts val="1100"/>
              </a:lnSpc>
              <a:buNone/>
            </a:pPr>
            <a:r>
              <a:rPr lang="en-US" sz="900" dirty="0">
                <a:solidFill>
                  <a:srgbClr val="67534F"/>
                </a:solidFill>
                <a:latin typeface="Montserrat" pitchFamily="34" charset="0"/>
                <a:ea typeface="Montserrat" pitchFamily="34" charset="-122"/>
                <a:cs typeface="Montserrat" pitchFamily="34" charset="-120"/>
              </a:rPr>
              <a:t>Rwanda's transformation from a collapsed state in 1994 to an icon of innovation today proves that successful ODA is not determined merely by the size of the capital. It is the result of the recipient's will to stand on its own, combined with a partner's philosophical empathy.</a:t>
            </a:r>
            <a:endParaRPr lang="en-US" sz="900" dirty="0"/>
          </a:p>
        </p:txBody>
      </p:sp>
      <p:sp>
        <p:nvSpPr>
          <p:cNvPr id="5" name="Shape 2"/>
          <p:cNvSpPr/>
          <p:nvPr/>
        </p:nvSpPr>
        <p:spPr>
          <a:xfrm>
            <a:off x="3847654" y="1829246"/>
            <a:ext cx="14288" cy="799951"/>
          </a:xfrm>
          <a:prstGeom prst="rect">
            <a:avLst/>
          </a:prstGeom>
          <a:solidFill>
            <a:srgbClr val="FF954F"/>
          </a:solidFill>
          <a:ln/>
        </p:spPr>
        <p:txBody>
          <a:bodyPr/>
          <a:lstStyle/>
          <a:p>
            <a:endParaRPr lang="ko-KR" altLang="en-US"/>
          </a:p>
        </p:txBody>
      </p:sp>
      <p:sp>
        <p:nvSpPr>
          <p:cNvPr id="6" name="Shape 3"/>
          <p:cNvSpPr/>
          <p:nvPr/>
        </p:nvSpPr>
        <p:spPr>
          <a:xfrm>
            <a:off x="3847654" y="2742679"/>
            <a:ext cx="2388394" cy="1124769"/>
          </a:xfrm>
          <a:prstGeom prst="roundRect">
            <a:avLst>
              <a:gd name="adj" fmla="val 4467"/>
            </a:avLst>
          </a:prstGeom>
          <a:solidFill>
            <a:srgbClr val="FFFFF4"/>
          </a:solidFill>
          <a:ln w="14288">
            <a:solidFill>
              <a:srgbClr val="FFE0CC"/>
            </a:solidFill>
            <a:prstDash val="solid"/>
          </a:ln>
        </p:spPr>
        <p:txBody>
          <a:bodyPr/>
          <a:lstStyle/>
          <a:p>
            <a:endParaRPr lang="ko-KR" altLang="en-US"/>
          </a:p>
        </p:txBody>
      </p:sp>
      <p:sp>
        <p:nvSpPr>
          <p:cNvPr id="7" name="Text 4"/>
          <p:cNvSpPr/>
          <p:nvPr/>
        </p:nvSpPr>
        <p:spPr>
          <a:xfrm>
            <a:off x="3981524" y="2876550"/>
            <a:ext cx="1719411" cy="223540"/>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arcellus" pitchFamily="34" charset="0"/>
                <a:ea typeface="Marcellus" pitchFamily="34" charset="-122"/>
                <a:cs typeface="Marcellus" pitchFamily="34" charset="-120"/>
              </a:rPr>
              <a:t>Recipient's Will</a:t>
            </a:r>
            <a:endParaRPr lang="en-US" sz="1350" dirty="0"/>
          </a:p>
        </p:txBody>
      </p:sp>
      <p:sp>
        <p:nvSpPr>
          <p:cNvPr id="8" name="Text 5"/>
          <p:cNvSpPr/>
          <p:nvPr/>
        </p:nvSpPr>
        <p:spPr>
          <a:xfrm>
            <a:off x="3981524" y="3160588"/>
            <a:ext cx="2120652" cy="572988"/>
          </a:xfrm>
          <a:prstGeom prst="rect">
            <a:avLst/>
          </a:prstGeom>
          <a:noFill/>
          <a:ln/>
        </p:spPr>
        <p:txBody>
          <a:bodyPr wrap="square" lIns="0" tIns="0" rIns="0" bIns="0" rtlCol="0" anchor="t"/>
          <a:lstStyle/>
          <a:p>
            <a:pPr marL="0" indent="0" algn="l">
              <a:lnSpc>
                <a:spcPts val="1100"/>
              </a:lnSpc>
              <a:buNone/>
            </a:pPr>
            <a:r>
              <a:rPr lang="en-US" sz="900" dirty="0">
                <a:solidFill>
                  <a:srgbClr val="67534F"/>
                </a:solidFill>
                <a:latin typeface="Montserrat" pitchFamily="34" charset="0"/>
                <a:ea typeface="Montserrat" pitchFamily="34" charset="-122"/>
                <a:cs typeface="Montserrat" pitchFamily="34" charset="-120"/>
              </a:rPr>
              <a:t>Rwanda's governance discipline, transparency, and proactive ownership of its own development agenda</a:t>
            </a:r>
            <a:endParaRPr lang="en-US" sz="900" dirty="0"/>
          </a:p>
        </p:txBody>
      </p:sp>
      <p:sp>
        <p:nvSpPr>
          <p:cNvPr id="9" name="Shape 6"/>
          <p:cNvSpPr/>
          <p:nvPr/>
        </p:nvSpPr>
        <p:spPr>
          <a:xfrm>
            <a:off x="6336953" y="2742679"/>
            <a:ext cx="2388394" cy="1124769"/>
          </a:xfrm>
          <a:prstGeom prst="roundRect">
            <a:avLst>
              <a:gd name="adj" fmla="val 4467"/>
            </a:avLst>
          </a:prstGeom>
          <a:solidFill>
            <a:srgbClr val="FFFFF4"/>
          </a:solidFill>
          <a:ln w="14288">
            <a:solidFill>
              <a:srgbClr val="FFE0CC"/>
            </a:solidFill>
            <a:prstDash val="solid"/>
          </a:ln>
        </p:spPr>
        <p:txBody>
          <a:bodyPr/>
          <a:lstStyle/>
          <a:p>
            <a:endParaRPr lang="ko-KR" altLang="en-US"/>
          </a:p>
        </p:txBody>
      </p:sp>
      <p:sp>
        <p:nvSpPr>
          <p:cNvPr id="10" name="Text 7"/>
          <p:cNvSpPr/>
          <p:nvPr/>
        </p:nvSpPr>
        <p:spPr>
          <a:xfrm>
            <a:off x="6470824" y="2876550"/>
            <a:ext cx="1719411" cy="223540"/>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arcellus" pitchFamily="34" charset="0"/>
                <a:ea typeface="Marcellus" pitchFamily="34" charset="-122"/>
                <a:cs typeface="Marcellus" pitchFamily="34" charset="-120"/>
              </a:rPr>
              <a:t>Donor's Empathy</a:t>
            </a:r>
            <a:endParaRPr lang="en-US" sz="1350" dirty="0"/>
          </a:p>
        </p:txBody>
      </p:sp>
      <p:sp>
        <p:nvSpPr>
          <p:cNvPr id="11" name="Text 8"/>
          <p:cNvSpPr/>
          <p:nvPr/>
        </p:nvSpPr>
        <p:spPr>
          <a:xfrm>
            <a:off x="6470824" y="3160588"/>
            <a:ext cx="2120652" cy="572988"/>
          </a:xfrm>
          <a:prstGeom prst="rect">
            <a:avLst/>
          </a:prstGeom>
          <a:noFill/>
          <a:ln/>
        </p:spPr>
        <p:txBody>
          <a:bodyPr wrap="square" lIns="0" tIns="0" rIns="0" bIns="0" rtlCol="0" anchor="t"/>
          <a:lstStyle/>
          <a:p>
            <a:pPr marL="0" indent="0" algn="l">
              <a:lnSpc>
                <a:spcPts val="1100"/>
              </a:lnSpc>
              <a:buNone/>
            </a:pPr>
            <a:r>
              <a:rPr lang="en-US" sz="900" dirty="0">
                <a:solidFill>
                  <a:srgbClr val="67534F"/>
                </a:solidFill>
                <a:latin typeface="Montserrat" pitchFamily="34" charset="0"/>
                <a:ea typeface="Montserrat" pitchFamily="34" charset="-122"/>
                <a:cs typeface="Montserrat" pitchFamily="34" charset="-120"/>
              </a:rPr>
              <a:t>Korea's unique credibility as a former aid recipient offering a model grounded in shared hardship, not paternalism</a:t>
            </a:r>
            <a:endParaRPr lang="en-US" sz="900" dirty="0"/>
          </a:p>
        </p:txBody>
      </p:sp>
      <p:sp>
        <p:nvSpPr>
          <p:cNvPr id="12" name="Shape 9"/>
          <p:cNvSpPr/>
          <p:nvPr/>
        </p:nvSpPr>
        <p:spPr>
          <a:xfrm>
            <a:off x="3847654" y="3968353"/>
            <a:ext cx="4877693" cy="838274"/>
          </a:xfrm>
          <a:prstGeom prst="roundRect">
            <a:avLst>
              <a:gd name="adj" fmla="val 5993"/>
            </a:avLst>
          </a:prstGeom>
          <a:solidFill>
            <a:srgbClr val="FFFFF4"/>
          </a:solidFill>
          <a:ln w="14288">
            <a:solidFill>
              <a:srgbClr val="FFE0CC"/>
            </a:solidFill>
            <a:prstDash val="solid"/>
          </a:ln>
        </p:spPr>
        <p:txBody>
          <a:bodyPr/>
          <a:lstStyle/>
          <a:p>
            <a:endParaRPr lang="ko-KR" altLang="en-US"/>
          </a:p>
        </p:txBody>
      </p:sp>
      <p:sp>
        <p:nvSpPr>
          <p:cNvPr id="13" name="Text 10"/>
          <p:cNvSpPr/>
          <p:nvPr/>
        </p:nvSpPr>
        <p:spPr>
          <a:xfrm>
            <a:off x="3981524" y="4102224"/>
            <a:ext cx="1719411" cy="223540"/>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arcellus" pitchFamily="34" charset="0"/>
                <a:ea typeface="Marcellus" pitchFamily="34" charset="-122"/>
                <a:cs typeface="Marcellus" pitchFamily="34" charset="-120"/>
              </a:rPr>
              <a:t>The Result</a:t>
            </a:r>
            <a:endParaRPr lang="en-US" sz="1350" dirty="0"/>
          </a:p>
        </p:txBody>
      </p:sp>
      <p:sp>
        <p:nvSpPr>
          <p:cNvPr id="14" name="Text 11"/>
          <p:cNvSpPr/>
          <p:nvPr/>
        </p:nvSpPr>
        <p:spPr>
          <a:xfrm>
            <a:off x="3981524" y="4386263"/>
            <a:ext cx="4609951" cy="286494"/>
          </a:xfrm>
          <a:prstGeom prst="rect">
            <a:avLst/>
          </a:prstGeom>
          <a:noFill/>
          <a:ln/>
        </p:spPr>
        <p:txBody>
          <a:bodyPr wrap="square" lIns="0" tIns="0" rIns="0" bIns="0" rtlCol="0" anchor="t"/>
          <a:lstStyle/>
          <a:p>
            <a:pPr marL="0" indent="0" algn="l">
              <a:lnSpc>
                <a:spcPts val="1100"/>
              </a:lnSpc>
              <a:buNone/>
            </a:pPr>
            <a:r>
              <a:rPr lang="en-US" sz="900" dirty="0">
                <a:solidFill>
                  <a:srgbClr val="67534F"/>
                </a:solidFill>
                <a:latin typeface="Montserrat" pitchFamily="34" charset="0"/>
                <a:ea typeface="Montserrat" pitchFamily="34" charset="-122"/>
                <a:cs typeface="Montserrat" pitchFamily="34" charset="-120"/>
              </a:rPr>
              <a:t>A replicable framework for post-conflict reconstruction that centers dignity, self-reliance, and sustainable institutions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10840" y="322808"/>
            <a:ext cx="3375273" cy="438745"/>
          </a:xfrm>
          <a:prstGeom prst="rect">
            <a:avLst/>
          </a:prstGeom>
          <a:noFill/>
          <a:ln/>
        </p:spPr>
        <p:txBody>
          <a:bodyPr wrap="none" lIns="0" tIns="0" rIns="0" bIns="0" rtlCol="0" anchor="t"/>
          <a:lstStyle/>
          <a:p>
            <a:pPr marL="0" indent="0" algn="l">
              <a:lnSpc>
                <a:spcPts val="3450"/>
              </a:lnSpc>
              <a:buNone/>
            </a:pPr>
            <a:r>
              <a:rPr lang="en-US" sz="2650" dirty="0">
                <a:solidFill>
                  <a:srgbClr val="532418"/>
                </a:solidFill>
                <a:latin typeface="Marcellus" pitchFamily="34" charset="0"/>
                <a:ea typeface="Marcellus" pitchFamily="34" charset="-122"/>
                <a:cs typeface="Marcellus" pitchFamily="34" charset="-120"/>
              </a:rPr>
              <a:t>References</a:t>
            </a:r>
            <a:endParaRPr lang="en-US" sz="2650" dirty="0"/>
          </a:p>
        </p:txBody>
      </p:sp>
      <p:sp>
        <p:nvSpPr>
          <p:cNvPr id="3" name="Text 1"/>
          <p:cNvSpPr/>
          <p:nvPr/>
        </p:nvSpPr>
        <p:spPr>
          <a:xfrm>
            <a:off x="410840" y="955997"/>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Asian Development Bank. (n.d.). Saemaul Undong movement in the Republic of Korea. </a:t>
            </a:r>
            <a:r>
              <a:rPr lang="en-US" sz="700" u="sng" dirty="0">
                <a:solidFill>
                  <a:srgbClr val="FF954F"/>
                </a:solidFill>
                <a:latin typeface="Montserrat" pitchFamily="34" charset="0"/>
                <a:ea typeface="Montserrat" pitchFamily="34" charset="-122"/>
                <a:cs typeface="Montserrat" pitchFamily="34" charset="-120"/>
                <a:hlinkClick r:id="rId3">
                  <a:extLst>
                    <a:ext uri="{A12FA001-AC4F-418D-AE19-62706E023703}">
                      <ahyp:hlinkClr xmlns:ahyp="http://schemas.microsoft.com/office/drawing/2018/hyperlinkcolor" val="tx"/>
                    </a:ext>
                  </a:extLst>
                </a:hlinkClick>
              </a:rPr>
              <a:t>https://www.adb.org/publications/saemaul-undong-movement-republic-korea</a:t>
            </a:r>
            <a:endParaRPr lang="en-US" sz="700" dirty="0"/>
          </a:p>
        </p:txBody>
      </p:sp>
      <p:sp>
        <p:nvSpPr>
          <p:cNvPr id="4" name="Text 2"/>
          <p:cNvSpPr/>
          <p:nvPr/>
        </p:nvSpPr>
        <p:spPr>
          <a:xfrm>
            <a:off x="410840" y="1176858"/>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Government of Rwanda. (2012). Rwanda Vision 2020 and Vision 2050 policy documents.</a:t>
            </a:r>
            <a:endParaRPr lang="en-US" sz="700" dirty="0"/>
          </a:p>
        </p:txBody>
      </p:sp>
      <p:sp>
        <p:nvSpPr>
          <p:cNvPr id="5" name="Text 3"/>
          <p:cNvSpPr/>
          <p:nvPr/>
        </p:nvSpPr>
        <p:spPr>
          <a:xfrm>
            <a:off x="410840" y="1397719"/>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Kinzer, S. (2008). A thousand hills: Rwanda's rebirth and the man who dreamed it. John Wiley &amp; Sons.</a:t>
            </a:r>
            <a:endParaRPr lang="en-US" sz="700" dirty="0"/>
          </a:p>
        </p:txBody>
      </p:sp>
      <p:sp>
        <p:nvSpPr>
          <p:cNvPr id="6" name="Text 4"/>
          <p:cNvSpPr/>
          <p:nvPr/>
        </p:nvSpPr>
        <p:spPr>
          <a:xfrm>
            <a:off x="410840" y="1618580"/>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Korea International Cooperation Agency. (n.d.). KOICA home. </a:t>
            </a:r>
            <a:r>
              <a:rPr lang="en-US" sz="700" u="sng" dirty="0">
                <a:solidFill>
                  <a:srgbClr val="FF954F"/>
                </a:solidFill>
                <a:latin typeface="Montserrat" pitchFamily="34" charset="0"/>
                <a:ea typeface="Montserrat" pitchFamily="34" charset="-122"/>
                <a:cs typeface="Montserrat" pitchFamily="34" charset="-120"/>
                <a:hlinkClick r:id="rId4">
                  <a:extLst>
                    <a:ext uri="{A12FA001-AC4F-418D-AE19-62706E023703}">
                      <ahyp:hlinkClr xmlns:ahyp="http://schemas.microsoft.com/office/drawing/2018/hyperlinkcolor" val="tx"/>
                    </a:ext>
                  </a:extLst>
                </a:hlinkClick>
              </a:rPr>
              <a:t>https://www.koica.go.kr</a:t>
            </a:r>
            <a:endParaRPr lang="en-US" sz="700" dirty="0"/>
          </a:p>
        </p:txBody>
      </p:sp>
      <p:sp>
        <p:nvSpPr>
          <p:cNvPr id="7" name="Text 5"/>
          <p:cNvSpPr/>
          <p:nvPr/>
        </p:nvSpPr>
        <p:spPr>
          <a:xfrm>
            <a:off x="410840" y="1839441"/>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Korea International Cooperation Agency. (2021). Country partnership strategy (CPS) for the Republic of Rwanda (2021-2025).</a:t>
            </a:r>
            <a:endParaRPr lang="en-US" sz="700" dirty="0"/>
          </a:p>
        </p:txBody>
      </p:sp>
      <p:sp>
        <p:nvSpPr>
          <p:cNvPr id="8" name="Text 6"/>
          <p:cNvSpPr/>
          <p:nvPr/>
        </p:nvSpPr>
        <p:spPr>
          <a:xfrm>
            <a:off x="410840" y="2060302"/>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Laterite. (2020). Youth employment in Rwanda. </a:t>
            </a:r>
            <a:r>
              <a:rPr lang="en-US" sz="700" u="sng" dirty="0">
                <a:solidFill>
                  <a:srgbClr val="FF954F"/>
                </a:solidFill>
                <a:latin typeface="Montserrat" pitchFamily="34" charset="0"/>
                <a:ea typeface="Montserrat" pitchFamily="34" charset="-122"/>
                <a:cs typeface="Montserrat" pitchFamily="34" charset="-120"/>
                <a:hlinkClick r:id="rId5">
                  <a:extLst>
                    <a:ext uri="{A12FA001-AC4F-418D-AE19-62706E023703}">
                      <ahyp:hlinkClr xmlns:ahyp="http://schemas.microsoft.com/office/drawing/2018/hyperlinkcolor" val="tx"/>
                    </a:ext>
                  </a:extLst>
                </a:hlinkClick>
              </a:rPr>
              <a:t>https://www.laterite.com/wp-content/uploads/2020/06/Youth_Employment_RWANDA__PORT_WEB-FINAL.pdf</a:t>
            </a:r>
            <a:endParaRPr lang="en-US" sz="700" dirty="0"/>
          </a:p>
        </p:txBody>
      </p:sp>
      <p:sp>
        <p:nvSpPr>
          <p:cNvPr id="9" name="Text 7"/>
          <p:cNvSpPr/>
          <p:nvPr/>
        </p:nvSpPr>
        <p:spPr>
          <a:xfrm>
            <a:off x="410840" y="2281163"/>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Moyo, D. (2009). Dead aid: Why aid is not working and how there is a better way for Africa. Farrar, Straus and Giroux.</a:t>
            </a:r>
            <a:endParaRPr lang="en-US" sz="700" dirty="0"/>
          </a:p>
        </p:txBody>
      </p:sp>
      <p:sp>
        <p:nvSpPr>
          <p:cNvPr id="10" name="Text 8"/>
          <p:cNvSpPr/>
          <p:nvPr/>
        </p:nvSpPr>
        <p:spPr>
          <a:xfrm>
            <a:off x="410840" y="2502024"/>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Organisation for Economic Co-operation and Development. (n.d.). Development co-operation report. </a:t>
            </a:r>
            <a:r>
              <a:rPr lang="en-US" sz="700" u="sng" dirty="0">
                <a:solidFill>
                  <a:srgbClr val="FF954F"/>
                </a:solidFill>
                <a:latin typeface="Montserrat" pitchFamily="34" charset="0"/>
                <a:ea typeface="Montserrat" pitchFamily="34" charset="-122"/>
                <a:cs typeface="Montserrat" pitchFamily="34" charset="-120"/>
                <a:hlinkClick r:id="rId6">
                  <a:extLst>
                    <a:ext uri="{A12FA001-AC4F-418D-AE19-62706E023703}">
                      <ahyp:hlinkClr xmlns:ahyp="http://schemas.microsoft.com/office/drawing/2018/hyperlinkcolor" val="tx"/>
                    </a:ext>
                  </a:extLst>
                </a:hlinkClick>
              </a:rPr>
              <a:t>https://www.oecd.org/dac/development-cooperation-report/</a:t>
            </a:r>
            <a:endParaRPr lang="en-US" sz="700" dirty="0"/>
          </a:p>
        </p:txBody>
      </p:sp>
      <p:sp>
        <p:nvSpPr>
          <p:cNvPr id="11" name="Text 9"/>
          <p:cNvSpPr/>
          <p:nvPr/>
        </p:nvSpPr>
        <p:spPr>
          <a:xfrm>
            <a:off x="410840" y="2722885"/>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Organisation for Economic Co-operation and Development. (n.d.). Effective development co-operation. </a:t>
            </a:r>
            <a:r>
              <a:rPr lang="en-US" sz="700" u="sng" dirty="0">
                <a:solidFill>
                  <a:srgbClr val="FF954F"/>
                </a:solidFill>
                <a:latin typeface="Montserrat" pitchFamily="34" charset="0"/>
                <a:ea typeface="Montserrat" pitchFamily="34" charset="-122"/>
                <a:cs typeface="Montserrat" pitchFamily="34" charset="-120"/>
                <a:hlinkClick r:id="rId7">
                  <a:extLst>
                    <a:ext uri="{A12FA001-AC4F-418D-AE19-62706E023703}">
                      <ahyp:hlinkClr xmlns:ahyp="http://schemas.microsoft.com/office/drawing/2018/hyperlinkcolor" val="tx"/>
                    </a:ext>
                  </a:extLst>
                </a:hlinkClick>
              </a:rPr>
              <a:t>https://www.oecd.org/dac/effectiveness/</a:t>
            </a:r>
            <a:endParaRPr lang="en-US" sz="700" dirty="0"/>
          </a:p>
        </p:txBody>
      </p:sp>
      <p:sp>
        <p:nvSpPr>
          <p:cNvPr id="12" name="Text 10"/>
          <p:cNvSpPr/>
          <p:nvPr/>
        </p:nvSpPr>
        <p:spPr>
          <a:xfrm>
            <a:off x="410840" y="2943746"/>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Reyntjens, F. (2013). Political governance in post-genocide Rwanda. Cambridge University Press.</a:t>
            </a:r>
            <a:endParaRPr lang="en-US" sz="700" dirty="0"/>
          </a:p>
        </p:txBody>
      </p:sp>
      <p:sp>
        <p:nvSpPr>
          <p:cNvPr id="13" name="Text 11"/>
          <p:cNvSpPr/>
          <p:nvPr/>
        </p:nvSpPr>
        <p:spPr>
          <a:xfrm>
            <a:off x="410840" y="3164607"/>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Rwanda TVET Board. (n.d.). RTB home. </a:t>
            </a:r>
            <a:r>
              <a:rPr lang="en-US" sz="700" u="sng" dirty="0">
                <a:solidFill>
                  <a:srgbClr val="FF954F"/>
                </a:solidFill>
                <a:latin typeface="Montserrat" pitchFamily="34" charset="0"/>
                <a:ea typeface="Montserrat" pitchFamily="34" charset="-122"/>
                <a:cs typeface="Montserrat" pitchFamily="34" charset="-120"/>
                <a:hlinkClick r:id="rId8">
                  <a:extLst>
                    <a:ext uri="{A12FA001-AC4F-418D-AE19-62706E023703}">
                      <ahyp:hlinkClr xmlns:ahyp="http://schemas.microsoft.com/office/drawing/2018/hyperlinkcolor" val="tx"/>
                    </a:ext>
                  </a:extLst>
                </a:hlinkClick>
              </a:rPr>
              <a:t>https://www.rtb.gov.rw/</a:t>
            </a:r>
            <a:endParaRPr lang="en-US" sz="700" dirty="0"/>
          </a:p>
        </p:txBody>
      </p:sp>
      <p:sp>
        <p:nvSpPr>
          <p:cNvPr id="14" name="Text 12"/>
          <p:cNvSpPr/>
          <p:nvPr/>
        </p:nvSpPr>
        <p:spPr>
          <a:xfrm>
            <a:off x="410840" y="3385468"/>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ScienceDirect. (n.d.). </a:t>
            </a:r>
            <a:r>
              <a:rPr lang="en-US" sz="700" u="sng" dirty="0">
                <a:solidFill>
                  <a:srgbClr val="FF954F"/>
                </a:solidFill>
                <a:latin typeface="Montserrat" pitchFamily="34" charset="0"/>
                <a:ea typeface="Montserrat" pitchFamily="34" charset="-122"/>
                <a:cs typeface="Montserrat" pitchFamily="34" charset="-120"/>
                <a:hlinkClick r:id="rId9">
                  <a:extLst>
                    <a:ext uri="{A12FA001-AC4F-418D-AE19-62706E023703}">
                      <ahyp:hlinkClr xmlns:ahyp="http://schemas.microsoft.com/office/drawing/2018/hyperlinkcolor" val="tx"/>
                    </a:ext>
                  </a:extLst>
                </a:hlinkClick>
              </a:rPr>
              <a:t>https://www.sciencedirect.com/science/article/abs/pii/S0738059324000403</a:t>
            </a:r>
            <a:endParaRPr lang="en-US" sz="700" dirty="0"/>
          </a:p>
        </p:txBody>
      </p:sp>
      <p:sp>
        <p:nvSpPr>
          <p:cNvPr id="15" name="Text 13"/>
          <p:cNvSpPr/>
          <p:nvPr/>
        </p:nvSpPr>
        <p:spPr>
          <a:xfrm>
            <a:off x="410840" y="3606329"/>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Straus, S., &amp; Waldorf, L. (Eds.). (2011). Remaking Rwanda: State building and human rights after mass violence. University of Wisconsin Press.</a:t>
            </a:r>
            <a:endParaRPr lang="en-US" sz="700" dirty="0"/>
          </a:p>
        </p:txBody>
      </p:sp>
      <p:sp>
        <p:nvSpPr>
          <p:cNvPr id="16" name="Text 14"/>
          <p:cNvSpPr/>
          <p:nvPr/>
        </p:nvSpPr>
        <p:spPr>
          <a:xfrm>
            <a:off x="410840" y="3827190"/>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Transparency International. (2023). Corruption Perceptions Index: Sub-Saharan Africa regional analysis.</a:t>
            </a:r>
            <a:endParaRPr lang="en-US" sz="700" dirty="0"/>
          </a:p>
        </p:txBody>
      </p:sp>
      <p:sp>
        <p:nvSpPr>
          <p:cNvPr id="17" name="Text 15"/>
          <p:cNvSpPr/>
          <p:nvPr/>
        </p:nvSpPr>
        <p:spPr>
          <a:xfrm>
            <a:off x="410840" y="4048051"/>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United Nations Development Programme. (n.d.). UNDP in Rwanda. </a:t>
            </a:r>
            <a:r>
              <a:rPr lang="en-US" sz="700" u="sng" dirty="0">
                <a:solidFill>
                  <a:srgbClr val="FF954F"/>
                </a:solidFill>
                <a:latin typeface="Montserrat" pitchFamily="34" charset="0"/>
                <a:ea typeface="Montserrat" pitchFamily="34" charset="-122"/>
                <a:cs typeface="Montserrat" pitchFamily="34" charset="-120"/>
                <a:hlinkClick r:id="rId10">
                  <a:extLst>
                    <a:ext uri="{A12FA001-AC4F-418D-AE19-62706E023703}">
                      <ahyp:hlinkClr xmlns:ahyp="http://schemas.microsoft.com/office/drawing/2018/hyperlinkcolor" val="tx"/>
                    </a:ext>
                  </a:extLst>
                </a:hlinkClick>
              </a:rPr>
              <a:t>https://www.undp.org/rwanda</a:t>
            </a:r>
            <a:endParaRPr lang="en-US" sz="700" dirty="0"/>
          </a:p>
        </p:txBody>
      </p:sp>
      <p:sp>
        <p:nvSpPr>
          <p:cNvPr id="18" name="Text 16"/>
          <p:cNvSpPr/>
          <p:nvPr/>
        </p:nvSpPr>
        <p:spPr>
          <a:xfrm>
            <a:off x="410840" y="4268912"/>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World Bank. (n.d.). Rwanda overview. </a:t>
            </a:r>
            <a:r>
              <a:rPr lang="en-US" sz="700" u="sng" dirty="0">
                <a:solidFill>
                  <a:srgbClr val="FF954F"/>
                </a:solidFill>
                <a:latin typeface="Montserrat" pitchFamily="34" charset="0"/>
                <a:ea typeface="Montserrat" pitchFamily="34" charset="-122"/>
                <a:cs typeface="Montserrat" pitchFamily="34" charset="-120"/>
                <a:hlinkClick r:id="rId11">
                  <a:extLst>
                    <a:ext uri="{A12FA001-AC4F-418D-AE19-62706E023703}">
                      <ahyp:hlinkClr xmlns:ahyp="http://schemas.microsoft.com/office/drawing/2018/hyperlinkcolor" val="tx"/>
                    </a:ext>
                  </a:extLst>
                </a:hlinkClick>
              </a:rPr>
              <a:t>https://www.worldbank.org/en/country/rwanda</a:t>
            </a:r>
            <a:endParaRPr lang="en-US" sz="700" dirty="0"/>
          </a:p>
        </p:txBody>
      </p:sp>
      <p:sp>
        <p:nvSpPr>
          <p:cNvPr id="19" name="Text 17"/>
          <p:cNvSpPr/>
          <p:nvPr/>
        </p:nvSpPr>
        <p:spPr>
          <a:xfrm>
            <a:off x="410840" y="4489772"/>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World Bank. (2020). Rwanda human capital index and education sector analysis.</a:t>
            </a:r>
            <a:endParaRPr lang="en-US" sz="700" dirty="0"/>
          </a:p>
        </p:txBody>
      </p:sp>
      <p:sp>
        <p:nvSpPr>
          <p:cNvPr id="20" name="Text 18"/>
          <p:cNvSpPr/>
          <p:nvPr/>
        </p:nvSpPr>
        <p:spPr>
          <a:xfrm>
            <a:off x="410840" y="4710633"/>
            <a:ext cx="8322320" cy="111547"/>
          </a:xfrm>
          <a:prstGeom prst="rect">
            <a:avLst/>
          </a:prstGeom>
          <a:noFill/>
          <a:ln/>
        </p:spPr>
        <p:txBody>
          <a:bodyPr wrap="none" lIns="0" tIns="0" rIns="0" bIns="0" rtlCol="0" anchor="t"/>
          <a:lstStyle/>
          <a:p>
            <a:pPr marL="0" indent="0" algn="l">
              <a:lnSpc>
                <a:spcPts val="850"/>
              </a:lnSpc>
              <a:buNone/>
            </a:pPr>
            <a:r>
              <a:rPr lang="en-US" sz="700" dirty="0">
                <a:solidFill>
                  <a:srgbClr val="67534F"/>
                </a:solidFill>
                <a:latin typeface="Montserrat" pitchFamily="34" charset="0"/>
                <a:ea typeface="Montserrat" pitchFamily="34" charset="-122"/>
                <a:cs typeface="Montserrat" pitchFamily="34" charset="-120"/>
              </a:rPr>
              <a:t>World Bank. (2024). Worldwide Governance Indicators: Rwanda country report.</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2330</Words>
  <Application>Microsoft Macintosh PowerPoint</Application>
  <PresentationFormat>화면 슬라이드 쇼(16:9)</PresentationFormat>
  <Paragraphs>185</Paragraphs>
  <Slides>19</Slides>
  <Notes>19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19</vt:i4>
      </vt:variant>
    </vt:vector>
  </HeadingPairs>
  <TitlesOfParts>
    <vt:vector size="24" baseType="lpstr">
      <vt:lpstr>Marcellus Light</vt:lpstr>
      <vt:lpstr>Marcellus</vt:lpstr>
      <vt:lpstr>Arial</vt:lpstr>
      <vt:lpstr>Montserrat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Chaejung Lim</cp:lastModifiedBy>
  <cp:revision>24</cp:revision>
  <dcterms:created xsi:type="dcterms:W3CDTF">2026-05-07T05:34:40Z</dcterms:created>
  <dcterms:modified xsi:type="dcterms:W3CDTF">2026-05-21T11:35:51Z</dcterms:modified>
</cp:coreProperties>
</file>